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Cabin"/>
      <p:regular r:id="rId201314"/>
    </p:embeddedFont>
    <p:embeddedFont>
      <p:font typeface="Cabin SemiBold"/>
      <p:regular r:id="rId201315"/>
    </p:embeddedFont>
    <p:embeddedFont>
      <p:font typeface="Cabin Bold"/>
      <p:regular r:id="rId201316"/>
    </p:embeddedFont>
    <p:embeddedFont>
      <p:font typeface="Unbounded"/>
      <p:regular r:id="rId201317"/>
    </p:embeddedFont>
    <p:embeddedFont>
      <p:font typeface="Unbounded Bold"/>
      <p:regular r:id="rId201318"/>
    </p:embeddedFont>
    <p:embeddedFont>
      <p:font typeface="Unbounded Black"/>
      <p:regular r:id="rId201319"/>
    </p:embeddedFont>
    <p:embeddedFont>
      <p:font typeface="Unbounded SemiBold"/>
      <p:regular r:id="rId2013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12836"/>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image" Target="../media/image-6-1.png"/><Relationship Id="rId8" Type="http://schemas.openxmlformats.org/officeDocument/2006/relationships/image" Target="../media/image-6-2.svg"/><Relationship Id="rId9" Type="http://schemas.openxmlformats.org/officeDocument/2006/relationships/image" Target="../media/image-6-1.png"/><Relationship Id="rId10" Type="http://schemas.openxmlformats.org/officeDocument/2006/relationships/image" Target="../media/image-6-2.svg"/><Relationship Id="rId11" Type="http://schemas.openxmlformats.org/officeDocument/2006/relationships/slideLayout" Target="../slideLayouts/slideLayout2.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9.png"/><Relationship Id="rId12" Type="http://schemas.openxmlformats.org/officeDocument/2006/relationships/image" Target="../media/image-9-10.svg"/><Relationship Id="rId13" Type="http://schemas.openxmlformats.org/officeDocument/2006/relationships/image" Target="../media/image-9-9.png"/><Relationship Id="rId14" Type="http://schemas.openxmlformats.org/officeDocument/2006/relationships/image" Target="../media/image-9-10.svg"/><Relationship Id="rId15" Type="http://schemas.openxmlformats.org/officeDocument/2006/relationships/image" Target="../media/image-9-9.png"/><Relationship Id="rId16" Type="http://schemas.openxmlformats.org/officeDocument/2006/relationships/image" Target="../media/image-9-10.svg"/><Relationship Id="rId17" Type="http://schemas.openxmlformats.org/officeDocument/2006/relationships/slideLayout" Target="../slideLayouts/slideLayout2.xml"/><Relationship Id="rId1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98086" y="1351558"/>
            <a:ext cx="1804843" cy="265113"/>
          </a:xfrm>
          <a:prstGeom prst="roundRect">
            <a:avLst>
              <a:gd name="adj" fmla="val 7901"/>
            </a:avLst>
          </a:prstGeom>
          <a:solidFill>
            <a:srgbClr val="054842"/>
          </a:solidFill>
          <a:ln/>
        </p:spPr>
      </p:sp>
      <p:sp>
        <p:nvSpPr>
          <p:cNvPr id="3" name="Text 1"/>
          <p:cNvSpPr/>
          <p:nvPr/>
        </p:nvSpPr>
        <p:spPr>
          <a:xfrm>
            <a:off x="802759" y="1403846"/>
            <a:ext cx="2205082" cy="160536"/>
          </a:xfrm>
          <a:prstGeom prst="rect">
            <a:avLst/>
          </a:prstGeom>
          <a:noFill/>
          <a:ln/>
        </p:spPr>
        <p:txBody>
          <a:bodyPr wrap="none" lIns="0" tIns="0" rIns="0" bIns="0" rtlCol="0" anchor="t"/>
          <a:lstStyle/>
          <a:p>
            <a:pPr algn="l" indent="0" marL="0">
              <a:lnSpc>
                <a:spcPct val="96000"/>
              </a:lnSpc>
              <a:buNone/>
            </a:pPr>
            <a:r>
              <a:rPr lang="en-US" sz="1050" dirty="0">
                <a:solidFill>
                  <a:srgbClr val="CAD6DE"/>
                </a:solidFill>
                <a:latin typeface="Cabin" pitchFamily="34" charset="0"/>
                <a:ea typeface="Cabin" pitchFamily="34" charset="-122"/>
                <a:cs typeface="Cabin" pitchFamily="34" charset="-120"/>
              </a:rPr>
              <a:t>BOOTCAMP VIBE CODING</a:t>
            </a:r>
            <a:endParaRPr lang="en-US" sz="1050" dirty="0"/>
          </a:p>
        </p:txBody>
      </p:sp>
      <p:sp>
        <p:nvSpPr>
          <p:cNvPr id="4" name="Shape 2"/>
          <p:cNvSpPr/>
          <p:nvPr/>
        </p:nvSpPr>
        <p:spPr>
          <a:xfrm>
            <a:off x="2590140" y="1351558"/>
            <a:ext cx="1804843" cy="265113"/>
          </a:xfrm>
          <a:prstGeom prst="roundRect">
            <a:avLst>
              <a:gd name="adj" fmla="val 7901"/>
            </a:avLst>
          </a:prstGeom>
          <a:noFill/>
          <a:ln w="6350">
            <a:solidFill>
              <a:srgbClr val="0A988B"/>
            </a:solidFill>
            <a:prstDash val="solid"/>
          </a:ln>
        </p:spPr>
      </p:sp>
      <p:sp>
        <p:nvSpPr>
          <p:cNvPr id="5" name="Text 3"/>
          <p:cNvSpPr/>
          <p:nvPr/>
        </p:nvSpPr>
        <p:spPr>
          <a:xfrm>
            <a:off x="2694813" y="1403846"/>
            <a:ext cx="2205082" cy="160536"/>
          </a:xfrm>
          <a:prstGeom prst="rect">
            <a:avLst/>
          </a:prstGeom>
          <a:noFill/>
          <a:ln/>
        </p:spPr>
        <p:txBody>
          <a:bodyPr wrap="none" lIns="0" tIns="0" rIns="0" bIns="0" rtlCol="0" anchor="t"/>
          <a:lstStyle/>
          <a:p>
            <a:pPr algn="l" indent="0" marL="0">
              <a:lnSpc>
                <a:spcPct val="96000"/>
              </a:lnSpc>
              <a:buNone/>
            </a:pPr>
            <a:r>
              <a:rPr lang="en-US" sz="1050" dirty="0">
                <a:solidFill>
                  <a:srgbClr val="0A988B"/>
                </a:solidFill>
                <a:latin typeface="Cabin" pitchFamily="34" charset="0"/>
                <a:ea typeface="Cabin" pitchFamily="34" charset="-122"/>
                <a:cs typeface="Cabin" pitchFamily="34" charset="-120"/>
              </a:rPr>
              <a:t>BOOTCAMP VIBE CODING</a:t>
            </a:r>
            <a:endParaRPr lang="en-US" sz="1050" dirty="0"/>
          </a:p>
        </p:txBody>
      </p:sp>
      <p:sp>
        <p:nvSpPr>
          <p:cNvPr id="6" name="Text 4"/>
          <p:cNvSpPr/>
          <p:nvPr/>
        </p:nvSpPr>
        <p:spPr>
          <a:xfrm>
            <a:off x="698086" y="1686421"/>
            <a:ext cx="10795524" cy="513259"/>
          </a:xfrm>
          <a:prstGeom prst="rect">
            <a:avLst/>
          </a:prstGeom>
          <a:noFill/>
          <a:ln/>
        </p:spPr>
        <p:txBody>
          <a:bodyPr wrap="none" lIns="0" tIns="0" rIns="0" bIns="0" rtlCol="0" anchor="t"/>
          <a:lstStyle/>
          <a:p>
            <a:pPr algn="l" indent="0" marL="0">
              <a:lnSpc>
                <a:spcPct val="104000"/>
              </a:lnSpc>
              <a:buNone/>
            </a:pPr>
            <a:r>
              <a:rPr lang="en-US" sz="3200" dirty="0">
                <a:solidFill>
                  <a:srgbClr val="FFFFFF"/>
                </a:solidFill>
                <a:latin typeface="Unbounded" pitchFamily="34" charset="0"/>
                <a:ea typeface="Unbounded" pitchFamily="34" charset="-122"/>
                <a:cs typeface="Unbounded" pitchFamily="34" charset="-120"/>
              </a:rPr>
              <a:t>Fondasi &amp; Mindset Vibe Coding</a:t>
            </a:r>
            <a:endParaRPr lang="en-US" sz="3200" dirty="0"/>
          </a:p>
        </p:txBody>
      </p:sp>
      <p:sp>
        <p:nvSpPr>
          <p:cNvPr id="7" name="Text 5"/>
          <p:cNvSpPr/>
          <p:nvPr/>
        </p:nvSpPr>
        <p:spPr>
          <a:xfrm>
            <a:off x="698086" y="2461419"/>
            <a:ext cx="10795524" cy="1592362"/>
          </a:xfrm>
          <a:prstGeom prst="rect">
            <a:avLst/>
          </a:prstGeom>
          <a:noFill/>
          <a:ln/>
        </p:spPr>
        <p:txBody>
          <a:bodyPr wrap="square" lIns="0" tIns="0" rIns="0" bIns="0" rtlCol="0" anchor="t">
            <a:normAutofit/>
          </a:bodyPr>
          <a:lstStyle/>
          <a:p>
            <a:pPr algn="l" indent="0" marL="0">
              <a:lnSpc>
                <a:spcPct val="133000"/>
              </a:lnSpc>
              <a:spcAft>
                <a:spcPts val="1500"/>
              </a:spcAft>
              <a:buNone/>
            </a:pPr>
            <a:r>
              <a:rPr lang="en-US" sz="1350" dirty="0">
                <a:solidFill>
                  <a:srgbClr val="CAD6DE"/>
                </a:solidFill>
                <a:latin typeface="Cabin" pitchFamily="34" charset="0"/>
                <a:ea typeface="Cabin" pitchFamily="34" charset="-122"/>
                <a:cs typeface="Cabin" pitchFamily="34" charset="-120"/>
              </a:rPr>
              <a:t>Dari Nol Hingga Mahir Membangun Aplikasi Full-Stack Bersama AI — </a:t>
            </a:r>
            <a:pPr algn="l" indent="0" marL="0">
              <a:lnSpc>
                <a:spcPct val="133000"/>
              </a:lnSpc>
              <a:spcAft>
                <a:spcPts val="1500"/>
              </a:spcAft>
              <a:buNone/>
            </a:pPr>
            <a:r>
              <a:rPr lang="en-US" sz="1350" b="1" dirty="0">
                <a:solidFill>
                  <a:srgbClr val="CAD6DE"/>
                </a:solidFill>
                <a:latin typeface="Cabin Bold" pitchFamily="34" charset="0"/>
                <a:ea typeface="Cabin Bold" pitchFamily="34" charset="-122"/>
                <a:cs typeface="Cabin Bold" pitchFamily="34" charset="-120"/>
              </a:rPr>
              <a:t>Materi 1</a:t>
            </a:r>
            <a:pPr algn="l" indent="0" marL="0">
              <a:lnSpc>
                <a:spcPct val="133000"/>
              </a:lnSpc>
              <a:spcAft>
                <a:spcPts val="1500"/>
              </a:spcAft>
              <a:buNone/>
            </a:pPr>
            <a:r>
              <a:rPr lang="en-US" sz="1350" dirty="0">
                <a:solidFill>
                  <a:srgbClr val="CAD6DE"/>
                </a:solidFill>
                <a:latin typeface="Cabin" pitchFamily="34" charset="0"/>
                <a:ea typeface="Cabin" pitchFamily="34" charset="-122"/>
                <a:cs typeface="Cabin" pitchFamily="34" charset="-120"/>
              </a:rPr>
              <a:t> mencakup 1 dan 2 (1–2), dirancang khusus untuk pemula total tanpa pengalaman coding sebelumnya.</a:t>
            </a:r>
            <a:endParaRPr lang="en-US" sz="1350" dirty="0"/>
          </a:p>
          <a:p>
            <a:pPr algn="l" indent="0" marL="0">
              <a:lnSpc>
                <a:spcPct val="133000"/>
              </a:lnSpc>
              <a:buNone/>
            </a:pPr>
            <a:r>
              <a:rPr lang="en-US" sz="1350" dirty="0">
                <a:solidFill>
                  <a:srgbClr val="CAD6DE"/>
                </a:solidFill>
                <a:latin typeface="Cabin" pitchFamily="34" charset="0"/>
                <a:ea typeface="Cabin" pitchFamily="34" charset="-122"/>
                <a:cs typeface="Cabin" pitchFamily="34" charset="-120"/>
              </a:rPr>
              <a:t>Materi ini adalah gerbang masuk ke dunia pengembangan web modern menggunakan pendekatan </a:t>
            </a:r>
            <a:pPr algn="l" indent="0" marL="0">
              <a:lnSpc>
                <a:spcPct val="133000"/>
              </a:lnSpc>
              <a:buNone/>
            </a:pPr>
            <a:r>
              <a:rPr lang="en-US" sz="1350" b="1" dirty="0">
                <a:solidFill>
                  <a:srgbClr val="CAD6DE"/>
                </a:solidFill>
                <a:latin typeface="Cabin Bold" pitchFamily="34" charset="0"/>
                <a:ea typeface="Cabin Bold" pitchFamily="34" charset="-122"/>
                <a:cs typeface="Cabin Bold" pitchFamily="34" charset="-120"/>
              </a:rPr>
              <a:t>"vibe coding"</a:t>
            </a:r>
            <a:pPr algn="l" indent="0" marL="0">
              <a:lnSpc>
                <a:spcPct val="133000"/>
              </a:lnSpc>
              <a:buNone/>
            </a:pPr>
            <a:r>
              <a:rPr lang="en-US" sz="1350" dirty="0">
                <a:solidFill>
                  <a:srgbClr val="CAD6DE"/>
                </a:solidFill>
                <a:latin typeface="Cabin" pitchFamily="34" charset="0"/>
                <a:ea typeface="Cabin" pitchFamily="34" charset="-122"/>
                <a:cs typeface="Cabin" pitchFamily="34" charset="-120"/>
              </a:rPr>
              <a:t>: cara belajar yang menempatkan AI assistant sebagai mitra kerja sejak baris kode pertama ditulis. Di akhir Materi 1, peserta diharapkan memiliki environment kerja siap pakai, akun GitHub aktif, pemahaman dasar HTML/CSS/JS, kemampuan prompting efektif, dan sebuah landing page statis sebagai Tugas 1.</a:t>
            </a:r>
            <a:endParaRPr lang="en-US" sz="1350" dirty="0"/>
          </a:p>
        </p:txBody>
      </p:sp>
      <p:sp>
        <p:nvSpPr>
          <p:cNvPr id="8" name="Shape 6"/>
          <p:cNvSpPr/>
          <p:nvPr/>
        </p:nvSpPr>
        <p:spPr>
          <a:xfrm>
            <a:off x="698086" y="4250134"/>
            <a:ext cx="10795524" cy="1256308"/>
          </a:xfrm>
          <a:prstGeom prst="roundRect">
            <a:avLst>
              <a:gd name="adj" fmla="val 2084"/>
            </a:avLst>
          </a:prstGeom>
          <a:solidFill>
            <a:srgbClr val="08786D"/>
          </a:solidFill>
          <a:ln/>
        </p:spPr>
      </p:sp>
      <p:pic>
        <p:nvPicPr>
          <p:cNvPr id="9" name="Image 0" descr="preencoded.png">    </p:cNvPr>
          <p:cNvPicPr>
            <a:picLocks noChangeAspect="1"/>
          </p:cNvPicPr>
          <p:nvPr/>
        </p:nvPicPr>
        <p:blipFill>
          <a:blip r:embed="rId1"/>
          <a:stretch>
            <a:fillRect/>
          </a:stretch>
        </p:blipFill>
        <p:spPr>
          <a:xfrm>
            <a:off x="872607" y="4499570"/>
            <a:ext cx="218177" cy="174526"/>
          </a:xfrm>
          <a:prstGeom prst="rect">
            <a:avLst/>
          </a:prstGeom>
        </p:spPr>
      </p:pic>
      <p:sp>
        <p:nvSpPr>
          <p:cNvPr id="10" name="Text 7"/>
          <p:cNvSpPr/>
          <p:nvPr/>
        </p:nvSpPr>
        <p:spPr>
          <a:xfrm>
            <a:off x="1265305" y="4468217"/>
            <a:ext cx="10053783" cy="837605"/>
          </a:xfrm>
          <a:prstGeom prst="rect">
            <a:avLst/>
          </a:prstGeom>
          <a:noFill/>
          <a:ln/>
        </p:spPr>
        <p:txBody>
          <a:bodyPr wrap="square" lIns="0" tIns="0" rIns="0" bIns="0" rtlCol="0" anchor="t">
            <a:normAutofit/>
          </a:bodyPr>
          <a:lstStyle/>
          <a:p>
            <a:pPr algn="l" indent="0" marL="0">
              <a:lnSpc>
                <a:spcPct val="133000"/>
              </a:lnSpc>
              <a:buNone/>
            </a:pPr>
            <a:r>
              <a:rPr lang="en-US" sz="1350" b="1" dirty="0">
                <a:solidFill>
                  <a:srgbClr val="FFFFFF"/>
                </a:solidFill>
                <a:latin typeface="Cabin Bold" pitchFamily="34" charset="0"/>
                <a:ea typeface="Cabin Bold" pitchFamily="34" charset="-122"/>
                <a:cs typeface="Cabin Bold" pitchFamily="34" charset="-120"/>
              </a:rPr>
              <a:t>Catatan Penting:</a:t>
            </a:r>
            <a:pPr algn="l" indent="0" marL="0">
              <a:lnSpc>
                <a:spcPct val="133000"/>
              </a:lnSpc>
              <a:buNone/>
            </a:pPr>
            <a:r>
              <a:rPr lang="en-US" sz="1350" dirty="0">
                <a:solidFill>
                  <a:srgbClr val="FFFFFF"/>
                </a:solidFill>
                <a:latin typeface="Cabin" pitchFamily="34" charset="0"/>
                <a:ea typeface="Cabin" pitchFamily="34" charset="-122"/>
                <a:cs typeface="Cabin" pitchFamily="34" charset="-120"/>
              </a:rPr>
              <a:t> Tujuan bootcamp ini bukan menjadikan peserta sekadar "penyalin kode dari AI", melainkan membentuk kemampuan berpikir kritis dalam memanfaatkan AI sebagai alat bantu. Setiap baris kode yang dihasilkan AI harus bisa dijelaskan kembali oleh peserta dengan kata-katanya sendiri.</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98086" y="641251"/>
            <a:ext cx="1296856" cy="190599"/>
          </a:xfrm>
          <a:prstGeom prst="roundRect">
            <a:avLst>
              <a:gd name="adj" fmla="val 7898"/>
            </a:avLst>
          </a:prstGeom>
          <a:solidFill>
            <a:srgbClr val="054842"/>
          </a:solidFill>
          <a:ln/>
        </p:spPr>
      </p:sp>
      <p:sp>
        <p:nvSpPr>
          <p:cNvPr id="3" name="Text 1"/>
          <p:cNvSpPr/>
          <p:nvPr/>
        </p:nvSpPr>
        <p:spPr>
          <a:xfrm>
            <a:off x="773292" y="678855"/>
            <a:ext cx="1756029" cy="115391"/>
          </a:xfrm>
          <a:prstGeom prst="rect">
            <a:avLst/>
          </a:prstGeom>
          <a:noFill/>
          <a:ln/>
        </p:spPr>
        <p:txBody>
          <a:bodyPr wrap="none" lIns="0" tIns="0" rIns="0" bIns="0" rtlCol="0" anchor="t"/>
          <a:lstStyle/>
          <a:p>
            <a:pPr algn="l" indent="0" marL="0">
              <a:lnSpc>
                <a:spcPct val="96000"/>
              </a:lnSpc>
              <a:buNone/>
            </a:pPr>
            <a:r>
              <a:rPr lang="en-US" sz="750" dirty="0">
                <a:solidFill>
                  <a:srgbClr val="CAD6DE"/>
                </a:solidFill>
                <a:latin typeface="Cabin" pitchFamily="34" charset="0"/>
                <a:ea typeface="Cabin" pitchFamily="34" charset="-122"/>
                <a:cs typeface="Cabin" pitchFamily="34" charset="-120"/>
              </a:rPr>
              <a:t>BOOTCAMP VIBE CODING</a:t>
            </a:r>
            <a:endParaRPr lang="en-US" sz="750" dirty="0"/>
          </a:p>
        </p:txBody>
      </p:sp>
      <p:sp>
        <p:nvSpPr>
          <p:cNvPr id="4" name="Text 2"/>
          <p:cNvSpPr/>
          <p:nvPr/>
        </p:nvSpPr>
        <p:spPr>
          <a:xfrm>
            <a:off x="698086" y="867866"/>
            <a:ext cx="10795524" cy="368895"/>
          </a:xfrm>
          <a:prstGeom prst="rect">
            <a:avLst/>
          </a:prstGeom>
          <a:noFill/>
          <a:ln/>
        </p:spPr>
        <p:txBody>
          <a:bodyPr wrap="none" lIns="0" tIns="0" rIns="0" bIns="0" rtlCol="0" anchor="t"/>
          <a:lstStyle/>
          <a:p>
            <a:pPr algn="l" indent="0" marL="0">
              <a:lnSpc>
                <a:spcPct val="104000"/>
              </a:lnSpc>
              <a:buNone/>
            </a:pPr>
            <a:r>
              <a:rPr lang="en-US" sz="2300" dirty="0">
                <a:solidFill>
                  <a:srgbClr val="FFFFFF"/>
                </a:solidFill>
                <a:latin typeface="Unbounded" pitchFamily="34" charset="0"/>
                <a:ea typeface="Unbounded" pitchFamily="34" charset="-122"/>
                <a:cs typeface="Unbounded" pitchFamily="34" charset="-120"/>
              </a:rPr>
              <a:t>Apa Itu Vibe Coding?</a:t>
            </a:r>
            <a:endParaRPr lang="en-US" sz="2300" dirty="0"/>
          </a:p>
        </p:txBody>
      </p:sp>
      <p:sp>
        <p:nvSpPr>
          <p:cNvPr id="5" name="Text 3"/>
          <p:cNvSpPr/>
          <p:nvPr/>
        </p:nvSpPr>
        <p:spPr>
          <a:xfrm>
            <a:off x="698086" y="1371997"/>
            <a:ext cx="10795524" cy="517327"/>
          </a:xfrm>
          <a:prstGeom prst="rect">
            <a:avLst/>
          </a:prstGeom>
          <a:noFill/>
          <a:ln/>
        </p:spPr>
        <p:txBody>
          <a:bodyPr wrap="square" lIns="0" tIns="0" rIns="0" bIns="0" rtlCol="0" anchor="t">
            <a:normAutofit/>
          </a:bodyPr>
          <a:lstStyle/>
          <a:p>
            <a:pPr algn="l" indent="0" marL="0">
              <a:lnSpc>
                <a:spcPct val="115000"/>
              </a:lnSpc>
              <a:buNone/>
            </a:pPr>
            <a:r>
              <a:rPr lang="en-US" sz="950" dirty="0">
                <a:solidFill>
                  <a:srgbClr val="CAD6DE"/>
                </a:solidFill>
                <a:latin typeface="Cabin" pitchFamily="34" charset="0"/>
                <a:ea typeface="Cabin" pitchFamily="34" charset="-122"/>
                <a:cs typeface="Cabin" pitchFamily="34" charset="-120"/>
              </a:rPr>
              <a:t>Istilah </a:t>
            </a:r>
            <a:pPr algn="l" indent="0" marL="0">
              <a:lnSpc>
                <a:spcPct val="115000"/>
              </a:lnSpc>
              <a:buNone/>
            </a:pPr>
            <a:r>
              <a:rPr lang="en-US" sz="950" b="1" dirty="0">
                <a:solidFill>
                  <a:srgbClr val="CAD6DE"/>
                </a:solidFill>
                <a:latin typeface="Cabin Bold" pitchFamily="34" charset="0"/>
                <a:ea typeface="Cabin Bold" pitchFamily="34" charset="-122"/>
                <a:cs typeface="Cabin Bold" pitchFamily="34" charset="-120"/>
              </a:rPr>
              <a:t>"vibe coding"</a:t>
            </a:r>
            <a:pPr algn="l" indent="0" marL="0">
              <a:lnSpc>
                <a:spcPct val="115000"/>
              </a:lnSpc>
              <a:buNone/>
            </a:pPr>
            <a:r>
              <a:rPr lang="en-US" sz="950" dirty="0">
                <a:solidFill>
                  <a:srgbClr val="CAD6DE"/>
                </a:solidFill>
                <a:latin typeface="Cabin" pitchFamily="34" charset="0"/>
                <a:ea typeface="Cabin" pitchFamily="34" charset="-122"/>
                <a:cs typeface="Cabin" pitchFamily="34" charset="-120"/>
              </a:rPr>
              <a:t> populer di kalangan praktisi teknologi untuk menggambarkan pengalaman menulis program dengan mengandalkan komunikasi natural bersama AI, alih-alih menghafal seluruh detail sintaks bahasa pemrograman secara manual sejak hari pertama. Kata "vibe" merujuk pada suasana kerja yang lebih eksploratif dan mengalir: peserta cukup menjelaskan apa yang ingin dicapai dalam bahasa manusia biasa, kemudian AI membantu menerjemahkan maksud tersebut menjadi kode yang bisa dijalankan komputer.</a:t>
            </a:r>
            <a:endParaRPr lang="en-US" sz="950" dirty="0"/>
          </a:p>
        </p:txBody>
      </p:sp>
      <p:sp>
        <p:nvSpPr>
          <p:cNvPr id="6" name="Text 4"/>
          <p:cNvSpPr/>
          <p:nvPr/>
        </p:nvSpPr>
        <p:spPr>
          <a:xfrm>
            <a:off x="886200" y="2092127"/>
            <a:ext cx="10607410" cy="344884"/>
          </a:xfrm>
          <a:prstGeom prst="rect">
            <a:avLst/>
          </a:prstGeom>
          <a:noFill/>
          <a:ln/>
        </p:spPr>
        <p:txBody>
          <a:bodyPr wrap="square" lIns="0" tIns="0" rIns="0" bIns="0" rtlCol="0" anchor="t">
            <a:normAutofit/>
          </a:bodyPr>
          <a:lstStyle/>
          <a:p>
            <a:pPr algn="l" indent="0" marL="0">
              <a:lnSpc>
                <a:spcPct val="115000"/>
              </a:lnSpc>
              <a:buNone/>
            </a:pPr>
            <a:r>
              <a:rPr lang="en-US" sz="950" b="1" dirty="0">
                <a:solidFill>
                  <a:srgbClr val="CAD6DE"/>
                </a:solidFill>
                <a:latin typeface="Cabin Bold" pitchFamily="34" charset="0"/>
                <a:ea typeface="Cabin Bold" pitchFamily="34" charset="-122"/>
                <a:cs typeface="Cabin Bold" pitchFamily="34" charset="-120"/>
              </a:rPr>
              <a:t>Definisi kerja yang dipakai sepanjang bootcamp:</a:t>
            </a:r>
            <a:pPr algn="l" indent="0" marL="0">
              <a:lnSpc>
                <a:spcPct val="115000"/>
              </a:lnSpc>
              <a:buNone/>
            </a:pPr>
            <a:r>
              <a:rPr lang="en-US" sz="950" dirty="0">
                <a:solidFill>
                  <a:srgbClr val="CAD6DE"/>
                </a:solidFill>
                <a:latin typeface="Cabin" pitchFamily="34" charset="0"/>
                <a:ea typeface="Cabin" pitchFamily="34" charset="-122"/>
                <a:cs typeface="Cabin" pitchFamily="34" charset="-120"/>
              </a:rPr>
              <a:t> Vibe coding adalah proses membangun perangkat lunak melalui dialog berkelanjutan dengan AI assistant, di mana peserta merancang, meminta, meninjau, menguji, dan menyempurnakan kode secara iteratif, sambil terus membangun pemahaman teknis yang sesungguhnya di baliknya.</a:t>
            </a:r>
            <a:endParaRPr lang="en-US" sz="950" dirty="0"/>
          </a:p>
        </p:txBody>
      </p:sp>
      <p:sp>
        <p:nvSpPr>
          <p:cNvPr id="7" name="Shape 5"/>
          <p:cNvSpPr/>
          <p:nvPr/>
        </p:nvSpPr>
        <p:spPr>
          <a:xfrm>
            <a:off x="698086" y="1990725"/>
            <a:ext cx="12700" cy="547688"/>
          </a:xfrm>
          <a:prstGeom prst="roundRect">
            <a:avLst>
              <a:gd name="adj" fmla="val 49999"/>
            </a:avLst>
          </a:prstGeom>
          <a:solidFill>
            <a:srgbClr val="0A988B"/>
          </a:solidFill>
          <a:ln/>
        </p:spPr>
      </p:sp>
      <p:sp>
        <p:nvSpPr>
          <p:cNvPr id="8" name="Text 6"/>
          <p:cNvSpPr/>
          <p:nvPr/>
        </p:nvSpPr>
        <p:spPr>
          <a:xfrm>
            <a:off x="698086" y="2673648"/>
            <a:ext cx="10795524" cy="295176"/>
          </a:xfrm>
          <a:prstGeom prst="rect">
            <a:avLst/>
          </a:prstGeom>
          <a:noFill/>
          <a:ln/>
        </p:spPr>
        <p:txBody>
          <a:bodyPr wrap="none" lIns="0" tIns="0" rIns="0" bIns="0" rtlCol="0" anchor="t"/>
          <a:lstStyle/>
          <a:p>
            <a:pPr algn="l" indent="0" marL="0">
              <a:lnSpc>
                <a:spcPct val="104000"/>
              </a:lnSpc>
              <a:buNone/>
            </a:pPr>
            <a:r>
              <a:rPr lang="en-US" sz="1850" dirty="0">
                <a:solidFill>
                  <a:srgbClr val="FFFFFF"/>
                </a:solidFill>
                <a:latin typeface="Unbounded" pitchFamily="34" charset="0"/>
                <a:ea typeface="Unbounded" pitchFamily="34" charset="-122"/>
                <a:cs typeface="Unbounded" pitchFamily="34" charset="-120"/>
              </a:rPr>
              <a:t>Vibe Coding vs Coding Tradisional</a:t>
            </a:r>
            <a:endParaRPr lang="en-US" sz="18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98086" y="3104059"/>
          <a:ext cx="9143771" cy="914400"/>
        </p:xfrm>
        <a:graphic>
          <a:graphicData uri="http://schemas.openxmlformats.org/drawingml/2006/table">
            <a:tbl>
              <a:tblPr/>
              <a:tblGrid>
                <a:gridCol w="2159105"/>
                <a:gridCol w="4318210"/>
                <a:gridCol w="4318210"/>
              </a:tblGrid>
              <a:tr h="296458">
                <a:tc>
                  <a:txBody>
                    <a:bodyPr/>
                    <a:lstStyle/>
                    <a:p>
                      <a:pPr indent="0" marL="0">
                        <a:buNone/>
                      </a:pPr>
                      <a:r>
                        <a:rPr lang="en-US" sz="950" b="1" dirty="0">
                          <a:solidFill>
                            <a:srgbClr val="CAD6DE"/>
                          </a:solidFill>
                          <a:latin typeface="Cabin" pitchFamily="34" charset="0"/>
                          <a:ea typeface="Cabin" pitchFamily="34" charset="-122"/>
                          <a:cs typeface="Cabin" pitchFamily="34" charset="-120"/>
                        </a:rPr>
                        <a:t>Aspek</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950" b="1" dirty="0">
                          <a:solidFill>
                            <a:srgbClr val="CAD6DE"/>
                          </a:solidFill>
                          <a:latin typeface="Cabin" pitchFamily="34" charset="0"/>
                          <a:ea typeface="Cabin" pitchFamily="34" charset="-122"/>
                          <a:cs typeface="Cabin" pitchFamily="34" charset="-120"/>
                        </a:rPr>
                        <a:t>Coding Tradisional</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950" b="1" dirty="0">
                          <a:solidFill>
                            <a:srgbClr val="CAD6DE"/>
                          </a:solidFill>
                          <a:latin typeface="Cabin" pitchFamily="34" charset="0"/>
                          <a:ea typeface="Cabin" pitchFamily="34" charset="-122"/>
                          <a:cs typeface="Cabin" pitchFamily="34" charset="-120"/>
                        </a:rPr>
                        <a:t>Vibe Coding</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472071">
                <a:tc>
                  <a:txBody>
                    <a:bodyPr/>
                    <a:lstStyle/>
                    <a:p>
                      <a:pPr indent="0" marL="0">
                        <a:buNone/>
                      </a:pPr>
                      <a:r>
                        <a:rPr lang="en-US" sz="950" dirty="0">
                          <a:solidFill>
                            <a:srgbClr val="CAD6DE"/>
                          </a:solidFill>
                          <a:latin typeface="Cabin" pitchFamily="34" charset="0"/>
                          <a:ea typeface="Cabin" pitchFamily="34" charset="-122"/>
                          <a:cs typeface="Cabin" pitchFamily="34" charset="-120"/>
                        </a:rPr>
                        <a:t>Cara memulai</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950" dirty="0">
                          <a:solidFill>
                            <a:srgbClr val="CAD6DE"/>
                          </a:solidFill>
                          <a:latin typeface="Cabin" pitchFamily="34" charset="0"/>
                          <a:ea typeface="Cabin" pitchFamily="34" charset="-122"/>
                          <a:cs typeface="Cabin" pitchFamily="34" charset="-120"/>
                        </a:rPr>
                        <a:t>Menghafal syntax dan mempelajari dokumentasi bahasa/framework terlebih dahulu</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950" dirty="0">
                          <a:solidFill>
                            <a:srgbClr val="CAD6DE"/>
                          </a:solidFill>
                          <a:latin typeface="Cabin" pitchFamily="34" charset="0"/>
                          <a:ea typeface="Cabin" pitchFamily="34" charset="-122"/>
                          <a:cs typeface="Cabin" pitchFamily="34" charset="-120"/>
                        </a:rPr>
                        <a:t>Menjelaskan tujuan dalam bahasa natural, lalu meninjau dan memahami hasil dari AI</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472071">
                <a:tc>
                  <a:txBody>
                    <a:bodyPr/>
                    <a:lstStyle/>
                    <a:p>
                      <a:pPr indent="0" marL="0">
                        <a:buNone/>
                      </a:pPr>
                      <a:r>
                        <a:rPr lang="en-US" sz="950" dirty="0">
                          <a:solidFill>
                            <a:srgbClr val="CAD6DE"/>
                          </a:solidFill>
                          <a:latin typeface="Cabin" pitchFamily="34" charset="0"/>
                          <a:ea typeface="Cabin" pitchFamily="34" charset="-122"/>
                          <a:cs typeface="Cabin" pitchFamily="34" charset="-120"/>
                        </a:rPr>
                        <a:t>Kecepatan di awal</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950" dirty="0">
                          <a:solidFill>
                            <a:srgbClr val="CAD6DE"/>
                          </a:solidFill>
                          <a:latin typeface="Cabin" pitchFamily="34" charset="0"/>
                          <a:ea typeface="Cabin" pitchFamily="34" charset="-122"/>
                          <a:cs typeface="Cabin" pitchFamily="34" charset="-120"/>
                        </a:rPr>
                        <a:t>Cenderung lambat karena banyak waktu tersita untuk mencari tahu cara menulis syntax yang benar</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950" dirty="0">
                          <a:solidFill>
                            <a:srgbClr val="CAD6DE"/>
                          </a:solidFill>
                          <a:latin typeface="Cabin" pitchFamily="34" charset="0"/>
                          <a:ea typeface="Cabin" pitchFamily="34" charset="-122"/>
                          <a:cs typeface="Cabin" pitchFamily="34" charset="-120"/>
                        </a:rPr>
                        <a:t>Cenderung cepat karena AI langsung membuat draf kode awal yang bisa langsung diuji</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299633">
                <a:tc>
                  <a:txBody>
                    <a:bodyPr/>
                    <a:lstStyle/>
                    <a:p>
                      <a:pPr indent="0" marL="0">
                        <a:buNone/>
                      </a:pPr>
                      <a:r>
                        <a:rPr lang="en-US" sz="950" dirty="0">
                          <a:solidFill>
                            <a:srgbClr val="CAD6DE"/>
                          </a:solidFill>
                          <a:latin typeface="Cabin" pitchFamily="34" charset="0"/>
                          <a:ea typeface="Cabin" pitchFamily="34" charset="-122"/>
                          <a:cs typeface="Cabin" pitchFamily="34" charset="-120"/>
                        </a:rPr>
                        <a:t>Risiko utama</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950" dirty="0">
                          <a:solidFill>
                            <a:srgbClr val="CAD6DE"/>
                          </a:solidFill>
                          <a:latin typeface="Cabin" pitchFamily="34" charset="0"/>
                          <a:ea typeface="Cabin" pitchFamily="34" charset="-122"/>
                          <a:cs typeface="Cabin" pitchFamily="34" charset="-120"/>
                        </a:rPr>
                        <a:t>Salah syntax, atau tidak tahu library/pustaka yang tepat untuk suatu masalah</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950" dirty="0">
                          <a:solidFill>
                            <a:srgbClr val="CAD6DE"/>
                          </a:solidFill>
                          <a:latin typeface="Cabin" pitchFamily="34" charset="0"/>
                          <a:ea typeface="Cabin" pitchFamily="34" charset="-122"/>
                          <a:cs typeface="Cabin" pitchFamily="34" charset="-120"/>
                        </a:rPr>
                        <a:t>Menerima kode yang sebenarnya salah atau rentan tanpa disadari peserta</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472071">
                <a:tc>
                  <a:txBody>
                    <a:bodyPr/>
                    <a:lstStyle/>
                    <a:p>
                      <a:pPr indent="0" marL="0">
                        <a:buNone/>
                      </a:pPr>
                      <a:r>
                        <a:rPr lang="en-US" sz="950" dirty="0">
                          <a:solidFill>
                            <a:srgbClr val="CAD6DE"/>
                          </a:solidFill>
                          <a:latin typeface="Cabin" pitchFamily="34" charset="0"/>
                          <a:ea typeface="Cabin" pitchFamily="34" charset="-122"/>
                          <a:cs typeface="Cabin" pitchFamily="34" charset="-120"/>
                        </a:rPr>
                        <a:t>Skill yang paling diasah</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950" dirty="0">
                          <a:solidFill>
                            <a:srgbClr val="CAD6DE"/>
                          </a:solidFill>
                          <a:latin typeface="Cabin" pitchFamily="34" charset="0"/>
                          <a:ea typeface="Cabin" pitchFamily="34" charset="-122"/>
                          <a:cs typeface="Cabin" pitchFamily="34" charset="-120"/>
                        </a:rPr>
                        <a:t>Hafalan sintaks, kebiasaan membaca dokumentasi resmi</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950" dirty="0">
                          <a:solidFill>
                            <a:srgbClr val="CAD6DE"/>
                          </a:solidFill>
                          <a:latin typeface="Cabin" pitchFamily="34" charset="0"/>
                          <a:ea typeface="Cabin" pitchFamily="34" charset="-122"/>
                          <a:cs typeface="Cabin" pitchFamily="34" charset="-120"/>
                        </a:rPr>
                        <a:t>Kemampuan menyusun prompt, membaca kode secara kritis, debugging cepat</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468896">
                <a:tc>
                  <a:txBody>
                    <a:bodyPr/>
                    <a:lstStyle/>
                    <a:p>
                      <a:pPr indent="0" marL="0">
                        <a:buNone/>
                      </a:pPr>
                      <a:r>
                        <a:rPr lang="en-US" sz="950" dirty="0">
                          <a:solidFill>
                            <a:srgbClr val="CAD6DE"/>
                          </a:solidFill>
                          <a:latin typeface="Cabin" pitchFamily="34" charset="0"/>
                          <a:ea typeface="Cabin" pitchFamily="34" charset="-122"/>
                          <a:cs typeface="Cabin" pitchFamily="34" charset="-120"/>
                        </a:rPr>
                        <a:t>Paling cocok dipakai saat</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950" dirty="0">
                          <a:solidFill>
                            <a:srgbClr val="CAD6DE"/>
                          </a:solidFill>
                          <a:latin typeface="Cabin" pitchFamily="34" charset="0"/>
                          <a:ea typeface="Cabin" pitchFamily="34" charset="-122"/>
                          <a:cs typeface="Cabin" pitchFamily="34" charset="-120"/>
                        </a:rPr>
                        <a:t>Belajar fundamental yang memang harus dikuasai secara mendalam dan permanen</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950" dirty="0">
                          <a:solidFill>
                            <a:srgbClr val="CAD6DE"/>
                          </a:solidFill>
                          <a:latin typeface="Cabin" pitchFamily="34" charset="0"/>
                          <a:ea typeface="Cabin" pitchFamily="34" charset="-122"/>
                          <a:cs typeface="Cabin" pitchFamily="34" charset="-120"/>
                        </a:rPr>
                        <a:t>Eksplorasi cepat, membuat prototipe, atau mengerjakan tugas yang berulang</a:t>
                      </a:r>
                      <a:endParaRPr lang="en-US" sz="950" dirty="0">
                        <a:latin typeface="Cabin" charset="0"/>
                        <a:ea typeface="Cabin" charset="0"/>
                        <a:cs typeface="Cabin" charset="0"/>
                      </a:endParaRPr>
                    </a:p>
                  </a:txBody>
                  <a:tcPr marL="125454" marR="125454" marT="6350" marB="6350" anchor="ctr">
                    <a:lnL w="12700" cap="flat" cmpd="sng" algn="ctr">
                      <a:solidFill>
                        <a:srgbClr val="4A5C6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bl>
          </a:graphicData>
        </a:graphic>
      </p:graphicFrame>
      <p:sp>
        <p:nvSpPr>
          <p:cNvPr id="10" name="Text 7"/>
          <p:cNvSpPr/>
          <p:nvPr/>
        </p:nvSpPr>
        <p:spPr>
          <a:xfrm>
            <a:off x="698086" y="5699423"/>
            <a:ext cx="10795524" cy="517327"/>
          </a:xfrm>
          <a:prstGeom prst="rect">
            <a:avLst/>
          </a:prstGeom>
          <a:noFill/>
          <a:ln/>
        </p:spPr>
        <p:txBody>
          <a:bodyPr wrap="square" lIns="0" tIns="0" rIns="0" bIns="0" rtlCol="0" anchor="t">
            <a:normAutofit/>
          </a:bodyPr>
          <a:lstStyle/>
          <a:p>
            <a:pPr algn="l" indent="0" marL="0">
              <a:lnSpc>
                <a:spcPct val="115000"/>
              </a:lnSpc>
              <a:buNone/>
            </a:pPr>
            <a:r>
              <a:rPr lang="en-US" sz="950" dirty="0">
                <a:solidFill>
                  <a:srgbClr val="CAD6DE"/>
                </a:solidFill>
                <a:latin typeface="Cabin" pitchFamily="34" charset="0"/>
                <a:ea typeface="Cabin" pitchFamily="34" charset="-122"/>
                <a:cs typeface="Cabin" pitchFamily="34" charset="-120"/>
              </a:rPr>
              <a:t>Bootcamp ini </a:t>
            </a:r>
            <a:pPr algn="l" indent="0" marL="0">
              <a:lnSpc>
                <a:spcPct val="115000"/>
              </a:lnSpc>
              <a:buNone/>
            </a:pPr>
            <a:r>
              <a:rPr lang="en-US" sz="950" b="1" dirty="0">
                <a:solidFill>
                  <a:srgbClr val="CAD6DE"/>
                </a:solidFill>
                <a:latin typeface="Cabin Bold" pitchFamily="34" charset="0"/>
                <a:ea typeface="Cabin Bold" pitchFamily="34" charset="-122"/>
                <a:cs typeface="Cabin Bold" pitchFamily="34" charset="-120"/>
              </a:rPr>
              <a:t>menggabungkan keduanya secara sengaja</a:t>
            </a:r>
            <a:pPr algn="l" indent="0" marL="0">
              <a:lnSpc>
                <a:spcPct val="115000"/>
              </a:lnSpc>
              <a:buNone/>
            </a:pPr>
            <a:r>
              <a:rPr lang="en-US" sz="950" dirty="0">
                <a:solidFill>
                  <a:srgbClr val="CAD6DE"/>
                </a:solidFill>
                <a:latin typeface="Cabin" pitchFamily="34" charset="0"/>
                <a:ea typeface="Cabin" pitchFamily="34" charset="-122"/>
                <a:cs typeface="Cabin" pitchFamily="34" charset="-120"/>
              </a:rPr>
              <a:t>: AI digunakan sejak sesi pertama sebagai alat berpikir dan eksplorasi, namun fundamental seperti HTML, CSS, JavaScript, logika pemrograman, dan struktur data tetap diajarkan secara eksplisit di sela-sela praktik. Tanpa fondasi ini, peserta akan kesulitan menilai apakah kode yang diberikan AI sudah benar atau belum, sehingga justru akan lebih lambat dalam jangka panjang.</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98086" y="525959"/>
            <a:ext cx="1522672" cy="223738"/>
          </a:xfrm>
          <a:prstGeom prst="roundRect">
            <a:avLst>
              <a:gd name="adj" fmla="val 7899"/>
            </a:avLst>
          </a:prstGeom>
          <a:solidFill>
            <a:srgbClr val="054842"/>
          </a:solidFill>
          <a:ln/>
        </p:spPr>
      </p:sp>
      <p:sp>
        <p:nvSpPr>
          <p:cNvPr id="3" name="Text 1"/>
          <p:cNvSpPr/>
          <p:nvPr/>
        </p:nvSpPr>
        <p:spPr>
          <a:xfrm>
            <a:off x="786388" y="570111"/>
            <a:ext cx="1955652" cy="135434"/>
          </a:xfrm>
          <a:prstGeom prst="rect">
            <a:avLst/>
          </a:prstGeom>
          <a:noFill/>
          <a:ln/>
        </p:spPr>
        <p:txBody>
          <a:bodyPr wrap="none" lIns="0" tIns="0" rIns="0" bIns="0" rtlCol="0" anchor="t"/>
          <a:lstStyle/>
          <a:p>
            <a:pPr algn="l" indent="0" marL="0">
              <a:lnSpc>
                <a:spcPct val="96000"/>
              </a:lnSpc>
              <a:buNone/>
            </a:pPr>
            <a:r>
              <a:rPr lang="en-US" sz="900" dirty="0">
                <a:solidFill>
                  <a:srgbClr val="CAD6DE"/>
                </a:solidFill>
                <a:latin typeface="Cabin" pitchFamily="34" charset="0"/>
                <a:ea typeface="Cabin" pitchFamily="34" charset="-122"/>
                <a:cs typeface="Cabin" pitchFamily="34" charset="-120"/>
              </a:rPr>
              <a:t>BOOTCAMP VIBE CODING</a:t>
            </a:r>
            <a:endParaRPr lang="en-US" sz="900" dirty="0"/>
          </a:p>
        </p:txBody>
      </p:sp>
      <p:sp>
        <p:nvSpPr>
          <p:cNvPr id="4" name="Text 2"/>
          <p:cNvSpPr/>
          <p:nvPr/>
        </p:nvSpPr>
        <p:spPr>
          <a:xfrm>
            <a:off x="698086" y="799306"/>
            <a:ext cx="10795524" cy="433189"/>
          </a:xfrm>
          <a:prstGeom prst="rect">
            <a:avLst/>
          </a:prstGeom>
          <a:noFill/>
          <a:ln/>
        </p:spPr>
        <p:txBody>
          <a:bodyPr wrap="none" lIns="0" tIns="0" rIns="0" bIns="0" rtlCol="0" anchor="t"/>
          <a:lstStyle/>
          <a:p>
            <a:pPr algn="l" indent="0" marL="0">
              <a:lnSpc>
                <a:spcPct val="104000"/>
              </a:lnSpc>
              <a:buNone/>
            </a:pPr>
            <a:r>
              <a:rPr lang="en-US" sz="2700" dirty="0">
                <a:solidFill>
                  <a:srgbClr val="FFFFFF"/>
                </a:solidFill>
                <a:latin typeface="Unbounded" pitchFamily="34" charset="0"/>
                <a:ea typeface="Unbounded" pitchFamily="34" charset="-122"/>
                <a:cs typeface="Unbounded" pitchFamily="34" charset="-120"/>
              </a:rPr>
              <a:t>AI Assistant sebagai Co-Pilot &amp; Tech Stack</a:t>
            </a:r>
            <a:endParaRPr lang="en-US" sz="2700" dirty="0"/>
          </a:p>
        </p:txBody>
      </p:sp>
      <p:sp>
        <p:nvSpPr>
          <p:cNvPr id="5" name="Shape 3"/>
          <p:cNvSpPr/>
          <p:nvPr/>
        </p:nvSpPr>
        <p:spPr>
          <a:xfrm>
            <a:off x="592123" y="1418828"/>
            <a:ext cx="5430106" cy="4913114"/>
          </a:xfrm>
          <a:prstGeom prst="roundRect">
            <a:avLst>
              <a:gd name="adj" fmla="val 450"/>
            </a:avLst>
          </a:prstGeom>
          <a:solidFill>
            <a:srgbClr val="0A988B"/>
          </a:solidFill>
          <a:ln/>
        </p:spPr>
      </p:sp>
      <p:sp>
        <p:nvSpPr>
          <p:cNvPr id="6" name="Text 4"/>
          <p:cNvSpPr/>
          <p:nvPr/>
        </p:nvSpPr>
        <p:spPr>
          <a:xfrm>
            <a:off x="739360" y="1543050"/>
            <a:ext cx="5135632" cy="216495"/>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Unbounded" pitchFamily="34" charset="0"/>
                <a:ea typeface="Unbounded" pitchFamily="34" charset="-122"/>
                <a:cs typeface="Unbounded" pitchFamily="34" charset="-120"/>
              </a:rPr>
              <a:t>AI Assistant: Bukan Sekadar Autocomplete</a:t>
            </a:r>
            <a:endParaRPr lang="en-US" sz="1350" dirty="0"/>
          </a:p>
        </p:txBody>
      </p:sp>
      <p:sp>
        <p:nvSpPr>
          <p:cNvPr id="7" name="Text 5"/>
          <p:cNvSpPr/>
          <p:nvPr/>
        </p:nvSpPr>
        <p:spPr>
          <a:xfrm>
            <a:off x="739360" y="1883767"/>
            <a:ext cx="5135632" cy="3045817"/>
          </a:xfrm>
          <a:prstGeom prst="rect">
            <a:avLst/>
          </a:prstGeom>
          <a:noFill/>
          <a:ln/>
        </p:spPr>
        <p:txBody>
          <a:bodyPr wrap="square" lIns="0" tIns="0" rIns="0" bIns="0" rtlCol="0" anchor="t">
            <a:normAutofit/>
          </a:bodyPr>
          <a:lstStyle/>
          <a:p>
            <a:pPr algn="l" indent="0" marL="0">
              <a:lnSpc>
                <a:spcPct val="123000"/>
              </a:lnSpc>
              <a:spcAft>
                <a:spcPts val="850"/>
              </a:spcAft>
              <a:buNone/>
            </a:pPr>
            <a:r>
              <a:rPr lang="en-US" sz="1150" dirty="0">
                <a:solidFill>
                  <a:srgbClr val="000000"/>
                </a:solidFill>
                <a:latin typeface="Cabin" pitchFamily="34" charset="0"/>
                <a:ea typeface="Cabin" pitchFamily="34" charset="-122"/>
                <a:cs typeface="Cabin" pitchFamily="34" charset="-120"/>
              </a:rPr>
              <a:t>Autocomplete klasik ibarat prediksi kata pada keyboard ponsel — berguna, tetapi sangat terbatas. AI assistant coding modern seperti </a:t>
            </a:r>
            <a:pPr algn="l" indent="0" marL="0">
              <a:lnSpc>
                <a:spcPct val="123000"/>
              </a:lnSpc>
              <a:spcAft>
                <a:spcPts val="850"/>
              </a:spcAft>
              <a:buNone/>
            </a:pPr>
            <a:r>
              <a:rPr lang="en-US" sz="1150" b="1" dirty="0">
                <a:solidFill>
                  <a:srgbClr val="000000"/>
                </a:solidFill>
                <a:latin typeface="Cabin Bold" pitchFamily="34" charset="0"/>
                <a:ea typeface="Cabin Bold" pitchFamily="34" charset="-122"/>
                <a:cs typeface="Cabin Bold" pitchFamily="34" charset="-120"/>
              </a:rPr>
              <a:t>Claude</a:t>
            </a:r>
            <a:pPr algn="l" indent="0" marL="0">
              <a:lnSpc>
                <a:spcPct val="123000"/>
              </a:lnSpc>
              <a:spcAft>
                <a:spcPts val="850"/>
              </a:spcAft>
              <a:buNone/>
            </a:pPr>
            <a:r>
              <a:rPr lang="en-US" sz="1150" dirty="0">
                <a:solidFill>
                  <a:srgbClr val="000000"/>
                </a:solidFill>
                <a:latin typeface="Cabin" pitchFamily="34" charset="0"/>
                <a:ea typeface="Cabin" pitchFamily="34" charset="-122"/>
                <a:cs typeface="Cabin" pitchFamily="34" charset="-120"/>
              </a:rPr>
              <a:t>, </a:t>
            </a:r>
            <a:pPr algn="l" indent="0" marL="0">
              <a:lnSpc>
                <a:spcPct val="123000"/>
              </a:lnSpc>
              <a:spcAft>
                <a:spcPts val="850"/>
              </a:spcAft>
              <a:buNone/>
            </a:pPr>
            <a:r>
              <a:rPr lang="en-US" sz="1150" b="1" dirty="0">
                <a:solidFill>
                  <a:srgbClr val="000000"/>
                </a:solidFill>
                <a:latin typeface="Cabin Bold" pitchFamily="34" charset="0"/>
                <a:ea typeface="Cabin Bold" pitchFamily="34" charset="-122"/>
                <a:cs typeface="Cabin Bold" pitchFamily="34" charset="-120"/>
              </a:rPr>
              <a:t>GitHub Copilot</a:t>
            </a:r>
            <a:pPr algn="l" indent="0" marL="0">
              <a:lnSpc>
                <a:spcPct val="123000"/>
              </a:lnSpc>
              <a:spcAft>
                <a:spcPts val="850"/>
              </a:spcAft>
              <a:buNone/>
            </a:pPr>
            <a:r>
              <a:rPr lang="en-US" sz="1150" dirty="0">
                <a:solidFill>
                  <a:srgbClr val="000000"/>
                </a:solidFill>
                <a:latin typeface="Cabin" pitchFamily="34" charset="0"/>
                <a:ea typeface="Cabin" pitchFamily="34" charset="-122"/>
                <a:cs typeface="Cabin" pitchFamily="34" charset="-120"/>
              </a:rPr>
              <a:t>, atau </a:t>
            </a:r>
            <a:pPr algn="l" indent="0" marL="0">
              <a:lnSpc>
                <a:spcPct val="123000"/>
              </a:lnSpc>
              <a:spcAft>
                <a:spcPts val="850"/>
              </a:spcAft>
              <a:buNone/>
            </a:pPr>
            <a:r>
              <a:rPr lang="en-US" sz="1150" b="1" dirty="0">
                <a:solidFill>
                  <a:srgbClr val="000000"/>
                </a:solidFill>
                <a:latin typeface="Cabin Bold" pitchFamily="34" charset="0"/>
                <a:ea typeface="Cabin Bold" pitchFamily="34" charset="-122"/>
                <a:cs typeface="Cabin Bold" pitchFamily="34" charset="-120"/>
              </a:rPr>
              <a:t>Cursor AI</a:t>
            </a:r>
            <a:pPr algn="l" indent="0" marL="0">
              <a:lnSpc>
                <a:spcPct val="123000"/>
              </a:lnSpc>
              <a:spcAft>
                <a:spcPts val="850"/>
              </a:spcAft>
              <a:buNone/>
            </a:pPr>
            <a:r>
              <a:rPr lang="en-US" sz="1150" dirty="0">
                <a:solidFill>
                  <a:srgbClr val="000000"/>
                </a:solidFill>
                <a:latin typeface="Cabin" pitchFamily="34" charset="0"/>
                <a:ea typeface="Cabin" pitchFamily="34" charset="-122"/>
                <a:cs typeface="Cabin" pitchFamily="34" charset="-120"/>
              </a:rPr>
              <a:t> lebih mirip co-pilot pesawat terbang: rekan yang memahami tujuan penerbangan secara utuh, bisa diajak berdiskusi tentang rencana, bisa mengambil alih kendali teknis untuk sementara, tetapi keputusan akhir dan tanggung jawab tetap di tangan pilot utama — peserta itu sendiri.</a:t>
            </a:r>
            <a:endParaRPr lang="en-US" sz="1150" dirty="0"/>
          </a:p>
          <a:p>
            <a:pPr algn="l" indent="0" marL="0">
              <a:lnSpc>
                <a:spcPct val="123000"/>
              </a:lnSpc>
              <a:spcAft>
                <a:spcPts val="850"/>
              </a:spcAft>
              <a:buNone/>
            </a:pPr>
            <a:r>
              <a:rPr lang="en-US" sz="1150" dirty="0">
                <a:solidFill>
                  <a:srgbClr val="000000"/>
                </a:solidFill>
                <a:latin typeface="Cabin" pitchFamily="34" charset="0"/>
                <a:ea typeface="Cabin" pitchFamily="34" charset="-122"/>
                <a:cs typeface="Cabin" pitchFamily="34" charset="-120"/>
              </a:rPr>
              <a:t>AI assistant modern mampu: menulis fungsi lengkap dari deskripsi kebutuhan, menjelaskan ulang kode baris demi baris, membantu menemukan penyebab error, dan menjadi teman diskusi untuk merancang struktur aplikasi sebelum mulai menulis kode.</a:t>
            </a:r>
            <a:endParaRPr lang="en-US" sz="1150" dirty="0"/>
          </a:p>
          <a:p>
            <a:pPr algn="l" indent="0" marL="0">
              <a:lnSpc>
                <a:spcPct val="123000"/>
              </a:lnSpc>
              <a:buNone/>
            </a:pPr>
            <a:r>
              <a:rPr lang="en-US" sz="1150" dirty="0">
                <a:solidFill>
                  <a:srgbClr val="000000"/>
                </a:solidFill>
                <a:latin typeface="Cabin" pitchFamily="34" charset="0"/>
                <a:ea typeface="Cabin" pitchFamily="34" charset="-122"/>
                <a:cs typeface="Cabin" pitchFamily="34" charset="-120"/>
              </a:rPr>
              <a:t>Peserta dipersilakan memilih salah satu dari tiga AI assistant populer sebagai mitra kerja utama. Ketiganya memiliki kekuatan masing-masing, namun prinsip dan teknik prompting yang dipelajari pada bootcamp ini berlaku sama untuk ketiganya.</a:t>
            </a:r>
            <a:endParaRPr lang="en-US" sz="1150" dirty="0"/>
          </a:p>
        </p:txBody>
      </p:sp>
      <p:sp>
        <p:nvSpPr>
          <p:cNvPr id="8" name="Text 6"/>
          <p:cNvSpPr/>
          <p:nvPr/>
        </p:nvSpPr>
        <p:spPr>
          <a:xfrm>
            <a:off x="6281779" y="1543050"/>
            <a:ext cx="5218180" cy="216495"/>
          </a:xfrm>
          <a:prstGeom prst="rect">
            <a:avLst/>
          </a:prstGeom>
          <a:noFill/>
          <a:ln/>
        </p:spPr>
        <p:txBody>
          <a:bodyPr wrap="none" lIns="0" tIns="0" rIns="0" bIns="0" rtlCol="0" anchor="t"/>
          <a:lstStyle/>
          <a:p>
            <a:pPr algn="l" indent="0" marL="0">
              <a:lnSpc>
                <a:spcPct val="104000"/>
              </a:lnSpc>
              <a:buNone/>
            </a:pPr>
            <a:r>
              <a:rPr lang="en-US" sz="1350" dirty="0">
                <a:solidFill>
                  <a:srgbClr val="FFFFFF"/>
                </a:solidFill>
                <a:latin typeface="Unbounded" pitchFamily="34" charset="0"/>
                <a:ea typeface="Unbounded" pitchFamily="34" charset="-122"/>
                <a:cs typeface="Unbounded" pitchFamily="34" charset="-120"/>
              </a:rPr>
              <a:t>Stack Teknologi yang Akan Dipelajari</a:t>
            </a:r>
            <a:endParaRPr lang="en-US" sz="1350" dirty="0"/>
          </a:p>
        </p:txBody>
      </p:sp>
      <p:sp>
        <p:nvSpPr>
          <p:cNvPr id="9" name="Shape 7"/>
          <p:cNvSpPr/>
          <p:nvPr/>
        </p:nvSpPr>
        <p:spPr>
          <a:xfrm>
            <a:off x="6281779" y="1899245"/>
            <a:ext cx="2546981" cy="2192933"/>
          </a:xfrm>
          <a:prstGeom prst="roundRect">
            <a:avLst>
              <a:gd name="adj" fmla="val 1007"/>
            </a:avLst>
          </a:prstGeom>
          <a:solidFill>
            <a:srgbClr val="112836"/>
          </a:solidFill>
          <a:ln w="19050">
            <a:solidFill>
              <a:srgbClr val="49606E"/>
            </a:solidFill>
            <a:prstDash val="solid"/>
          </a:ln>
        </p:spPr>
      </p:sp>
      <p:sp>
        <p:nvSpPr>
          <p:cNvPr id="10" name="Text 8"/>
          <p:cNvSpPr/>
          <p:nvPr/>
        </p:nvSpPr>
        <p:spPr>
          <a:xfrm>
            <a:off x="6448065" y="2065536"/>
            <a:ext cx="2214408" cy="216495"/>
          </a:xfrm>
          <a:prstGeom prst="rect">
            <a:avLst/>
          </a:prstGeom>
          <a:noFill/>
          <a:ln/>
        </p:spPr>
        <p:txBody>
          <a:bodyPr wrap="none" lIns="0" tIns="0" rIns="0" bIns="0" rtlCol="0" anchor="t"/>
          <a:lstStyle/>
          <a:p>
            <a:pPr algn="l" indent="0" marL="0">
              <a:lnSpc>
                <a:spcPct val="104000"/>
              </a:lnSpc>
              <a:buNone/>
            </a:pPr>
            <a:r>
              <a:rPr lang="en-US" sz="1350" dirty="0">
                <a:solidFill>
                  <a:srgbClr val="CAD6DE"/>
                </a:solidFill>
                <a:latin typeface="Unbounded" pitchFamily="34" charset="0"/>
                <a:ea typeface="Unbounded" pitchFamily="34" charset="-122"/>
                <a:cs typeface="Unbounded" pitchFamily="34" charset="-120"/>
              </a:rPr>
              <a:t>Next.js</a:t>
            </a:r>
            <a:endParaRPr lang="en-US" sz="1350" dirty="0"/>
          </a:p>
        </p:txBody>
      </p:sp>
      <p:sp>
        <p:nvSpPr>
          <p:cNvPr id="11" name="Text 9"/>
          <p:cNvSpPr/>
          <p:nvPr/>
        </p:nvSpPr>
        <p:spPr>
          <a:xfrm>
            <a:off x="6448065" y="2406253"/>
            <a:ext cx="2214408" cy="1519634"/>
          </a:xfrm>
          <a:prstGeom prst="rect">
            <a:avLst/>
          </a:prstGeom>
          <a:noFill/>
          <a:ln/>
        </p:spPr>
        <p:txBody>
          <a:bodyPr wrap="square" lIns="0" tIns="0" rIns="0" bIns="0" rtlCol="0" anchor="t">
            <a:normAutofit/>
          </a:bodyPr>
          <a:lstStyle/>
          <a:p>
            <a:pPr algn="l" indent="0" marL="0">
              <a:lnSpc>
                <a:spcPct val="123000"/>
              </a:lnSpc>
              <a:buNone/>
            </a:pPr>
            <a:r>
              <a:rPr lang="en-US" sz="1150" dirty="0">
                <a:solidFill>
                  <a:srgbClr val="CAD6DE"/>
                </a:solidFill>
                <a:latin typeface="Cabin" pitchFamily="34" charset="0"/>
                <a:ea typeface="Cabin" pitchFamily="34" charset="-122"/>
                <a:cs typeface="Cabin" pitchFamily="34" charset="-120"/>
              </a:rPr>
              <a:t>Framework untuk </a:t>
            </a:r>
            <a:pPr algn="l" indent="0" marL="0">
              <a:lnSpc>
                <a:spcPct val="123000"/>
              </a:lnSpc>
              <a:buNone/>
            </a:pPr>
            <a:r>
              <a:rPr lang="en-US" sz="1150" b="1" dirty="0">
                <a:solidFill>
                  <a:srgbClr val="CAD6DE"/>
                </a:solidFill>
                <a:latin typeface="Cabin Bold" pitchFamily="34" charset="0"/>
                <a:ea typeface="Cabin Bold" pitchFamily="34" charset="-122"/>
                <a:cs typeface="Cabin Bold" pitchFamily="34" charset="-120"/>
              </a:rPr>
              <a:t>frontend</a:t>
            </a:r>
            <a:pPr algn="l" indent="0" marL="0">
              <a:lnSpc>
                <a:spcPct val="123000"/>
              </a:lnSpc>
              <a:buNone/>
            </a:pPr>
            <a:r>
              <a:rPr lang="en-US" sz="1150" dirty="0">
                <a:solidFill>
                  <a:srgbClr val="CAD6DE"/>
                </a:solidFill>
                <a:latin typeface="Cabin" pitchFamily="34" charset="0"/>
                <a:ea typeface="Cabin" pitchFamily="34" charset="-122"/>
                <a:cs typeface="Cabin" pitchFamily="34" charset="-120"/>
              </a:rPr>
              <a:t> — bagian aplikasi yang dilihat dan disentuh pengguna melalui browser: tombol, halaman, formulir, gambar. Dibangun di atas React dengan routing otomatis berdasarkan struktur folder.</a:t>
            </a:r>
            <a:endParaRPr lang="en-US" sz="1150" dirty="0"/>
          </a:p>
        </p:txBody>
      </p:sp>
      <p:sp>
        <p:nvSpPr>
          <p:cNvPr id="12" name="Shape 10"/>
          <p:cNvSpPr/>
          <p:nvPr/>
        </p:nvSpPr>
        <p:spPr>
          <a:xfrm>
            <a:off x="8952978" y="1899245"/>
            <a:ext cx="2546981" cy="2192933"/>
          </a:xfrm>
          <a:prstGeom prst="roundRect">
            <a:avLst>
              <a:gd name="adj" fmla="val 1007"/>
            </a:avLst>
          </a:prstGeom>
          <a:solidFill>
            <a:srgbClr val="112836"/>
          </a:solidFill>
          <a:ln w="19050">
            <a:solidFill>
              <a:srgbClr val="49606E"/>
            </a:solidFill>
            <a:prstDash val="solid"/>
          </a:ln>
        </p:spPr>
      </p:sp>
      <p:sp>
        <p:nvSpPr>
          <p:cNvPr id="13" name="Text 11"/>
          <p:cNvSpPr/>
          <p:nvPr/>
        </p:nvSpPr>
        <p:spPr>
          <a:xfrm>
            <a:off x="9119265" y="2065536"/>
            <a:ext cx="2214408" cy="216495"/>
          </a:xfrm>
          <a:prstGeom prst="rect">
            <a:avLst/>
          </a:prstGeom>
          <a:noFill/>
          <a:ln/>
        </p:spPr>
        <p:txBody>
          <a:bodyPr wrap="none" lIns="0" tIns="0" rIns="0" bIns="0" rtlCol="0" anchor="t"/>
          <a:lstStyle/>
          <a:p>
            <a:pPr algn="l" indent="0" marL="0">
              <a:lnSpc>
                <a:spcPct val="104000"/>
              </a:lnSpc>
              <a:buNone/>
            </a:pPr>
            <a:r>
              <a:rPr lang="en-US" sz="1350" dirty="0">
                <a:solidFill>
                  <a:srgbClr val="CAD6DE"/>
                </a:solidFill>
                <a:latin typeface="Unbounded" pitchFamily="34" charset="0"/>
                <a:ea typeface="Unbounded" pitchFamily="34" charset="-122"/>
                <a:cs typeface="Unbounded" pitchFamily="34" charset="-120"/>
              </a:rPr>
              <a:t>Bun</a:t>
            </a:r>
            <a:endParaRPr lang="en-US" sz="1350" dirty="0"/>
          </a:p>
        </p:txBody>
      </p:sp>
      <p:sp>
        <p:nvSpPr>
          <p:cNvPr id="14" name="Text 12"/>
          <p:cNvSpPr/>
          <p:nvPr/>
        </p:nvSpPr>
        <p:spPr>
          <a:xfrm>
            <a:off x="9119265" y="2406253"/>
            <a:ext cx="2214408" cy="1302544"/>
          </a:xfrm>
          <a:prstGeom prst="rect">
            <a:avLst/>
          </a:prstGeom>
          <a:noFill/>
          <a:ln/>
        </p:spPr>
        <p:txBody>
          <a:bodyPr wrap="square" lIns="0" tIns="0" rIns="0" bIns="0" rtlCol="0" anchor="t">
            <a:normAutofit/>
          </a:bodyPr>
          <a:lstStyle/>
          <a:p>
            <a:pPr algn="l" indent="0" marL="0">
              <a:lnSpc>
                <a:spcPct val="123000"/>
              </a:lnSpc>
              <a:buNone/>
            </a:pPr>
            <a:r>
              <a:rPr lang="en-US" sz="1150" b="1" dirty="0">
                <a:solidFill>
                  <a:srgbClr val="CAD6DE"/>
                </a:solidFill>
                <a:latin typeface="Cabin Bold" pitchFamily="34" charset="0"/>
                <a:ea typeface="Cabin Bold" pitchFamily="34" charset="-122"/>
                <a:cs typeface="Cabin Bold" pitchFamily="34" charset="-120"/>
              </a:rPr>
              <a:t>Runtime</a:t>
            </a:r>
            <a:pPr algn="l" indent="0" marL="0">
              <a:lnSpc>
                <a:spcPct val="123000"/>
              </a:lnSpc>
              <a:buNone/>
            </a:pPr>
            <a:r>
              <a:rPr lang="en-US" sz="1150" dirty="0">
                <a:solidFill>
                  <a:srgbClr val="CAD6DE"/>
                </a:solidFill>
                <a:latin typeface="Cabin" pitchFamily="34" charset="0"/>
                <a:ea typeface="Cabin" pitchFamily="34" charset="-122"/>
                <a:cs typeface="Cabin" pitchFamily="34" charset="-120"/>
              </a:rPr>
              <a:t> — "mesin" yang menjalankan kode JavaScript di luar browser. Dikenal sangat cepat dalam menjalankan program maupun memasang dependensi project.</a:t>
            </a:r>
            <a:endParaRPr lang="en-US" sz="1150" dirty="0"/>
          </a:p>
        </p:txBody>
      </p:sp>
      <p:sp>
        <p:nvSpPr>
          <p:cNvPr id="15" name="Shape 13"/>
          <p:cNvSpPr/>
          <p:nvPr/>
        </p:nvSpPr>
        <p:spPr>
          <a:xfrm>
            <a:off x="6281779" y="4216400"/>
            <a:ext cx="2546981" cy="1975842"/>
          </a:xfrm>
          <a:prstGeom prst="roundRect">
            <a:avLst>
              <a:gd name="adj" fmla="val 1118"/>
            </a:avLst>
          </a:prstGeom>
          <a:solidFill>
            <a:srgbClr val="112836"/>
          </a:solidFill>
          <a:ln w="19050">
            <a:solidFill>
              <a:srgbClr val="49606E"/>
            </a:solidFill>
            <a:prstDash val="solid"/>
          </a:ln>
        </p:spPr>
      </p:sp>
      <p:sp>
        <p:nvSpPr>
          <p:cNvPr id="16" name="Text 14"/>
          <p:cNvSpPr/>
          <p:nvPr/>
        </p:nvSpPr>
        <p:spPr>
          <a:xfrm>
            <a:off x="6448065" y="4382691"/>
            <a:ext cx="2214408" cy="216495"/>
          </a:xfrm>
          <a:prstGeom prst="rect">
            <a:avLst/>
          </a:prstGeom>
          <a:noFill/>
          <a:ln/>
        </p:spPr>
        <p:txBody>
          <a:bodyPr wrap="none" lIns="0" tIns="0" rIns="0" bIns="0" rtlCol="0" anchor="t"/>
          <a:lstStyle/>
          <a:p>
            <a:pPr algn="l" indent="0" marL="0">
              <a:lnSpc>
                <a:spcPct val="104000"/>
              </a:lnSpc>
              <a:buNone/>
            </a:pPr>
            <a:r>
              <a:rPr lang="en-US" sz="1350" dirty="0">
                <a:solidFill>
                  <a:srgbClr val="CAD6DE"/>
                </a:solidFill>
                <a:latin typeface="Unbounded" pitchFamily="34" charset="0"/>
                <a:ea typeface="Unbounded" pitchFamily="34" charset="-122"/>
                <a:cs typeface="Unbounded" pitchFamily="34" charset="-120"/>
              </a:rPr>
              <a:t>Express.js</a:t>
            </a:r>
            <a:endParaRPr lang="en-US" sz="1350" dirty="0"/>
          </a:p>
        </p:txBody>
      </p:sp>
      <p:sp>
        <p:nvSpPr>
          <p:cNvPr id="17" name="Text 15"/>
          <p:cNvSpPr/>
          <p:nvPr/>
        </p:nvSpPr>
        <p:spPr>
          <a:xfrm>
            <a:off x="6448065" y="4723408"/>
            <a:ext cx="2214408" cy="1302544"/>
          </a:xfrm>
          <a:prstGeom prst="rect">
            <a:avLst/>
          </a:prstGeom>
          <a:noFill/>
          <a:ln/>
        </p:spPr>
        <p:txBody>
          <a:bodyPr wrap="square" lIns="0" tIns="0" rIns="0" bIns="0" rtlCol="0" anchor="t">
            <a:normAutofit/>
          </a:bodyPr>
          <a:lstStyle/>
          <a:p>
            <a:pPr algn="l" indent="0" marL="0">
              <a:lnSpc>
                <a:spcPct val="123000"/>
              </a:lnSpc>
              <a:buNone/>
            </a:pPr>
            <a:r>
              <a:rPr lang="en-US" sz="1150" dirty="0">
                <a:solidFill>
                  <a:srgbClr val="CAD6DE"/>
                </a:solidFill>
                <a:latin typeface="Cabin" pitchFamily="34" charset="0"/>
                <a:ea typeface="Cabin" pitchFamily="34" charset="-122"/>
                <a:cs typeface="Cabin" pitchFamily="34" charset="-120"/>
              </a:rPr>
              <a:t>Framework untuk </a:t>
            </a:r>
            <a:pPr algn="l" indent="0" marL="0">
              <a:lnSpc>
                <a:spcPct val="123000"/>
              </a:lnSpc>
              <a:buNone/>
            </a:pPr>
            <a:r>
              <a:rPr lang="en-US" sz="1150" b="1" dirty="0">
                <a:solidFill>
                  <a:srgbClr val="CAD6DE"/>
                </a:solidFill>
                <a:latin typeface="Cabin Bold" pitchFamily="34" charset="0"/>
                <a:ea typeface="Cabin Bold" pitchFamily="34" charset="-122"/>
                <a:cs typeface="Cabin Bold" pitchFamily="34" charset="-120"/>
              </a:rPr>
              <a:t>backend</a:t>
            </a:r>
            <a:pPr algn="l" indent="0" marL="0">
              <a:lnSpc>
                <a:spcPct val="123000"/>
              </a:lnSpc>
              <a:buNone/>
            </a:pPr>
            <a:r>
              <a:rPr lang="en-US" sz="1150" dirty="0">
                <a:solidFill>
                  <a:srgbClr val="CAD6DE"/>
                </a:solidFill>
                <a:latin typeface="Cabin" pitchFamily="34" charset="0"/>
                <a:ea typeface="Cabin" pitchFamily="34" charset="-122"/>
                <a:cs typeface="Cabin" pitchFamily="34" charset="-120"/>
              </a:rPr>
              <a:t> — bagian yang bekerja di balik layar: memproses data, menghubungkan ke database, dan menyediakan data yang dibutuhkan frontend melalui API.</a:t>
            </a:r>
            <a:endParaRPr lang="en-US" sz="1150" dirty="0"/>
          </a:p>
        </p:txBody>
      </p:sp>
      <p:sp>
        <p:nvSpPr>
          <p:cNvPr id="18" name="Shape 16"/>
          <p:cNvSpPr/>
          <p:nvPr/>
        </p:nvSpPr>
        <p:spPr>
          <a:xfrm>
            <a:off x="8952978" y="4216400"/>
            <a:ext cx="2546981" cy="1975842"/>
          </a:xfrm>
          <a:prstGeom prst="roundRect">
            <a:avLst>
              <a:gd name="adj" fmla="val 1118"/>
            </a:avLst>
          </a:prstGeom>
          <a:solidFill>
            <a:srgbClr val="112836"/>
          </a:solidFill>
          <a:ln w="19050">
            <a:solidFill>
              <a:srgbClr val="49606E"/>
            </a:solidFill>
            <a:prstDash val="solid"/>
          </a:ln>
        </p:spPr>
      </p:sp>
      <p:sp>
        <p:nvSpPr>
          <p:cNvPr id="19" name="Text 17"/>
          <p:cNvSpPr/>
          <p:nvPr/>
        </p:nvSpPr>
        <p:spPr>
          <a:xfrm>
            <a:off x="9119265" y="4382691"/>
            <a:ext cx="2214408" cy="216495"/>
          </a:xfrm>
          <a:prstGeom prst="rect">
            <a:avLst/>
          </a:prstGeom>
          <a:noFill/>
          <a:ln/>
        </p:spPr>
        <p:txBody>
          <a:bodyPr wrap="none" lIns="0" tIns="0" rIns="0" bIns="0" rtlCol="0" anchor="t"/>
          <a:lstStyle/>
          <a:p>
            <a:pPr algn="l" indent="0" marL="0">
              <a:lnSpc>
                <a:spcPct val="104000"/>
              </a:lnSpc>
              <a:buNone/>
            </a:pPr>
            <a:r>
              <a:rPr lang="en-US" sz="1350" dirty="0">
                <a:solidFill>
                  <a:srgbClr val="CAD6DE"/>
                </a:solidFill>
                <a:latin typeface="Unbounded" pitchFamily="34" charset="0"/>
                <a:ea typeface="Unbounded" pitchFamily="34" charset="-122"/>
                <a:cs typeface="Unbounded" pitchFamily="34" charset="-120"/>
              </a:rPr>
              <a:t>MySQL</a:t>
            </a:r>
            <a:endParaRPr lang="en-US" sz="1350" dirty="0"/>
          </a:p>
        </p:txBody>
      </p:sp>
      <p:sp>
        <p:nvSpPr>
          <p:cNvPr id="20" name="Text 18"/>
          <p:cNvSpPr/>
          <p:nvPr/>
        </p:nvSpPr>
        <p:spPr>
          <a:xfrm>
            <a:off x="9119265" y="4723408"/>
            <a:ext cx="2214408" cy="1085453"/>
          </a:xfrm>
          <a:prstGeom prst="rect">
            <a:avLst/>
          </a:prstGeom>
          <a:noFill/>
          <a:ln/>
        </p:spPr>
        <p:txBody>
          <a:bodyPr wrap="square" lIns="0" tIns="0" rIns="0" bIns="0" rtlCol="0" anchor="t">
            <a:normAutofit/>
          </a:bodyPr>
          <a:lstStyle/>
          <a:p>
            <a:pPr algn="l" indent="0" marL="0">
              <a:lnSpc>
                <a:spcPct val="123000"/>
              </a:lnSpc>
              <a:buNone/>
            </a:pPr>
            <a:r>
              <a:rPr lang="en-US" sz="1150" dirty="0">
                <a:solidFill>
                  <a:srgbClr val="CAD6DE"/>
                </a:solidFill>
                <a:latin typeface="Cabin" pitchFamily="34" charset="0"/>
                <a:ea typeface="Cabin" pitchFamily="34" charset="-122"/>
                <a:cs typeface="Cabin" pitchFamily="34" charset="-120"/>
              </a:rPr>
              <a:t>Sistem </a:t>
            </a:r>
            <a:pPr algn="l" indent="0" marL="0">
              <a:lnSpc>
                <a:spcPct val="123000"/>
              </a:lnSpc>
              <a:buNone/>
            </a:pPr>
            <a:r>
              <a:rPr lang="en-US" sz="1150" b="1" dirty="0">
                <a:solidFill>
                  <a:srgbClr val="CAD6DE"/>
                </a:solidFill>
                <a:latin typeface="Cabin Bold" pitchFamily="34" charset="0"/>
                <a:ea typeface="Cabin Bold" pitchFamily="34" charset="-122"/>
                <a:cs typeface="Cabin Bold" pitchFamily="34" charset="-120"/>
              </a:rPr>
              <a:t>basis data relasional</a:t>
            </a:r>
            <a:pPr algn="l" indent="0" marL="0">
              <a:lnSpc>
                <a:spcPct val="123000"/>
              </a:lnSpc>
              <a:buNone/>
            </a:pPr>
            <a:r>
              <a:rPr lang="en-US" sz="1150" dirty="0">
                <a:solidFill>
                  <a:srgbClr val="CAD6DE"/>
                </a:solidFill>
                <a:latin typeface="Cabin" pitchFamily="34" charset="0"/>
                <a:ea typeface="Cabin" pitchFamily="34" charset="-122"/>
                <a:cs typeface="Cabin" pitchFamily="34" charset="-120"/>
              </a:rPr>
              <a:t> — tempat menyimpan data aplikasi secara terstruktur dan permanen, seperti daftar pengguna, produk, atau catatan transaksi.</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98086" y="514648"/>
            <a:ext cx="1042961" cy="153392"/>
          </a:xfrm>
          <a:prstGeom prst="roundRect">
            <a:avLst>
              <a:gd name="adj" fmla="val 7894"/>
            </a:avLst>
          </a:prstGeom>
          <a:solidFill>
            <a:srgbClr val="054842"/>
          </a:solidFill>
          <a:ln/>
        </p:spPr>
      </p:sp>
      <p:sp>
        <p:nvSpPr>
          <p:cNvPr id="3" name="Text 1"/>
          <p:cNvSpPr/>
          <p:nvPr/>
        </p:nvSpPr>
        <p:spPr>
          <a:xfrm>
            <a:off x="758608" y="544909"/>
            <a:ext cx="1531502" cy="92869"/>
          </a:xfrm>
          <a:prstGeom prst="rect">
            <a:avLst/>
          </a:prstGeom>
          <a:noFill/>
          <a:ln/>
        </p:spPr>
        <p:txBody>
          <a:bodyPr wrap="none" lIns="0" tIns="0" rIns="0" bIns="0" rtlCol="0" anchor="t"/>
          <a:lstStyle/>
          <a:p>
            <a:pPr algn="l" indent="0" marL="0">
              <a:lnSpc>
                <a:spcPct val="96000"/>
              </a:lnSpc>
              <a:buNone/>
            </a:pPr>
            <a:r>
              <a:rPr lang="en-US" sz="600" dirty="0">
                <a:solidFill>
                  <a:srgbClr val="CAD6DE"/>
                </a:solidFill>
                <a:latin typeface="Cabin" pitchFamily="34" charset="0"/>
                <a:ea typeface="Cabin" pitchFamily="34" charset="-122"/>
                <a:cs typeface="Cabin" pitchFamily="34" charset="-120"/>
              </a:rPr>
              <a:t>BOOTCAMP VIBE CODING</a:t>
            </a:r>
            <a:endParaRPr lang="en-US" sz="600" dirty="0"/>
          </a:p>
        </p:txBody>
      </p:sp>
      <p:sp>
        <p:nvSpPr>
          <p:cNvPr id="4" name="Text 2"/>
          <p:cNvSpPr/>
          <p:nvPr/>
        </p:nvSpPr>
        <p:spPr>
          <a:xfrm>
            <a:off x="698086" y="691356"/>
            <a:ext cx="10795524" cy="296763"/>
          </a:xfrm>
          <a:prstGeom prst="rect">
            <a:avLst/>
          </a:prstGeom>
          <a:noFill/>
          <a:ln/>
        </p:spPr>
        <p:txBody>
          <a:bodyPr wrap="none" lIns="0" tIns="0" rIns="0" bIns="0" rtlCol="0" anchor="t"/>
          <a:lstStyle/>
          <a:p>
            <a:pPr algn="l" indent="0" marL="0">
              <a:lnSpc>
                <a:spcPct val="104000"/>
              </a:lnSpc>
              <a:buNone/>
            </a:pPr>
            <a:r>
              <a:rPr lang="en-US" sz="1850" dirty="0">
                <a:solidFill>
                  <a:srgbClr val="FFFFFF"/>
                </a:solidFill>
                <a:latin typeface="Unbounded" pitchFamily="34" charset="0"/>
                <a:ea typeface="Unbounded" pitchFamily="34" charset="-122"/>
                <a:cs typeface="Unbounded" pitchFamily="34" charset="-120"/>
              </a:rPr>
              <a:t>Setup Environment &amp; GitHub</a:t>
            </a:r>
            <a:endParaRPr lang="en-US" sz="1850" dirty="0"/>
          </a:p>
        </p:txBody>
      </p:sp>
      <p:sp>
        <p:nvSpPr>
          <p:cNvPr id="5" name="Text 3"/>
          <p:cNvSpPr/>
          <p:nvPr/>
        </p:nvSpPr>
        <p:spPr>
          <a:xfrm>
            <a:off x="698086" y="1075531"/>
            <a:ext cx="11405108" cy="127298"/>
          </a:xfrm>
          <a:prstGeom prst="rect">
            <a:avLst/>
          </a:prstGeom>
          <a:noFill/>
          <a:ln/>
        </p:spPr>
        <p:txBody>
          <a:bodyPr wrap="none" lIns="0" tIns="0" rIns="0" bIns="0" rtlCol="0" anchor="t"/>
          <a:lstStyle/>
          <a:p>
            <a:pPr algn="l" indent="0" marL="0">
              <a:lnSpc>
                <a:spcPct val="105000"/>
              </a:lnSpc>
              <a:buNone/>
            </a:pPr>
            <a:r>
              <a:rPr lang="en-US" sz="750" dirty="0">
                <a:solidFill>
                  <a:srgbClr val="CAD6DE"/>
                </a:solidFill>
                <a:latin typeface="Cabin" pitchFamily="34" charset="0"/>
                <a:ea typeface="Cabin" pitchFamily="34" charset="-122"/>
                <a:cs typeface="Cabin" pitchFamily="34" charset="-120"/>
              </a:rPr>
              <a:t>"Environment" berarti seluruh perangkat lunak pendukung yang perlu terpasang di komputer peserta sebelum mulai coding. Berikut urutan instalasi yang harus dilakukan:</a:t>
            </a:r>
            <a:endParaRPr lang="en-US" sz="750" dirty="0"/>
          </a:p>
        </p:txBody>
      </p:sp>
      <p:sp>
        <p:nvSpPr>
          <p:cNvPr id="6" name="Shape 4"/>
          <p:cNvSpPr/>
          <p:nvPr/>
        </p:nvSpPr>
        <p:spPr>
          <a:xfrm>
            <a:off x="698086" y="1268413"/>
            <a:ext cx="227007" cy="227013"/>
          </a:xfrm>
          <a:prstGeom prst="roundRect">
            <a:avLst>
              <a:gd name="adj" fmla="val 6668"/>
            </a:avLst>
          </a:prstGeom>
          <a:solidFill>
            <a:srgbClr val="304755"/>
          </a:solidFill>
          <a:ln/>
        </p:spPr>
      </p:sp>
      <p:sp>
        <p:nvSpPr>
          <p:cNvPr id="7" name="Text 5"/>
          <p:cNvSpPr/>
          <p:nvPr/>
        </p:nvSpPr>
        <p:spPr>
          <a:xfrm>
            <a:off x="740401" y="1292920"/>
            <a:ext cx="142375" cy="177998"/>
          </a:xfrm>
          <a:prstGeom prst="rect">
            <a:avLst/>
          </a:prstGeom>
          <a:noFill/>
          <a:ln/>
        </p:spPr>
        <p:txBody>
          <a:bodyPr wrap="none" lIns="0" tIns="0" rIns="0" bIns="0" rtlCol="0" anchor="ctr"/>
          <a:lstStyle/>
          <a:p>
            <a:pPr algn="ctr" indent="0" marL="0">
              <a:lnSpc>
                <a:spcPct val="100000"/>
              </a:lnSpc>
              <a:buNone/>
            </a:pPr>
            <a:r>
              <a:rPr lang="en-US" sz="1100" dirty="0">
                <a:solidFill>
                  <a:srgbClr val="CAD6DE"/>
                </a:solidFill>
                <a:latin typeface="Unbounded" pitchFamily="34" charset="0"/>
                <a:ea typeface="Unbounded" pitchFamily="34" charset="-122"/>
                <a:cs typeface="Unbounded" pitchFamily="34" charset="-120"/>
              </a:rPr>
              <a:t>1</a:t>
            </a:r>
            <a:endParaRPr lang="en-US" sz="1100" dirty="0"/>
          </a:p>
        </p:txBody>
      </p:sp>
      <p:sp>
        <p:nvSpPr>
          <p:cNvPr id="8" name="Text 6"/>
          <p:cNvSpPr/>
          <p:nvPr/>
        </p:nvSpPr>
        <p:spPr>
          <a:xfrm>
            <a:off x="983332" y="1303040"/>
            <a:ext cx="5076103" cy="148431"/>
          </a:xfrm>
          <a:prstGeom prst="rect">
            <a:avLst/>
          </a:prstGeom>
          <a:noFill/>
          <a:ln/>
        </p:spPr>
        <p:txBody>
          <a:bodyPr wrap="none" lIns="0" tIns="0" rIns="0" bIns="0" rtlCol="0" anchor="t"/>
          <a:lstStyle/>
          <a:p>
            <a:pPr algn="l" indent="0" marL="0">
              <a:lnSpc>
                <a:spcPct val="104000"/>
              </a:lnSpc>
              <a:buNone/>
            </a:pPr>
            <a:r>
              <a:rPr lang="en-US" sz="900" dirty="0">
                <a:solidFill>
                  <a:srgbClr val="CAD6DE"/>
                </a:solidFill>
                <a:latin typeface="Unbounded" pitchFamily="34" charset="0"/>
                <a:ea typeface="Unbounded" pitchFamily="34" charset="-122"/>
                <a:cs typeface="Unbounded" pitchFamily="34" charset="-120"/>
              </a:rPr>
              <a:t>Memasang Bun (dan/atau Node.js)</a:t>
            </a:r>
            <a:endParaRPr lang="en-US" sz="900" dirty="0"/>
          </a:p>
        </p:txBody>
      </p:sp>
      <p:sp>
        <p:nvSpPr>
          <p:cNvPr id="9" name="Text 7"/>
          <p:cNvSpPr/>
          <p:nvPr/>
        </p:nvSpPr>
        <p:spPr>
          <a:xfrm>
            <a:off x="983332" y="1486396"/>
            <a:ext cx="5076103" cy="394593"/>
          </a:xfrm>
          <a:prstGeom prst="rect">
            <a:avLst/>
          </a:prstGeom>
          <a:noFill/>
          <a:ln/>
        </p:spPr>
        <p:txBody>
          <a:bodyPr wrap="square" lIns="0" tIns="0" rIns="0" bIns="0" rtlCol="0" anchor="t">
            <a:normAutofit/>
          </a:bodyPr>
          <a:lstStyle/>
          <a:p>
            <a:pPr algn="l" indent="0" marL="0">
              <a:lnSpc>
                <a:spcPct val="105000"/>
              </a:lnSpc>
              <a:buNone/>
            </a:pPr>
            <a:r>
              <a:rPr lang="en-US" sz="750" dirty="0">
                <a:solidFill>
                  <a:srgbClr val="CAD6DE"/>
                </a:solidFill>
                <a:latin typeface="Cabin" pitchFamily="34" charset="0"/>
                <a:ea typeface="Cabin" pitchFamily="34" charset="-122"/>
                <a:cs typeface="Cabin" pitchFamily="34" charset="-120"/>
              </a:rPr>
              <a:t>Bun dipasang melalui terminal dengan menjalankan perintah instalasi resmi dari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bun.sh</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Verifikasi dengan </a:t>
            </a:r>
            <a:pPr algn="l" indent="0" marL="0">
              <a:lnSpc>
                <a:spcPct val="105000"/>
              </a:lnSpc>
              <a:buNone/>
            </a:pPr>
            <a:r>
              <a:rPr lang="en-US" sz="750" dirty="0">
                <a:solidFill>
                  <a:srgbClr val="CAD6DE"/>
                </a:solidFill>
                <a:highlight>
                  <a:srgbClr val="1E3543"/>
                </a:highlight>
                <a:latin typeface="Consolas" pitchFamily="34" charset="0"/>
                <a:ea typeface="Consolas" pitchFamily="34" charset="-122"/>
                <a:cs typeface="Consolas" pitchFamily="34" charset="-120"/>
              </a:rPr>
              <a:t>bun --version</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Node.js (versi LTS dari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nodejs.org</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dapat dipasang sebagai pelengkap karena beberapa tool masih membutuhkannya.</a:t>
            </a:r>
            <a:endParaRPr lang="en-US" sz="750" dirty="0"/>
          </a:p>
        </p:txBody>
      </p:sp>
      <p:sp>
        <p:nvSpPr>
          <p:cNvPr id="10" name="Shape 8"/>
          <p:cNvSpPr/>
          <p:nvPr/>
        </p:nvSpPr>
        <p:spPr>
          <a:xfrm>
            <a:off x="6132260" y="1268413"/>
            <a:ext cx="227007" cy="227013"/>
          </a:xfrm>
          <a:prstGeom prst="roundRect">
            <a:avLst>
              <a:gd name="adj" fmla="val 6668"/>
            </a:avLst>
          </a:prstGeom>
          <a:solidFill>
            <a:srgbClr val="304755"/>
          </a:solidFill>
          <a:ln/>
        </p:spPr>
      </p:sp>
      <p:sp>
        <p:nvSpPr>
          <p:cNvPr id="11" name="Text 9"/>
          <p:cNvSpPr/>
          <p:nvPr/>
        </p:nvSpPr>
        <p:spPr>
          <a:xfrm>
            <a:off x="6174576" y="1292920"/>
            <a:ext cx="142375" cy="177998"/>
          </a:xfrm>
          <a:prstGeom prst="rect">
            <a:avLst/>
          </a:prstGeom>
          <a:noFill/>
          <a:ln/>
        </p:spPr>
        <p:txBody>
          <a:bodyPr wrap="none" lIns="0" tIns="0" rIns="0" bIns="0" rtlCol="0" anchor="ctr"/>
          <a:lstStyle/>
          <a:p>
            <a:pPr algn="ctr" indent="0" marL="0">
              <a:lnSpc>
                <a:spcPct val="100000"/>
              </a:lnSpc>
              <a:buNone/>
            </a:pPr>
            <a:r>
              <a:rPr lang="en-US" sz="1100" dirty="0">
                <a:solidFill>
                  <a:srgbClr val="CAD6DE"/>
                </a:solidFill>
                <a:latin typeface="Unbounded" pitchFamily="34" charset="0"/>
                <a:ea typeface="Unbounded" pitchFamily="34" charset="-122"/>
                <a:cs typeface="Unbounded" pitchFamily="34" charset="-120"/>
              </a:rPr>
              <a:t>2</a:t>
            </a:r>
            <a:endParaRPr lang="en-US" sz="1100" dirty="0"/>
          </a:p>
        </p:txBody>
      </p:sp>
      <p:sp>
        <p:nvSpPr>
          <p:cNvPr id="12" name="Text 10"/>
          <p:cNvSpPr/>
          <p:nvPr/>
        </p:nvSpPr>
        <p:spPr>
          <a:xfrm>
            <a:off x="6417507" y="1303040"/>
            <a:ext cx="5076103" cy="148431"/>
          </a:xfrm>
          <a:prstGeom prst="rect">
            <a:avLst/>
          </a:prstGeom>
          <a:noFill/>
          <a:ln/>
        </p:spPr>
        <p:txBody>
          <a:bodyPr wrap="none" lIns="0" tIns="0" rIns="0" bIns="0" rtlCol="0" anchor="t"/>
          <a:lstStyle/>
          <a:p>
            <a:pPr algn="l" indent="0" marL="0">
              <a:lnSpc>
                <a:spcPct val="104000"/>
              </a:lnSpc>
              <a:buNone/>
            </a:pPr>
            <a:r>
              <a:rPr lang="en-US" sz="900" dirty="0">
                <a:solidFill>
                  <a:srgbClr val="CAD6DE"/>
                </a:solidFill>
                <a:latin typeface="Unbounded" pitchFamily="34" charset="0"/>
                <a:ea typeface="Unbounded" pitchFamily="34" charset="-122"/>
                <a:cs typeface="Unbounded" pitchFamily="34" charset="-120"/>
              </a:rPr>
              <a:t>Memasang Visual Studio Code (VS Code)</a:t>
            </a:r>
            <a:endParaRPr lang="en-US" sz="900" dirty="0"/>
          </a:p>
        </p:txBody>
      </p:sp>
      <p:sp>
        <p:nvSpPr>
          <p:cNvPr id="13" name="Text 11"/>
          <p:cNvSpPr/>
          <p:nvPr/>
        </p:nvSpPr>
        <p:spPr>
          <a:xfrm>
            <a:off x="6417507" y="1486396"/>
            <a:ext cx="5076103" cy="254595"/>
          </a:xfrm>
          <a:prstGeom prst="rect">
            <a:avLst/>
          </a:prstGeom>
          <a:noFill/>
          <a:ln/>
        </p:spPr>
        <p:txBody>
          <a:bodyPr wrap="square" lIns="0" tIns="0" rIns="0" bIns="0" rtlCol="0" anchor="t">
            <a:normAutofit/>
          </a:bodyPr>
          <a:lstStyle/>
          <a:p>
            <a:pPr algn="l" indent="0" marL="0">
              <a:lnSpc>
                <a:spcPct val="105000"/>
              </a:lnSpc>
              <a:buNone/>
            </a:pPr>
            <a:r>
              <a:rPr lang="en-US" sz="750" dirty="0">
                <a:solidFill>
                  <a:srgbClr val="CAD6DE"/>
                </a:solidFill>
                <a:latin typeface="Cabin" pitchFamily="34" charset="0"/>
                <a:ea typeface="Cabin" pitchFamily="34" charset="-122"/>
                <a:cs typeface="Cabin" pitchFamily="34" charset="-120"/>
              </a:rPr>
              <a:t>Editor kode utama bootcamp, diunduh gratis dari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code.visualstudio.com</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Kenali tiga bagian utamanya: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Explorer</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(daftar file di sisi kiri),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Editor</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(area menulis kode di tengah), dan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Terminal</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(panel untuk menjalankan perintah).</a:t>
            </a:r>
            <a:endParaRPr lang="en-US" sz="750" dirty="0"/>
          </a:p>
        </p:txBody>
      </p:sp>
      <p:sp>
        <p:nvSpPr>
          <p:cNvPr id="14" name="Shape 12"/>
          <p:cNvSpPr/>
          <p:nvPr/>
        </p:nvSpPr>
        <p:spPr>
          <a:xfrm>
            <a:off x="698086" y="1997571"/>
            <a:ext cx="227007" cy="227013"/>
          </a:xfrm>
          <a:prstGeom prst="roundRect">
            <a:avLst>
              <a:gd name="adj" fmla="val 6668"/>
            </a:avLst>
          </a:prstGeom>
          <a:solidFill>
            <a:srgbClr val="304755"/>
          </a:solidFill>
          <a:ln/>
        </p:spPr>
      </p:sp>
      <p:sp>
        <p:nvSpPr>
          <p:cNvPr id="15" name="Text 13"/>
          <p:cNvSpPr/>
          <p:nvPr/>
        </p:nvSpPr>
        <p:spPr>
          <a:xfrm>
            <a:off x="740401" y="2022078"/>
            <a:ext cx="142375" cy="177998"/>
          </a:xfrm>
          <a:prstGeom prst="rect">
            <a:avLst/>
          </a:prstGeom>
          <a:noFill/>
          <a:ln/>
        </p:spPr>
        <p:txBody>
          <a:bodyPr wrap="none" lIns="0" tIns="0" rIns="0" bIns="0" rtlCol="0" anchor="ctr"/>
          <a:lstStyle/>
          <a:p>
            <a:pPr algn="ctr" indent="0" marL="0">
              <a:lnSpc>
                <a:spcPct val="100000"/>
              </a:lnSpc>
              <a:buNone/>
            </a:pPr>
            <a:r>
              <a:rPr lang="en-US" sz="1100" dirty="0">
                <a:solidFill>
                  <a:srgbClr val="CAD6DE"/>
                </a:solidFill>
                <a:latin typeface="Unbounded" pitchFamily="34" charset="0"/>
                <a:ea typeface="Unbounded" pitchFamily="34" charset="-122"/>
                <a:cs typeface="Unbounded" pitchFamily="34" charset="-120"/>
              </a:rPr>
              <a:t>3</a:t>
            </a:r>
            <a:endParaRPr lang="en-US" sz="1100" dirty="0"/>
          </a:p>
        </p:txBody>
      </p:sp>
      <p:sp>
        <p:nvSpPr>
          <p:cNvPr id="16" name="Text 14"/>
          <p:cNvSpPr/>
          <p:nvPr/>
        </p:nvSpPr>
        <p:spPr>
          <a:xfrm>
            <a:off x="983332" y="2032198"/>
            <a:ext cx="5076103" cy="148431"/>
          </a:xfrm>
          <a:prstGeom prst="rect">
            <a:avLst/>
          </a:prstGeom>
          <a:noFill/>
          <a:ln/>
        </p:spPr>
        <p:txBody>
          <a:bodyPr wrap="none" lIns="0" tIns="0" rIns="0" bIns="0" rtlCol="0" anchor="t"/>
          <a:lstStyle/>
          <a:p>
            <a:pPr algn="l" indent="0" marL="0">
              <a:lnSpc>
                <a:spcPct val="104000"/>
              </a:lnSpc>
              <a:buNone/>
            </a:pPr>
            <a:r>
              <a:rPr lang="en-US" sz="900" dirty="0">
                <a:solidFill>
                  <a:srgbClr val="CAD6DE"/>
                </a:solidFill>
                <a:latin typeface="Unbounded" pitchFamily="34" charset="0"/>
                <a:ea typeface="Unbounded" pitchFamily="34" charset="-122"/>
                <a:cs typeface="Unbounded" pitchFamily="34" charset="-120"/>
              </a:rPr>
              <a:t>Memasang Git</a:t>
            </a:r>
            <a:endParaRPr lang="en-US" sz="900" dirty="0"/>
          </a:p>
        </p:txBody>
      </p:sp>
      <p:sp>
        <p:nvSpPr>
          <p:cNvPr id="17" name="Text 15"/>
          <p:cNvSpPr/>
          <p:nvPr/>
        </p:nvSpPr>
        <p:spPr>
          <a:xfrm>
            <a:off x="983332" y="2215555"/>
            <a:ext cx="5076103" cy="521891"/>
          </a:xfrm>
          <a:prstGeom prst="rect">
            <a:avLst/>
          </a:prstGeom>
          <a:noFill/>
          <a:ln/>
        </p:spPr>
        <p:txBody>
          <a:bodyPr wrap="square" lIns="0" tIns="0" rIns="0" bIns="0" rtlCol="0" anchor="t">
            <a:normAutofit/>
          </a:bodyPr>
          <a:lstStyle/>
          <a:p>
            <a:pPr algn="l" indent="0" marL="0">
              <a:lnSpc>
                <a:spcPct val="105000"/>
              </a:lnSpc>
              <a:buNone/>
            </a:pPr>
            <a:r>
              <a:rPr lang="en-US" sz="750" dirty="0">
                <a:solidFill>
                  <a:srgbClr val="CAD6DE"/>
                </a:solidFill>
                <a:latin typeface="Cabin" pitchFamily="34" charset="0"/>
                <a:ea typeface="Cabin" pitchFamily="34" charset="-122"/>
                <a:cs typeface="Cabin" pitchFamily="34" charset="-120"/>
              </a:rPr>
              <a:t>Sistem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version control</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yang mencatat setiap perubahan pada kode dari waktu ke waktu, sehingga peserta bisa melihat riwayat perubahan dan kembali ke versi sebelumnya jika terjadi kesalahan. Diunduh dari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git-scm.com</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Atur identitas dengan: </a:t>
            </a:r>
            <a:pPr algn="l" indent="0" marL="0">
              <a:lnSpc>
                <a:spcPct val="105000"/>
              </a:lnSpc>
              <a:buNone/>
            </a:pPr>
            <a:r>
              <a:rPr lang="en-US" sz="750" dirty="0">
                <a:solidFill>
                  <a:srgbClr val="CAD6DE"/>
                </a:solidFill>
                <a:highlight>
                  <a:srgbClr val="1E3543"/>
                </a:highlight>
                <a:latin typeface="Consolas" pitchFamily="34" charset="0"/>
                <a:ea typeface="Consolas" pitchFamily="34" charset="-122"/>
                <a:cs typeface="Consolas" pitchFamily="34" charset="-120"/>
              </a:rPr>
              <a:t>git config --global user.name "Nama Lengkap Anda"</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dan </a:t>
            </a:r>
            <a:pPr algn="l" indent="0" marL="0">
              <a:lnSpc>
                <a:spcPct val="105000"/>
              </a:lnSpc>
              <a:buNone/>
            </a:pPr>
            <a:r>
              <a:rPr lang="en-US" sz="750" dirty="0">
                <a:solidFill>
                  <a:srgbClr val="CAD6DE"/>
                </a:solidFill>
                <a:highlight>
                  <a:srgbClr val="1E3543"/>
                </a:highlight>
                <a:latin typeface="Consolas" pitchFamily="34" charset="0"/>
                <a:ea typeface="Consolas" pitchFamily="34" charset="-122"/>
                <a:cs typeface="Consolas" pitchFamily="34" charset="-120"/>
              </a:rPr>
              <a:t>git config --global user.email "email@contoh.com"</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a:t>
            </a:r>
            <a:endParaRPr lang="en-US" sz="750" dirty="0"/>
          </a:p>
        </p:txBody>
      </p:sp>
      <p:sp>
        <p:nvSpPr>
          <p:cNvPr id="18" name="Shape 16"/>
          <p:cNvSpPr/>
          <p:nvPr/>
        </p:nvSpPr>
        <p:spPr>
          <a:xfrm>
            <a:off x="6132260" y="1997571"/>
            <a:ext cx="227007" cy="227013"/>
          </a:xfrm>
          <a:prstGeom prst="roundRect">
            <a:avLst>
              <a:gd name="adj" fmla="val 6668"/>
            </a:avLst>
          </a:prstGeom>
          <a:solidFill>
            <a:srgbClr val="304755"/>
          </a:solidFill>
          <a:ln/>
        </p:spPr>
      </p:sp>
      <p:sp>
        <p:nvSpPr>
          <p:cNvPr id="19" name="Text 17"/>
          <p:cNvSpPr/>
          <p:nvPr/>
        </p:nvSpPr>
        <p:spPr>
          <a:xfrm>
            <a:off x="6174576" y="2022078"/>
            <a:ext cx="142375" cy="177998"/>
          </a:xfrm>
          <a:prstGeom prst="rect">
            <a:avLst/>
          </a:prstGeom>
          <a:noFill/>
          <a:ln/>
        </p:spPr>
        <p:txBody>
          <a:bodyPr wrap="none" lIns="0" tIns="0" rIns="0" bIns="0" rtlCol="0" anchor="ctr"/>
          <a:lstStyle/>
          <a:p>
            <a:pPr algn="ctr" indent="0" marL="0">
              <a:lnSpc>
                <a:spcPct val="100000"/>
              </a:lnSpc>
              <a:buNone/>
            </a:pPr>
            <a:r>
              <a:rPr lang="en-US" sz="1100" dirty="0">
                <a:solidFill>
                  <a:srgbClr val="CAD6DE"/>
                </a:solidFill>
                <a:latin typeface="Unbounded" pitchFamily="34" charset="0"/>
                <a:ea typeface="Unbounded" pitchFamily="34" charset="-122"/>
                <a:cs typeface="Unbounded" pitchFamily="34" charset="-120"/>
              </a:rPr>
              <a:t>4</a:t>
            </a:r>
            <a:endParaRPr lang="en-US" sz="1100" dirty="0"/>
          </a:p>
        </p:txBody>
      </p:sp>
      <p:sp>
        <p:nvSpPr>
          <p:cNvPr id="20" name="Text 18"/>
          <p:cNvSpPr/>
          <p:nvPr/>
        </p:nvSpPr>
        <p:spPr>
          <a:xfrm>
            <a:off x="6417507" y="2032198"/>
            <a:ext cx="5076103" cy="148431"/>
          </a:xfrm>
          <a:prstGeom prst="rect">
            <a:avLst/>
          </a:prstGeom>
          <a:noFill/>
          <a:ln/>
        </p:spPr>
        <p:txBody>
          <a:bodyPr wrap="none" lIns="0" tIns="0" rIns="0" bIns="0" rtlCol="0" anchor="t"/>
          <a:lstStyle/>
          <a:p>
            <a:pPr algn="l" indent="0" marL="0">
              <a:lnSpc>
                <a:spcPct val="104000"/>
              </a:lnSpc>
              <a:buNone/>
            </a:pPr>
            <a:r>
              <a:rPr lang="en-US" sz="900" dirty="0">
                <a:solidFill>
                  <a:srgbClr val="CAD6DE"/>
                </a:solidFill>
                <a:latin typeface="Unbounded" pitchFamily="34" charset="0"/>
                <a:ea typeface="Unbounded" pitchFamily="34" charset="-122"/>
                <a:cs typeface="Unbounded" pitchFamily="34" charset="-120"/>
              </a:rPr>
              <a:t>Memilih AI Assistant</a:t>
            </a:r>
            <a:endParaRPr lang="en-US" sz="900" dirty="0"/>
          </a:p>
        </p:txBody>
      </p:sp>
      <p:sp>
        <p:nvSpPr>
          <p:cNvPr id="21" name="Text 19"/>
          <p:cNvSpPr/>
          <p:nvPr/>
        </p:nvSpPr>
        <p:spPr>
          <a:xfrm>
            <a:off x="6417507" y="2215555"/>
            <a:ext cx="5076103" cy="381893"/>
          </a:xfrm>
          <a:prstGeom prst="rect">
            <a:avLst/>
          </a:prstGeom>
          <a:noFill/>
          <a:ln/>
        </p:spPr>
        <p:txBody>
          <a:bodyPr wrap="square" lIns="0" tIns="0" rIns="0" bIns="0" rtlCol="0" anchor="t">
            <a:normAutofit/>
          </a:bodyPr>
          <a:lstStyle/>
          <a:p>
            <a:pPr algn="l" indent="0" marL="0">
              <a:lnSpc>
                <a:spcPct val="105000"/>
              </a:lnSpc>
              <a:buNone/>
            </a:pPr>
            <a:r>
              <a:rPr lang="en-US" sz="750" dirty="0">
                <a:solidFill>
                  <a:srgbClr val="CAD6DE"/>
                </a:solidFill>
                <a:latin typeface="Cabin" pitchFamily="34" charset="0"/>
                <a:ea typeface="Cabin" pitchFamily="34" charset="-122"/>
                <a:cs typeface="Cabin" pitchFamily="34" charset="-120"/>
              </a:rPr>
              <a:t>Pilih salah satu: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Claude</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(aplikasi web/desktop atau ekstensi VS Code),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GitHub Copilot</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(ekstensi langsung di VS Code, terhubung akun GitHub), atau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Cursor AI</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(editor tersendiri dengan AI terintegrasi penuh). Tidak ada pilihan yang "paling benar"; yang terpenting adalah konsisten menggunakan satu AI assistant utama agar terbiasa dengan gaya interaksinya.</a:t>
            </a:r>
            <a:endParaRPr lang="en-US" sz="750" dirty="0"/>
          </a:p>
        </p:txBody>
      </p:sp>
      <p:sp>
        <p:nvSpPr>
          <p:cNvPr id="22" name="Text 20"/>
          <p:cNvSpPr/>
          <p:nvPr/>
        </p:nvSpPr>
        <p:spPr>
          <a:xfrm>
            <a:off x="698086" y="2861270"/>
            <a:ext cx="5274734" cy="148431"/>
          </a:xfrm>
          <a:prstGeom prst="rect">
            <a:avLst/>
          </a:prstGeom>
          <a:noFill/>
          <a:ln/>
        </p:spPr>
        <p:txBody>
          <a:bodyPr wrap="none" lIns="0" tIns="0" rIns="0" bIns="0" rtlCol="0" anchor="t"/>
          <a:lstStyle/>
          <a:p>
            <a:pPr algn="l" indent="0" marL="0">
              <a:lnSpc>
                <a:spcPct val="104000"/>
              </a:lnSpc>
              <a:buNone/>
            </a:pPr>
            <a:r>
              <a:rPr lang="en-US" sz="900" dirty="0">
                <a:solidFill>
                  <a:srgbClr val="FFFFFF"/>
                </a:solidFill>
                <a:latin typeface="Unbounded" pitchFamily="34" charset="0"/>
                <a:ea typeface="Unbounded" pitchFamily="34" charset="-122"/>
                <a:cs typeface="Unbounded" pitchFamily="34" charset="-120"/>
              </a:rPr>
              <a:t>Setup Akun GitHub</a:t>
            </a:r>
            <a:endParaRPr lang="en-US" sz="900" dirty="0"/>
          </a:p>
        </p:txBody>
      </p:sp>
      <p:sp>
        <p:nvSpPr>
          <p:cNvPr id="23" name="Text 21"/>
          <p:cNvSpPr/>
          <p:nvPr/>
        </p:nvSpPr>
        <p:spPr>
          <a:xfrm>
            <a:off x="698086" y="3067943"/>
            <a:ext cx="5274734" cy="636488"/>
          </a:xfrm>
          <a:prstGeom prst="rect">
            <a:avLst/>
          </a:prstGeom>
          <a:noFill/>
          <a:ln/>
        </p:spPr>
        <p:txBody>
          <a:bodyPr wrap="square" lIns="0" tIns="0" rIns="0" bIns="0" rtlCol="0" anchor="t">
            <a:normAutofit/>
          </a:bodyPr>
          <a:lstStyle/>
          <a:p>
            <a:pPr algn="l" indent="0" marL="0">
              <a:lnSpc>
                <a:spcPct val="105000"/>
              </a:lnSpc>
              <a:buNone/>
            </a:pPr>
            <a:r>
              <a:rPr lang="en-US" sz="750" dirty="0">
                <a:solidFill>
                  <a:srgbClr val="CAD6DE"/>
                </a:solidFill>
                <a:latin typeface="Cabin" pitchFamily="34" charset="0"/>
                <a:ea typeface="Cabin" pitchFamily="34" charset="-122"/>
                <a:cs typeface="Cabin" pitchFamily="34" charset="-120"/>
              </a:rPr>
              <a:t>GitHub adalah layanan online tempat menyimpan dan mengelola project menggunakan Git — bisa dibayangkan seperti "Google Drive khusus untuk kode", namun dengan kemampuan mencatat riwayat setiap perubahan secara rinci. Setiap perubahan yang disimpan secara resmi ke dalam riwayat Git disebut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commit</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yang bisa dianalogikan seperti titik simpan (checkpoint) dalam permainan video: jika terjadi kesalahan di langkah berikutnya, peserta selalu bisa kembali ke checkpoint sebelumnya.</a:t>
            </a:r>
            <a:endParaRPr lang="en-US" sz="750" dirty="0"/>
          </a:p>
        </p:txBody>
      </p:sp>
      <p:sp>
        <p:nvSpPr>
          <p:cNvPr id="24" name="Text 22"/>
          <p:cNvSpPr/>
          <p:nvPr/>
        </p:nvSpPr>
        <p:spPr>
          <a:xfrm>
            <a:off x="698086" y="3756918"/>
            <a:ext cx="5274734" cy="549870"/>
          </a:xfrm>
          <a:prstGeom prst="rect">
            <a:avLst/>
          </a:prstGeom>
          <a:noFill/>
          <a:ln/>
        </p:spPr>
        <p:txBody>
          <a:bodyPr wrap="square" lIns="0" tIns="0" rIns="0" bIns="0" rtlCol="0" anchor="t">
            <a:normAutofit/>
          </a:bodyPr>
          <a:lstStyle/>
          <a:p>
            <a:pPr algn="l" marL="152400" indent="-152400">
              <a:lnSpc>
                <a:spcPct val="105000"/>
              </a:lnSpc>
              <a:buSzPct val="100000"/>
              <a:buChar char="•"/>
            </a:pPr>
            <a:r>
              <a:rPr lang="en-US" sz="750" dirty="0">
                <a:solidFill>
                  <a:srgbClr val="CAD6DE"/>
                </a:solidFill>
                <a:latin typeface="Cabin" pitchFamily="34" charset="0"/>
                <a:ea typeface="Cabin" pitchFamily="34" charset="-122"/>
                <a:cs typeface="Cabin" pitchFamily="34" charset="-120"/>
              </a:rPr>
              <a:t>Buat akun di </a:t>
            </a:r>
            <a:pPr algn="l" marL="152400" indent="-152400">
              <a:lnSpc>
                <a:spcPct val="105000"/>
              </a:lnSpc>
              <a:buSzPct val="100000"/>
              <a:buChar char="•"/>
            </a:pPr>
            <a:r>
              <a:rPr lang="en-US" sz="750" b="1" dirty="0">
                <a:solidFill>
                  <a:srgbClr val="CAD6DE"/>
                </a:solidFill>
                <a:latin typeface="Cabin Bold" pitchFamily="34" charset="0"/>
                <a:ea typeface="Cabin Bold" pitchFamily="34" charset="-122"/>
                <a:cs typeface="Cabin Bold" pitchFamily="34" charset="-120"/>
              </a:rPr>
              <a:t>github.com</a:t>
            </a:r>
            <a:pPr algn="l" marL="152400" indent="-152400">
              <a:lnSpc>
                <a:spcPct val="105000"/>
              </a:lnSpc>
              <a:buSzPct val="100000"/>
              <a:buChar char="•"/>
            </a:pPr>
            <a:r>
              <a:rPr lang="en-US" sz="750" dirty="0">
                <a:solidFill>
                  <a:srgbClr val="CAD6DE"/>
                </a:solidFill>
                <a:latin typeface="Cabin" pitchFamily="34" charset="0"/>
                <a:ea typeface="Cabin" pitchFamily="34" charset="-122"/>
                <a:cs typeface="Cabin" pitchFamily="34" charset="-120"/>
              </a:rPr>
              <a:t> menggunakan email aktif dan verifikasi email sesuai instruksi GitHub</a:t>
            </a:r>
            <a:endParaRPr lang="en-US" sz="750" dirty="0"/>
          </a:p>
          <a:p>
            <a:pPr algn="l" marL="152400" indent="-152400">
              <a:lnSpc>
                <a:spcPct val="105000"/>
              </a:lnSpc>
              <a:buSzPct val="100000"/>
              <a:buChar char="•"/>
            </a:pPr>
            <a:r>
              <a:rPr lang="en-US" sz="750" dirty="0">
                <a:solidFill>
                  <a:srgbClr val="CAD6DE"/>
                </a:solidFill>
                <a:latin typeface="Cabin" pitchFamily="34" charset="0"/>
                <a:ea typeface="Cabin" pitchFamily="34" charset="-122"/>
                <a:cs typeface="Cabin" pitchFamily="34" charset="-120"/>
              </a:rPr>
              <a:t>Buat koneksi aman antara komputer dan GitHub melalui </a:t>
            </a:r>
            <a:pPr algn="l" marL="152400" indent="-152400">
              <a:lnSpc>
                <a:spcPct val="105000"/>
              </a:lnSpc>
              <a:buSzPct val="100000"/>
              <a:buChar char="•"/>
            </a:pPr>
            <a:r>
              <a:rPr lang="en-US" sz="750" b="1" dirty="0">
                <a:solidFill>
                  <a:srgbClr val="CAD6DE"/>
                </a:solidFill>
                <a:latin typeface="Cabin Bold" pitchFamily="34" charset="0"/>
                <a:ea typeface="Cabin Bold" pitchFamily="34" charset="-122"/>
                <a:cs typeface="Cabin Bold" pitchFamily="34" charset="-120"/>
              </a:rPr>
              <a:t>SSH key</a:t>
            </a:r>
            <a:pPr algn="l" marL="152400" indent="-152400">
              <a:lnSpc>
                <a:spcPct val="105000"/>
              </a:lnSpc>
              <a:buSzPct val="100000"/>
              <a:buChar char="•"/>
            </a:pPr>
            <a:r>
              <a:rPr lang="en-US" sz="750" dirty="0">
                <a:solidFill>
                  <a:srgbClr val="CAD6DE"/>
                </a:solidFill>
                <a:latin typeface="Cabin" pitchFamily="34" charset="0"/>
                <a:ea typeface="Cabin" pitchFamily="34" charset="-122"/>
                <a:cs typeface="Cabin" pitchFamily="34" charset="-120"/>
              </a:rPr>
              <a:t> (disarankan untuk penggunaan jangka panjang) atau HTTPS dengan personal access token</a:t>
            </a:r>
            <a:endParaRPr lang="en-US" sz="750" dirty="0"/>
          </a:p>
          <a:p>
            <a:pPr algn="l" marL="152400" indent="-152400">
              <a:lnSpc>
                <a:spcPct val="105000"/>
              </a:lnSpc>
              <a:buSzPct val="100000"/>
              <a:buChar char="•"/>
            </a:pPr>
            <a:r>
              <a:rPr lang="en-US" sz="750" dirty="0">
                <a:solidFill>
                  <a:srgbClr val="CAD6DE"/>
                </a:solidFill>
                <a:latin typeface="Cabin" pitchFamily="34" charset="0"/>
                <a:ea typeface="Cabin" pitchFamily="34" charset="-122"/>
                <a:cs typeface="Cabin" pitchFamily="34" charset="-120"/>
              </a:rPr>
              <a:t>Uji koneksi dengan mencoba melakukan </a:t>
            </a:r>
            <a:pPr algn="l" marL="152400" indent="-152400">
              <a:lnSpc>
                <a:spcPct val="105000"/>
              </a:lnSpc>
              <a:buSzPct val="100000"/>
              <a:buChar char="•"/>
            </a:pPr>
            <a:r>
              <a:rPr lang="en-US" sz="750" b="1" dirty="0">
                <a:solidFill>
                  <a:srgbClr val="CAD6DE"/>
                </a:solidFill>
                <a:latin typeface="Cabin Bold" pitchFamily="34" charset="0"/>
                <a:ea typeface="Cabin Bold" pitchFamily="34" charset="-122"/>
                <a:cs typeface="Cabin Bold" pitchFamily="34" charset="-120"/>
              </a:rPr>
              <a:t>clone</a:t>
            </a:r>
            <a:pPr algn="l" marL="152400" indent="-152400">
              <a:lnSpc>
                <a:spcPct val="105000"/>
              </a:lnSpc>
              <a:buSzPct val="100000"/>
              <a:buChar char="•"/>
            </a:pPr>
            <a:r>
              <a:rPr lang="en-US" sz="750" dirty="0">
                <a:solidFill>
                  <a:srgbClr val="CAD6DE"/>
                </a:solidFill>
                <a:latin typeface="Cabin" pitchFamily="34" charset="0"/>
                <a:ea typeface="Cabin" pitchFamily="34" charset="-122"/>
                <a:cs typeface="Cabin" pitchFamily="34" charset="-120"/>
              </a:rPr>
              <a:t> atau </a:t>
            </a:r>
            <a:pPr algn="l" marL="152400" indent="-152400">
              <a:lnSpc>
                <a:spcPct val="105000"/>
              </a:lnSpc>
              <a:buSzPct val="100000"/>
              <a:buChar char="•"/>
            </a:pPr>
            <a:r>
              <a:rPr lang="en-US" sz="750" b="1" dirty="0">
                <a:solidFill>
                  <a:srgbClr val="CAD6DE"/>
                </a:solidFill>
                <a:latin typeface="Cabin Bold" pitchFamily="34" charset="0"/>
                <a:ea typeface="Cabin Bold" pitchFamily="34" charset="-122"/>
                <a:cs typeface="Cabin Bold" pitchFamily="34" charset="-120"/>
              </a:rPr>
              <a:t>push</a:t>
            </a:r>
            <a:pPr algn="l" marL="152400" indent="-152400">
              <a:lnSpc>
                <a:spcPct val="105000"/>
              </a:lnSpc>
              <a:buSzPct val="100000"/>
              <a:buChar char="•"/>
            </a:pPr>
            <a:r>
              <a:rPr lang="en-US" sz="750" dirty="0">
                <a:solidFill>
                  <a:srgbClr val="CAD6DE"/>
                </a:solidFill>
                <a:latin typeface="Cabin" pitchFamily="34" charset="0"/>
                <a:ea typeface="Cabin" pitchFamily="34" charset="-122"/>
                <a:cs typeface="Cabin" pitchFamily="34" charset="-120"/>
              </a:rPr>
              <a:t> ke sebuah repository percobaan</a:t>
            </a:r>
            <a:endParaRPr lang="en-US" sz="750" dirty="0"/>
          </a:p>
        </p:txBody>
      </p:sp>
      <p:sp>
        <p:nvSpPr>
          <p:cNvPr id="25" name="Text 23"/>
          <p:cNvSpPr/>
          <p:nvPr/>
        </p:nvSpPr>
        <p:spPr>
          <a:xfrm>
            <a:off x="698086" y="4359275"/>
            <a:ext cx="5274734" cy="381893"/>
          </a:xfrm>
          <a:prstGeom prst="rect">
            <a:avLst/>
          </a:prstGeom>
          <a:noFill/>
          <a:ln/>
        </p:spPr>
        <p:txBody>
          <a:bodyPr wrap="square" lIns="0" tIns="0" rIns="0" bIns="0" rtlCol="0" anchor="t">
            <a:normAutofit/>
          </a:bodyPr>
          <a:lstStyle/>
          <a:p>
            <a:pPr algn="l" indent="0" marL="0">
              <a:lnSpc>
                <a:spcPct val="105000"/>
              </a:lnSpc>
              <a:buNone/>
            </a:pPr>
            <a:r>
              <a:rPr lang="en-US" sz="750" dirty="0">
                <a:solidFill>
                  <a:srgbClr val="CAD6DE"/>
                </a:solidFill>
                <a:latin typeface="Cabin" pitchFamily="34" charset="0"/>
                <a:ea typeface="Cabin" pitchFamily="34" charset="-122"/>
                <a:cs typeface="Cabin" pitchFamily="34" charset="-120"/>
              </a:rPr>
              <a:t>Sebuah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repository</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(sering disingkat "repo") adalah satu folder project yang dilacak oleh Git dan disimpan di GitHub. Setiap project yang dikerjakan sepanjang bootcamp ini, termasuk delapan tugas project dan capstone project di akhir, akan disimpan dalam repository masing-masing.</a:t>
            </a:r>
            <a:endParaRPr lang="en-US" sz="750" dirty="0"/>
          </a:p>
        </p:txBody>
      </p:sp>
      <p:sp>
        <p:nvSpPr>
          <p:cNvPr id="26" name="Text 24"/>
          <p:cNvSpPr/>
          <p:nvPr/>
        </p:nvSpPr>
        <p:spPr>
          <a:xfrm>
            <a:off x="6225226" y="2861270"/>
            <a:ext cx="5274734" cy="148431"/>
          </a:xfrm>
          <a:prstGeom prst="rect">
            <a:avLst/>
          </a:prstGeom>
          <a:noFill/>
          <a:ln/>
        </p:spPr>
        <p:txBody>
          <a:bodyPr wrap="none" lIns="0" tIns="0" rIns="0" bIns="0" rtlCol="0" anchor="t"/>
          <a:lstStyle/>
          <a:p>
            <a:pPr algn="l" indent="0" marL="0">
              <a:lnSpc>
                <a:spcPct val="104000"/>
              </a:lnSpc>
              <a:buNone/>
            </a:pPr>
            <a:r>
              <a:rPr lang="en-US" sz="900" dirty="0">
                <a:solidFill>
                  <a:srgbClr val="FFFFFF"/>
                </a:solidFill>
                <a:latin typeface="Unbounded" pitchFamily="34" charset="0"/>
                <a:ea typeface="Unbounded" pitchFamily="34" charset="-122"/>
                <a:cs typeface="Unbounded" pitchFamily="34" charset="-120"/>
              </a:rPr>
              <a:t>Verifikasi Instalasi</a:t>
            </a:r>
            <a:endParaRPr lang="en-US" sz="900" dirty="0"/>
          </a:p>
        </p:txBody>
      </p:sp>
      <p:sp>
        <p:nvSpPr>
          <p:cNvPr id="27" name="Text 25"/>
          <p:cNvSpPr/>
          <p:nvPr/>
        </p:nvSpPr>
        <p:spPr>
          <a:xfrm>
            <a:off x="6225226" y="3067943"/>
            <a:ext cx="5274734" cy="254595"/>
          </a:xfrm>
          <a:prstGeom prst="rect">
            <a:avLst/>
          </a:prstGeom>
          <a:noFill/>
          <a:ln/>
        </p:spPr>
        <p:txBody>
          <a:bodyPr wrap="square" lIns="0" tIns="0" rIns="0" bIns="0" rtlCol="0" anchor="t">
            <a:normAutofit/>
          </a:bodyPr>
          <a:lstStyle/>
          <a:p>
            <a:pPr algn="l" indent="0" marL="0">
              <a:lnSpc>
                <a:spcPct val="105000"/>
              </a:lnSpc>
              <a:buNone/>
            </a:pPr>
            <a:r>
              <a:rPr lang="en-US" sz="750" dirty="0">
                <a:solidFill>
                  <a:srgbClr val="CAD6DE"/>
                </a:solidFill>
                <a:latin typeface="Cabin" pitchFamily="34" charset="0"/>
                <a:ea typeface="Cabin" pitchFamily="34" charset="-122"/>
                <a:cs typeface="Cabin" pitchFamily="34" charset="-120"/>
              </a:rPr>
              <a:t>Jalankan seluruh perintah berikut di terminal VS Code dan pastikan masing-masing menampilkan nomor versi tanpa pesan error:</a:t>
            </a:r>
            <a:endParaRPr lang="en-US" sz="750" dirty="0"/>
          </a:p>
        </p:txBody>
      </p:sp>
      <p:sp>
        <p:nvSpPr>
          <p:cNvPr id="28" name="Shape 26"/>
          <p:cNvSpPr/>
          <p:nvPr/>
        </p:nvSpPr>
        <p:spPr>
          <a:xfrm>
            <a:off x="6225226" y="3388122"/>
            <a:ext cx="5274734" cy="686098"/>
          </a:xfrm>
          <a:prstGeom prst="roundRect">
            <a:avLst>
              <a:gd name="adj" fmla="val 2206"/>
            </a:avLst>
          </a:prstGeom>
          <a:solidFill>
            <a:srgbClr val="1E3543"/>
          </a:solidFill>
          <a:ln/>
        </p:spPr>
      </p:sp>
      <p:sp>
        <p:nvSpPr>
          <p:cNvPr id="29" name="Text 27"/>
          <p:cNvSpPr/>
          <p:nvPr/>
        </p:nvSpPr>
        <p:spPr>
          <a:xfrm>
            <a:off x="6346269" y="3489027"/>
            <a:ext cx="5032646" cy="484287"/>
          </a:xfrm>
          <a:prstGeom prst="rect">
            <a:avLst/>
          </a:prstGeom>
          <a:noFill/>
          <a:ln/>
        </p:spPr>
        <p:txBody>
          <a:bodyPr wrap="square" lIns="0" tIns="0" rIns="0" bIns="0" rtlCol="0" anchor="t">
            <a:normAutofit/>
          </a:bodyPr>
          <a:lstStyle/>
          <a:p>
            <a:pPr algn="l" indent="0" marL="0">
              <a:lnSpc>
                <a:spcPct val="133000"/>
              </a:lnSpc>
              <a:buNone/>
            </a:pPr>
            <a:r>
              <a:rPr lang="en-US" sz="750" dirty="0">
                <a:solidFill>
                  <a:srgbClr val="E6EDF3"/>
                </a:solidFill>
                <a:latin typeface="Consolas" pitchFamily="34" charset="0"/>
                <a:ea typeface="Consolas" pitchFamily="34" charset="-122"/>
                <a:cs typeface="Consolas" pitchFamily="34" charset="-120"/>
              </a:rPr>
              <a:t>bun --version</a:t>
            </a:r>
            <a:endParaRPr lang="en-US" sz="750" dirty="0"/>
          </a:p>
          <a:p>
            <a:pPr algn="l" indent="0" marL="0">
              <a:lnSpc>
                <a:spcPct val="133000"/>
              </a:lnSpc>
              <a:buNone/>
            </a:pPr>
            <a:r>
              <a:rPr lang="en-US" sz="750" dirty="0">
                <a:solidFill>
                  <a:srgbClr val="E6EDF3"/>
                </a:solidFill>
                <a:latin typeface="Consolas" pitchFamily="34" charset="0"/>
                <a:ea typeface="Consolas" pitchFamily="34" charset="-122"/>
                <a:cs typeface="Consolas" pitchFamily="34" charset="-120"/>
              </a:rPr>
              <a:t>git --version</a:t>
            </a:r>
            <a:endParaRPr lang="en-US" sz="750" dirty="0"/>
          </a:p>
          <a:p>
            <a:pPr algn="l" indent="0" marL="0">
              <a:lnSpc>
                <a:spcPct val="133000"/>
              </a:lnSpc>
              <a:buNone/>
            </a:pPr>
            <a:r>
              <a:rPr lang="en-US" sz="750" dirty="0">
                <a:solidFill>
                  <a:srgbClr val="E6EDF3"/>
                </a:solidFill>
                <a:latin typeface="Consolas" pitchFamily="34" charset="0"/>
                <a:ea typeface="Consolas" pitchFamily="34" charset="-122"/>
                <a:cs typeface="Consolas" pitchFamily="34" charset="-120"/>
              </a:rPr>
              <a:t>code --version</a:t>
            </a:r>
            <a:endParaRPr lang="en-US" sz="750" dirty="0"/>
          </a:p>
        </p:txBody>
      </p:sp>
      <p:sp>
        <p:nvSpPr>
          <p:cNvPr id="30" name="Text 28"/>
          <p:cNvSpPr/>
          <p:nvPr/>
        </p:nvSpPr>
        <p:spPr>
          <a:xfrm>
            <a:off x="6225226" y="4139803"/>
            <a:ext cx="5274734" cy="148431"/>
          </a:xfrm>
          <a:prstGeom prst="rect">
            <a:avLst/>
          </a:prstGeom>
          <a:noFill/>
          <a:ln/>
        </p:spPr>
        <p:txBody>
          <a:bodyPr wrap="none" lIns="0" tIns="0" rIns="0" bIns="0" rtlCol="0" anchor="t"/>
          <a:lstStyle/>
          <a:p>
            <a:pPr algn="l" indent="0" marL="0">
              <a:lnSpc>
                <a:spcPct val="104000"/>
              </a:lnSpc>
              <a:buNone/>
            </a:pPr>
            <a:r>
              <a:rPr lang="en-US" sz="900" dirty="0">
                <a:solidFill>
                  <a:srgbClr val="FFFFFF"/>
                </a:solidFill>
                <a:latin typeface="Unbounded" pitchFamily="34" charset="0"/>
                <a:ea typeface="Unbounded" pitchFamily="34" charset="-122"/>
                <a:cs typeface="Unbounded" pitchFamily="34" charset="-120"/>
              </a:rPr>
              <a:t>Percobaan Prompt Pertama</a:t>
            </a:r>
            <a:endParaRPr lang="en-US" sz="900" dirty="0"/>
          </a:p>
        </p:txBody>
      </p:sp>
      <p:sp>
        <p:nvSpPr>
          <p:cNvPr id="31" name="Text 29"/>
          <p:cNvSpPr/>
          <p:nvPr/>
        </p:nvSpPr>
        <p:spPr>
          <a:xfrm>
            <a:off x="6225226" y="4346476"/>
            <a:ext cx="5884318" cy="127298"/>
          </a:xfrm>
          <a:prstGeom prst="rect">
            <a:avLst/>
          </a:prstGeom>
          <a:noFill/>
          <a:ln/>
        </p:spPr>
        <p:txBody>
          <a:bodyPr wrap="none" lIns="0" tIns="0" rIns="0" bIns="0" rtlCol="0" anchor="t"/>
          <a:lstStyle/>
          <a:p>
            <a:pPr algn="l" indent="0" marL="0">
              <a:lnSpc>
                <a:spcPct val="105000"/>
              </a:lnSpc>
              <a:buNone/>
            </a:pPr>
            <a:r>
              <a:rPr lang="en-US" sz="750" dirty="0">
                <a:solidFill>
                  <a:srgbClr val="CAD6DE"/>
                </a:solidFill>
                <a:latin typeface="Cabin" pitchFamily="34" charset="0"/>
                <a:ea typeface="Cabin" pitchFamily="34" charset="-122"/>
                <a:cs typeface="Cabin" pitchFamily="34" charset="-120"/>
              </a:rPr>
              <a:t>Sebagai latihan pertama berinteraksi dengan AI assistant, cobalah menuliskan prompt berikut:</a:t>
            </a:r>
            <a:endParaRPr lang="en-US" sz="750" dirty="0"/>
          </a:p>
        </p:txBody>
      </p:sp>
      <p:sp>
        <p:nvSpPr>
          <p:cNvPr id="32" name="Shape 30"/>
          <p:cNvSpPr/>
          <p:nvPr/>
        </p:nvSpPr>
        <p:spPr>
          <a:xfrm>
            <a:off x="6225226" y="4539357"/>
            <a:ext cx="5274734" cy="1170384"/>
          </a:xfrm>
          <a:prstGeom prst="roundRect">
            <a:avLst>
              <a:gd name="adj" fmla="val 1293"/>
            </a:avLst>
          </a:prstGeom>
          <a:solidFill>
            <a:srgbClr val="1E3543"/>
          </a:solidFill>
          <a:ln/>
        </p:spPr>
      </p:sp>
      <p:sp>
        <p:nvSpPr>
          <p:cNvPr id="33" name="Text 31"/>
          <p:cNvSpPr/>
          <p:nvPr/>
        </p:nvSpPr>
        <p:spPr>
          <a:xfrm>
            <a:off x="6346269" y="4640263"/>
            <a:ext cx="5032646" cy="968573"/>
          </a:xfrm>
          <a:prstGeom prst="rect">
            <a:avLst/>
          </a:prstGeom>
          <a:noFill/>
          <a:ln/>
        </p:spPr>
        <p:txBody>
          <a:bodyPr wrap="square" lIns="0" tIns="0" rIns="0" bIns="0" rtlCol="0" anchor="t">
            <a:normAutofit/>
          </a:bodyPr>
          <a:lstStyle/>
          <a:p>
            <a:pPr algn="l" indent="0" marL="0">
              <a:lnSpc>
                <a:spcPct val="133000"/>
              </a:lnSpc>
              <a:buNone/>
            </a:pPr>
            <a:r>
              <a:rPr lang="en-US" sz="750" dirty="0">
                <a:solidFill>
                  <a:srgbClr val="A5D6FF"/>
                </a:solidFill>
                <a:latin typeface="Consolas" pitchFamily="34" charset="0"/>
                <a:ea typeface="Consolas" pitchFamily="34" charset="-122"/>
                <a:cs typeface="Consolas" pitchFamily="34" charset="-120"/>
              </a:rPr>
              <a:t>"Buatkan saya sebuah fungsi JavaScript</a:t>
            </a:r>
            <a:endParaRPr lang="en-US" sz="750" dirty="0"/>
          </a:p>
          <a:p>
            <a:pPr algn="l" indent="0" marL="0">
              <a:lnSpc>
                <a:spcPct val="133000"/>
              </a:lnSpc>
              <a:buNone/>
            </a:pPr>
            <a:r>
              <a:rPr lang="en-US" sz="750" dirty="0">
                <a:solidFill>
                  <a:srgbClr val="A5D6FF"/>
                </a:solidFill>
                <a:latin typeface="Consolas" pitchFamily="34" charset="0"/>
                <a:ea typeface="Consolas" pitchFamily="34" charset="-122"/>
                <a:cs typeface="Consolas" pitchFamily="34" charset="-120"/>
              </a:rPr>
              <a:t>bernama hitung yang menerima dua angka</a:t>
            </a:r>
            <a:endParaRPr lang="en-US" sz="750" dirty="0"/>
          </a:p>
          <a:p>
            <a:pPr algn="l" indent="0" marL="0">
              <a:lnSpc>
                <a:spcPct val="133000"/>
              </a:lnSpc>
              <a:buNone/>
            </a:pPr>
            <a:r>
              <a:rPr lang="en-US" sz="750" dirty="0">
                <a:solidFill>
                  <a:srgbClr val="A5D6FF"/>
                </a:solidFill>
                <a:latin typeface="Consolas" pitchFamily="34" charset="0"/>
                <a:ea typeface="Consolas" pitchFamily="34" charset="-122"/>
                <a:cs typeface="Consolas" pitchFamily="34" charset="-120"/>
              </a:rPr>
              <a:t>dan satu operator (+, -, *, atau /),</a:t>
            </a:r>
            <a:endParaRPr lang="en-US" sz="750" dirty="0"/>
          </a:p>
          <a:p>
            <a:pPr algn="l" indent="0" marL="0">
              <a:lnSpc>
                <a:spcPct val="133000"/>
              </a:lnSpc>
              <a:buNone/>
            </a:pPr>
            <a:r>
              <a:rPr lang="en-US" sz="750" dirty="0">
                <a:solidFill>
                  <a:srgbClr val="A5D6FF"/>
                </a:solidFill>
                <a:latin typeface="Consolas" pitchFamily="34" charset="0"/>
                <a:ea typeface="Consolas" pitchFamily="34" charset="-122"/>
                <a:cs typeface="Consolas" pitchFamily="34" charset="-120"/>
              </a:rPr>
              <a:t>lalu mengembalikan hasil perhitungannya.</a:t>
            </a:r>
            <a:endParaRPr lang="en-US" sz="750" dirty="0"/>
          </a:p>
          <a:p>
            <a:pPr algn="l" indent="0" marL="0">
              <a:lnSpc>
                <a:spcPct val="133000"/>
              </a:lnSpc>
              <a:buNone/>
            </a:pPr>
            <a:r>
              <a:rPr lang="en-US" sz="750" dirty="0">
                <a:solidFill>
                  <a:srgbClr val="A5D6FF"/>
                </a:solidFill>
                <a:latin typeface="Consolas" pitchFamily="34" charset="0"/>
                <a:ea typeface="Consolas" pitchFamily="34" charset="-122"/>
                <a:cs typeface="Consolas" pitchFamily="34" charset="-120"/>
              </a:rPr>
              <a:t>Sertakan penanganan jika operator yang</a:t>
            </a:r>
            <a:endParaRPr lang="en-US" sz="750" dirty="0"/>
          </a:p>
          <a:p>
            <a:pPr algn="l" indent="0" marL="0">
              <a:lnSpc>
                <a:spcPct val="133000"/>
              </a:lnSpc>
              <a:buNone/>
            </a:pPr>
            <a:r>
              <a:rPr lang="en-US" sz="750" dirty="0">
                <a:solidFill>
                  <a:srgbClr val="A5D6FF"/>
                </a:solidFill>
                <a:latin typeface="Consolas" pitchFamily="34" charset="0"/>
                <a:ea typeface="Consolas" pitchFamily="34" charset="-122"/>
                <a:cs typeface="Consolas" pitchFamily="34" charset="-120"/>
              </a:rPr>
              <a:t>dimasukkan tidak dikenali."</a:t>
            </a:r>
            <a:endParaRPr lang="en-US" sz="750" dirty="0"/>
          </a:p>
        </p:txBody>
      </p:sp>
      <p:sp>
        <p:nvSpPr>
          <p:cNvPr id="34" name="Text 32"/>
          <p:cNvSpPr/>
          <p:nvPr/>
        </p:nvSpPr>
        <p:spPr>
          <a:xfrm>
            <a:off x="6225226" y="5775325"/>
            <a:ext cx="5274734" cy="515541"/>
          </a:xfrm>
          <a:prstGeom prst="rect">
            <a:avLst/>
          </a:prstGeom>
          <a:noFill/>
          <a:ln/>
        </p:spPr>
        <p:txBody>
          <a:bodyPr wrap="square" lIns="0" tIns="0" rIns="0" bIns="0" rtlCol="0" anchor="t">
            <a:normAutofit/>
          </a:bodyPr>
          <a:lstStyle/>
          <a:p>
            <a:pPr algn="l" indent="0" marL="0">
              <a:lnSpc>
                <a:spcPct val="105000"/>
              </a:lnSpc>
              <a:buNone/>
            </a:pPr>
            <a:r>
              <a:rPr lang="en-US" sz="750" dirty="0">
                <a:solidFill>
                  <a:srgbClr val="CAD6DE"/>
                </a:solidFill>
                <a:latin typeface="Cabin" pitchFamily="34" charset="0"/>
                <a:ea typeface="Cabin" pitchFamily="34" charset="-122"/>
                <a:cs typeface="Cabin" pitchFamily="34" charset="-120"/>
              </a:rPr>
              <a:t>Setelah menerima kode, </a:t>
            </a:r>
            <a:pPr algn="l" indent="0" marL="0">
              <a:lnSpc>
                <a:spcPct val="105000"/>
              </a:lnSpc>
              <a:buNone/>
            </a:pPr>
            <a:r>
              <a:rPr lang="en-US" sz="750" b="1" dirty="0">
                <a:solidFill>
                  <a:srgbClr val="CAD6DE"/>
                </a:solidFill>
                <a:latin typeface="Cabin Bold" pitchFamily="34" charset="0"/>
                <a:ea typeface="Cabin Bold" pitchFamily="34" charset="-122"/>
                <a:cs typeface="Cabin Bold" pitchFamily="34" charset="-120"/>
              </a:rPr>
              <a:t>jangan langsung menyalinnya</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Baca setiap barisnya dan pastikan bisa menjawab: Apa fungsi kata </a:t>
            </a:r>
            <a:pPr algn="l" indent="0" marL="0">
              <a:lnSpc>
                <a:spcPct val="105000"/>
              </a:lnSpc>
              <a:buNone/>
            </a:pPr>
            <a:r>
              <a:rPr lang="en-US" sz="750" dirty="0">
                <a:solidFill>
                  <a:srgbClr val="CAD6DE"/>
                </a:solidFill>
                <a:highlight>
                  <a:srgbClr val="1E3543"/>
                </a:highlight>
                <a:latin typeface="Consolas" pitchFamily="34" charset="0"/>
                <a:ea typeface="Consolas" pitchFamily="34" charset="-122"/>
                <a:cs typeface="Consolas" pitchFamily="34" charset="-120"/>
              </a:rPr>
              <a:t>switch</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Apa yang terjadi jika operator diisi dengan tanda </a:t>
            </a:r>
            <a:pPr algn="l" indent="0" marL="0">
              <a:lnSpc>
                <a:spcPct val="105000"/>
              </a:lnSpc>
              <a:buNone/>
            </a:pPr>
            <a:r>
              <a:rPr lang="en-US" sz="750" dirty="0">
                <a:solidFill>
                  <a:srgbClr val="CAD6DE"/>
                </a:solidFill>
                <a:highlight>
                  <a:srgbClr val="1E3543"/>
                </a:highlight>
                <a:latin typeface="Consolas" pitchFamily="34" charset="0"/>
                <a:ea typeface="Consolas" pitchFamily="34" charset="-122"/>
                <a:cs typeface="Consolas" pitchFamily="34" charset="-120"/>
              </a:rPr>
              <a:t>%</a:t>
            </a:r>
            <a:pPr algn="l" indent="0" marL="0">
              <a:lnSpc>
                <a:spcPct val="105000"/>
              </a:lnSpc>
              <a:buNone/>
            </a:pPr>
            <a:r>
              <a:rPr lang="en-US" sz="750" dirty="0">
                <a:solidFill>
                  <a:srgbClr val="CAD6DE"/>
                </a:solidFill>
                <a:latin typeface="Cabin" pitchFamily="34" charset="0"/>
                <a:ea typeface="Cabin" pitchFamily="34" charset="-122"/>
                <a:cs typeface="Cabin" pitchFamily="34" charset="-120"/>
              </a:rPr>
              <a:t>? Bagian mana yang menangani kasus operator yang salah? Jika belum bisa menjawab, tanyakan langsung kepada AI assistant dengan prompt: </a:t>
            </a:r>
            <a:pPr algn="l" indent="0" marL="0">
              <a:lnSpc>
                <a:spcPct val="105000"/>
              </a:lnSpc>
              <a:buNone/>
            </a:pPr>
            <a:r>
              <a:rPr lang="en-US" sz="750" i="1" dirty="0">
                <a:solidFill>
                  <a:srgbClr val="CAD6DE"/>
                </a:solidFill>
                <a:latin typeface="Cabin" pitchFamily="34" charset="0"/>
                <a:ea typeface="Cabin" pitchFamily="34" charset="-122"/>
                <a:cs typeface="Cabin" pitchFamily="34" charset="-120"/>
              </a:rPr>
              <a:t>"Jelaskan kode di atas baris demi baris seolah saya belum pernah belajar pemrograman sama sekali."</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98086" y="554930"/>
            <a:ext cx="1212324" cy="178098"/>
          </a:xfrm>
          <a:prstGeom prst="roundRect">
            <a:avLst>
              <a:gd name="adj" fmla="val 7902"/>
            </a:avLst>
          </a:prstGeom>
          <a:solidFill>
            <a:srgbClr val="054842"/>
          </a:solidFill>
          <a:ln/>
        </p:spPr>
      </p:sp>
      <p:sp>
        <p:nvSpPr>
          <p:cNvPr id="3" name="Text 1"/>
          <p:cNvSpPr/>
          <p:nvPr/>
        </p:nvSpPr>
        <p:spPr>
          <a:xfrm>
            <a:off x="768430" y="590054"/>
            <a:ext cx="1681220" cy="107851"/>
          </a:xfrm>
          <a:prstGeom prst="rect">
            <a:avLst/>
          </a:prstGeom>
          <a:noFill/>
          <a:ln/>
        </p:spPr>
        <p:txBody>
          <a:bodyPr wrap="none" lIns="0" tIns="0" rIns="0" bIns="0" rtlCol="0" anchor="t"/>
          <a:lstStyle/>
          <a:p>
            <a:pPr algn="l" indent="0" marL="0">
              <a:lnSpc>
                <a:spcPct val="96000"/>
              </a:lnSpc>
              <a:buNone/>
            </a:pPr>
            <a:r>
              <a:rPr lang="en-US" sz="700" dirty="0">
                <a:solidFill>
                  <a:srgbClr val="CAD6DE"/>
                </a:solidFill>
                <a:latin typeface="Cabin" pitchFamily="34" charset="0"/>
                <a:ea typeface="Cabin" pitchFamily="34" charset="-122"/>
                <a:cs typeface="Cabin" pitchFamily="34" charset="-120"/>
              </a:rPr>
              <a:t>BOOTCAMP VIBE CODING</a:t>
            </a:r>
            <a:endParaRPr lang="en-US" sz="700" dirty="0"/>
          </a:p>
        </p:txBody>
      </p:sp>
      <p:sp>
        <p:nvSpPr>
          <p:cNvPr id="4" name="Text 2"/>
          <p:cNvSpPr/>
          <p:nvPr/>
        </p:nvSpPr>
        <p:spPr>
          <a:xfrm>
            <a:off x="698086" y="764480"/>
            <a:ext cx="10795524" cy="344884"/>
          </a:xfrm>
          <a:prstGeom prst="rect">
            <a:avLst/>
          </a:prstGeom>
          <a:noFill/>
          <a:ln/>
        </p:spPr>
        <p:txBody>
          <a:bodyPr wrap="none" lIns="0" tIns="0" rIns="0" bIns="0" rtlCol="0" anchor="t"/>
          <a:lstStyle/>
          <a:p>
            <a:pPr algn="l" indent="0" marL="0">
              <a:lnSpc>
                <a:spcPct val="104000"/>
              </a:lnSpc>
              <a:buNone/>
            </a:pPr>
            <a:r>
              <a:rPr lang="en-US" sz="2150" dirty="0">
                <a:solidFill>
                  <a:srgbClr val="FFFFFF"/>
                </a:solidFill>
                <a:latin typeface="Unbounded" pitchFamily="34" charset="0"/>
                <a:ea typeface="Unbounded" pitchFamily="34" charset="-122"/>
                <a:cs typeface="Unbounded" pitchFamily="34" charset="-120"/>
              </a:rPr>
              <a:t>Anatomi Prompt yang Baik &amp; Teknik Iterative Prompting</a:t>
            </a:r>
            <a:endParaRPr lang="en-US" sz="2150" dirty="0"/>
          </a:p>
        </p:txBody>
      </p:sp>
      <p:sp>
        <p:nvSpPr>
          <p:cNvPr id="5" name="Text 3"/>
          <p:cNvSpPr/>
          <p:nvPr/>
        </p:nvSpPr>
        <p:spPr>
          <a:xfrm>
            <a:off x="698086" y="1227534"/>
            <a:ext cx="10795524" cy="313531"/>
          </a:xfrm>
          <a:prstGeom prst="rect">
            <a:avLst/>
          </a:prstGeom>
          <a:noFill/>
          <a:ln/>
        </p:spPr>
        <p:txBody>
          <a:bodyPr wrap="square" lIns="0" tIns="0" rIns="0" bIns="0" rtlCol="0" anchor="t">
            <a:normAutofit/>
          </a:bodyPr>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Kualitas jawaban AI assistant sangat dipengaruhi oleh kualitas prompt yang diberikan. Prompt yang samar dan terlalu singkat cenderung menghasilkan kode yang generik dan belum tentu sesuai kebutuhan. Sebuah prompt yang baik untuk coding umumnya memuat empat unsur berikut:</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8086" y="1629668"/>
          <a:ext cx="9143771" cy="914400"/>
        </p:xfrm>
        <a:graphic>
          <a:graphicData uri="http://schemas.openxmlformats.org/drawingml/2006/table">
            <a:tbl>
              <a:tblPr/>
              <a:tblGrid>
                <a:gridCol w="2159105"/>
                <a:gridCol w="8636419"/>
              </a:tblGrid>
              <a:tr h="263915">
                <a:tc>
                  <a:txBody>
                    <a:bodyPr/>
                    <a:lstStyle/>
                    <a:p>
                      <a:pPr indent="0" marL="0">
                        <a:buNone/>
                      </a:pPr>
                      <a:r>
                        <a:rPr lang="en-US" sz="900" b="1" dirty="0">
                          <a:solidFill>
                            <a:srgbClr val="CAD6DE"/>
                          </a:solidFill>
                          <a:latin typeface="Cabin" pitchFamily="34" charset="0"/>
                          <a:ea typeface="Cabin" pitchFamily="34" charset="-122"/>
                          <a:cs typeface="Cabin" pitchFamily="34" charset="-120"/>
                        </a:rPr>
                        <a:t>Konteks</a:t>
                      </a:r>
                      <a:endParaRPr lang="en-US" sz="900" dirty="0">
                        <a:latin typeface="Cabin" charset="0"/>
                        <a:ea typeface="Cabin" charset="0"/>
                        <a:cs typeface="Cabin" charset="0"/>
                      </a:endParaRPr>
                    </a:p>
                  </a:txBody>
                  <a:tcPr marL="117272" marR="117272" marT="6350" marB="6350" anchor="ctr">
                    <a:lnL w="12700" cap="flat" cmpd="sng" algn="ctr">
                      <a:solidFill>
                        <a:srgbClr val="4A5C66"/>
                      </a:solidFill>
                      <a:prstDash val="solid"/>
                      <a:round/>
                      <a:headEnd type="none" w="med" len="med"/>
                      <a:tailEnd type="none" w="med" len="med"/>
                    </a:lnL>
                    <a:lnR w="12700" cap="flat" cmpd="sng" algn="ctr">
                      <a:solidFill>
                        <a:srgbClr val="1B313E"/>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1B313E"/>
                      </a:solidFill>
                      <a:prstDash val="solid"/>
                      <a:round/>
                      <a:headEnd type="none" w="med" len="med"/>
                      <a:tailEnd type="none" w="med" len="med"/>
                    </a:lnB>
                    <a:solidFill>
                      <a:srgbClr val="FFFFFF">
                        <a:alpha val="4000"/>
                      </a:srgbClr>
                    </a:solidFill>
                  </a:tcPr>
                </a:tc>
                <a:tc>
                  <a:txBody>
                    <a:bodyPr/>
                    <a:lstStyle/>
                    <a:p>
                      <a:pPr indent="0" marL="0">
                        <a:buNone/>
                      </a:pPr>
                      <a:r>
                        <a:rPr lang="en-US" sz="900" dirty="0">
                          <a:solidFill>
                            <a:srgbClr val="CAD6DE"/>
                          </a:solidFill>
                          <a:latin typeface="Cabin" pitchFamily="34" charset="0"/>
                          <a:ea typeface="Cabin" pitchFamily="34" charset="-122"/>
                          <a:cs typeface="Cabin" pitchFamily="34" charset="-120"/>
                        </a:rPr>
                        <a:t>Informasi latar belakang: sedang membangun apa, menggunakan teknologi apa, untuk siapa</a:t>
                      </a:r>
                      <a:endParaRPr lang="en-US" sz="900" dirty="0">
                        <a:latin typeface="Cabin" charset="0"/>
                        <a:ea typeface="Cabin" charset="0"/>
                        <a:cs typeface="Cabin" charset="0"/>
                      </a:endParaRPr>
                    </a:p>
                  </a:txBody>
                  <a:tcPr marL="117272" marR="117272" marT="6350" marB="6350" anchor="ctr">
                    <a:lnL w="12700" cap="flat" cmpd="sng" algn="ctr">
                      <a:solidFill>
                        <a:srgbClr val="1B313E"/>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1B313E"/>
                      </a:solidFill>
                      <a:prstDash val="solid"/>
                      <a:round/>
                      <a:headEnd type="none" w="med" len="med"/>
                      <a:tailEnd type="none" w="med" len="med"/>
                    </a:lnB>
                    <a:solidFill>
                      <a:srgbClr val="FFFFFF">
                        <a:alpha val="4000"/>
                      </a:srgbClr>
                    </a:solidFill>
                  </a:tcPr>
                </a:tc>
              </a:tr>
              <a:tr h="263915">
                <a:tc>
                  <a:txBody>
                    <a:bodyPr/>
                    <a:lstStyle/>
                    <a:p>
                      <a:pPr indent="0" marL="0">
                        <a:buNone/>
                      </a:pPr>
                      <a:r>
                        <a:rPr lang="en-US" sz="900" b="1" dirty="0">
                          <a:solidFill>
                            <a:srgbClr val="CAD6DE"/>
                          </a:solidFill>
                          <a:latin typeface="Cabin" pitchFamily="34" charset="0"/>
                          <a:ea typeface="Cabin" pitchFamily="34" charset="-122"/>
                          <a:cs typeface="Cabin" pitchFamily="34" charset="-120"/>
                        </a:rPr>
                        <a:t>Constraint</a:t>
                      </a:r>
                      <a:endParaRPr lang="en-US" sz="900" dirty="0">
                        <a:latin typeface="Cabin" charset="0"/>
                        <a:ea typeface="Cabin" charset="0"/>
                        <a:cs typeface="Cabin" charset="0"/>
                      </a:endParaRPr>
                    </a:p>
                  </a:txBody>
                  <a:tcPr marL="117272" marR="117272" marT="6350" marB="6350" anchor="ctr">
                    <a:lnL w="12700" cap="flat" cmpd="sng" algn="ctr">
                      <a:solidFill>
                        <a:srgbClr val="4A5C66"/>
                      </a:solidFill>
                      <a:prstDash val="solid"/>
                      <a:round/>
                      <a:headEnd type="none" w="med" len="med"/>
                      <a:tailEnd type="none" w="med" len="med"/>
                    </a:lnL>
                    <a:lnR w="12700" cap="flat" cmpd="sng" algn="ctr">
                      <a:solidFill>
                        <a:srgbClr val="102634"/>
                      </a:solidFill>
                      <a:prstDash val="solid"/>
                      <a:round/>
                      <a:headEnd type="none" w="med" len="med"/>
                      <a:tailEnd type="none" w="med" len="med"/>
                    </a:lnR>
                    <a:lnT w="12700" cap="flat" cmpd="sng" algn="ctr">
                      <a:solidFill>
                        <a:srgbClr val="102634"/>
                      </a:solidFill>
                      <a:prstDash val="solid"/>
                      <a:round/>
                      <a:headEnd type="none" w="med" len="med"/>
                      <a:tailEnd type="none" w="med" len="med"/>
                    </a:lnT>
                    <a:lnB w="12700" cap="flat" cmpd="sng" algn="ctr">
                      <a:solidFill>
                        <a:srgbClr val="102634"/>
                      </a:solidFill>
                      <a:prstDash val="solid"/>
                      <a:round/>
                      <a:headEnd type="none" w="med" len="med"/>
                      <a:tailEnd type="none" w="med" len="med"/>
                    </a:lnB>
                    <a:solidFill>
                      <a:srgbClr val="000000">
                        <a:alpha val="4000"/>
                      </a:srgbClr>
                    </a:solidFill>
                  </a:tcPr>
                </a:tc>
                <a:tc>
                  <a:txBody>
                    <a:bodyPr/>
                    <a:lstStyle/>
                    <a:p>
                      <a:pPr indent="0" marL="0">
                        <a:buNone/>
                      </a:pPr>
                      <a:r>
                        <a:rPr lang="en-US" sz="900" dirty="0">
                          <a:solidFill>
                            <a:srgbClr val="CAD6DE"/>
                          </a:solidFill>
                          <a:latin typeface="Cabin" pitchFamily="34" charset="0"/>
                          <a:ea typeface="Cabin" pitchFamily="34" charset="-122"/>
                          <a:cs typeface="Cabin" pitchFamily="34" charset="-120"/>
                        </a:rPr>
                        <a:t>Aturan atau batasan yang harus dipatuhi, misalnya bahasa yang dipakai, gaya penulisan, atau hal yang harus dihindari</a:t>
                      </a:r>
                      <a:endParaRPr lang="en-US" sz="900" dirty="0">
                        <a:latin typeface="Cabin" charset="0"/>
                        <a:ea typeface="Cabin" charset="0"/>
                        <a:cs typeface="Cabin" charset="0"/>
                      </a:endParaRPr>
                    </a:p>
                  </a:txBody>
                  <a:tcPr marL="117272" marR="117272" marT="6350" marB="6350" anchor="ctr">
                    <a:lnL w="12700" cap="flat" cmpd="sng" algn="ctr">
                      <a:solidFill>
                        <a:srgbClr val="102634"/>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102634"/>
                      </a:solidFill>
                      <a:prstDash val="solid"/>
                      <a:round/>
                      <a:headEnd type="none" w="med" len="med"/>
                      <a:tailEnd type="none" w="med" len="med"/>
                    </a:lnT>
                    <a:lnB w="12700" cap="flat" cmpd="sng" algn="ctr">
                      <a:solidFill>
                        <a:srgbClr val="102634"/>
                      </a:solidFill>
                      <a:prstDash val="solid"/>
                      <a:round/>
                      <a:headEnd type="none" w="med" len="med"/>
                      <a:tailEnd type="none" w="med" len="med"/>
                    </a:lnB>
                    <a:solidFill>
                      <a:srgbClr val="000000">
                        <a:alpha val="4000"/>
                      </a:srgbClr>
                    </a:solidFill>
                  </a:tcPr>
                </a:tc>
              </a:tr>
              <a:tr h="263915">
                <a:tc>
                  <a:txBody>
                    <a:bodyPr/>
                    <a:lstStyle/>
                    <a:p>
                      <a:pPr indent="0" marL="0">
                        <a:buNone/>
                      </a:pPr>
                      <a:r>
                        <a:rPr lang="en-US" sz="900" b="1" dirty="0">
                          <a:solidFill>
                            <a:srgbClr val="CAD6DE"/>
                          </a:solidFill>
                          <a:latin typeface="Cabin" pitchFamily="34" charset="0"/>
                          <a:ea typeface="Cabin" pitchFamily="34" charset="-122"/>
                          <a:cs typeface="Cabin" pitchFamily="34" charset="-120"/>
                        </a:rPr>
                        <a:t>Format Output</a:t>
                      </a:r>
                      <a:endParaRPr lang="en-US" sz="900" dirty="0">
                        <a:latin typeface="Cabin" charset="0"/>
                        <a:ea typeface="Cabin" charset="0"/>
                        <a:cs typeface="Cabin" charset="0"/>
                      </a:endParaRPr>
                    </a:p>
                  </a:txBody>
                  <a:tcPr marL="117272" marR="117272" marT="6350" marB="6350" anchor="ctr">
                    <a:lnL w="12700" cap="flat" cmpd="sng" algn="ctr">
                      <a:solidFill>
                        <a:srgbClr val="4A5C66"/>
                      </a:solidFill>
                      <a:prstDash val="solid"/>
                      <a:round/>
                      <a:headEnd type="none" w="med" len="med"/>
                      <a:tailEnd type="none" w="med" len="med"/>
                    </a:lnL>
                    <a:lnR w="12700" cap="flat" cmpd="sng" algn="ctr">
                      <a:solidFill>
                        <a:srgbClr val="1B313E"/>
                      </a:solidFill>
                      <a:prstDash val="solid"/>
                      <a:round/>
                      <a:headEnd type="none" w="med" len="med"/>
                      <a:tailEnd type="none" w="med" len="med"/>
                    </a:lnR>
                    <a:lnT w="12700" cap="flat" cmpd="sng" algn="ctr">
                      <a:solidFill>
                        <a:srgbClr val="1B313E"/>
                      </a:solidFill>
                      <a:prstDash val="solid"/>
                      <a:round/>
                      <a:headEnd type="none" w="med" len="med"/>
                      <a:tailEnd type="none" w="med" len="med"/>
                    </a:lnT>
                    <a:lnB w="12700" cap="flat" cmpd="sng" algn="ctr">
                      <a:solidFill>
                        <a:srgbClr val="1B313E"/>
                      </a:solidFill>
                      <a:prstDash val="solid"/>
                      <a:round/>
                      <a:headEnd type="none" w="med" len="med"/>
                      <a:tailEnd type="none" w="med" len="med"/>
                    </a:lnB>
                    <a:solidFill>
                      <a:srgbClr val="FFFFFF">
                        <a:alpha val="4000"/>
                      </a:srgbClr>
                    </a:solidFill>
                  </a:tcPr>
                </a:tc>
                <a:tc>
                  <a:txBody>
                    <a:bodyPr/>
                    <a:lstStyle/>
                    <a:p>
                      <a:pPr indent="0" marL="0">
                        <a:buNone/>
                      </a:pPr>
                      <a:r>
                        <a:rPr lang="en-US" sz="900" dirty="0">
                          <a:solidFill>
                            <a:srgbClr val="CAD6DE"/>
                          </a:solidFill>
                          <a:latin typeface="Cabin" pitchFamily="34" charset="0"/>
                          <a:ea typeface="Cabin" pitchFamily="34" charset="-122"/>
                          <a:cs typeface="Cabin" pitchFamily="34" charset="-120"/>
                        </a:rPr>
                        <a:t>Bentuk jawaban yang diharapkan, misalnya hanya kode, kode disertai penjelasan, atau dalam bentuk daftar langkah</a:t>
                      </a:r>
                      <a:endParaRPr lang="en-US" sz="900" dirty="0">
                        <a:latin typeface="Cabin" charset="0"/>
                        <a:ea typeface="Cabin" charset="0"/>
                        <a:cs typeface="Cabin" charset="0"/>
                      </a:endParaRPr>
                    </a:p>
                  </a:txBody>
                  <a:tcPr marL="117272" marR="117272" marT="6350" marB="6350" anchor="ctr">
                    <a:lnL w="12700" cap="flat" cmpd="sng" algn="ctr">
                      <a:solidFill>
                        <a:srgbClr val="1B313E"/>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1B313E"/>
                      </a:solidFill>
                      <a:prstDash val="solid"/>
                      <a:round/>
                      <a:headEnd type="none" w="med" len="med"/>
                      <a:tailEnd type="none" w="med" len="med"/>
                    </a:lnT>
                    <a:lnB w="12700" cap="flat" cmpd="sng" algn="ctr">
                      <a:solidFill>
                        <a:srgbClr val="1B313E"/>
                      </a:solidFill>
                      <a:prstDash val="solid"/>
                      <a:round/>
                      <a:headEnd type="none" w="med" len="med"/>
                      <a:tailEnd type="none" w="med" len="med"/>
                    </a:lnB>
                    <a:solidFill>
                      <a:srgbClr val="FFFFFF">
                        <a:alpha val="4000"/>
                      </a:srgbClr>
                    </a:solidFill>
                  </a:tcPr>
                </a:tc>
              </a:tr>
              <a:tr h="263915">
                <a:tc>
                  <a:txBody>
                    <a:bodyPr/>
                    <a:lstStyle/>
                    <a:p>
                      <a:pPr indent="0" marL="0">
                        <a:buNone/>
                      </a:pPr>
                      <a:r>
                        <a:rPr lang="en-US" sz="900" b="1" dirty="0">
                          <a:solidFill>
                            <a:srgbClr val="CAD6DE"/>
                          </a:solidFill>
                          <a:latin typeface="Cabin" pitchFamily="34" charset="0"/>
                          <a:ea typeface="Cabin" pitchFamily="34" charset="-122"/>
                          <a:cs typeface="Cabin" pitchFamily="34" charset="-120"/>
                        </a:rPr>
                        <a:t>Contoh</a:t>
                      </a:r>
                      <a:endParaRPr lang="en-US" sz="900" dirty="0">
                        <a:latin typeface="Cabin" charset="0"/>
                        <a:ea typeface="Cabin" charset="0"/>
                        <a:cs typeface="Cabin" charset="0"/>
                      </a:endParaRPr>
                    </a:p>
                  </a:txBody>
                  <a:tcPr marL="117272" marR="117272" marT="6350" marB="6350" anchor="ctr">
                    <a:lnL w="12700" cap="flat" cmpd="sng" algn="ctr">
                      <a:solidFill>
                        <a:srgbClr val="4A5C66"/>
                      </a:solidFill>
                      <a:prstDash val="solid"/>
                      <a:round/>
                      <a:headEnd type="none" w="med" len="med"/>
                      <a:tailEnd type="none" w="med" len="med"/>
                    </a:lnL>
                    <a:lnR w="12700" cap="flat" cmpd="sng" algn="ctr">
                      <a:solidFill>
                        <a:srgbClr val="102634"/>
                      </a:solidFill>
                      <a:prstDash val="solid"/>
                      <a:round/>
                      <a:headEnd type="none" w="med" len="med"/>
                      <a:tailEnd type="none" w="med" len="med"/>
                    </a:lnR>
                    <a:lnT w="12700" cap="flat" cmpd="sng" algn="ctr">
                      <a:solidFill>
                        <a:srgbClr val="102634"/>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000000">
                        <a:alpha val="4000"/>
                      </a:srgbClr>
                    </a:solidFill>
                  </a:tcPr>
                </a:tc>
                <a:tc>
                  <a:txBody>
                    <a:bodyPr/>
                    <a:lstStyle/>
                    <a:p>
                      <a:pPr indent="0" marL="0">
                        <a:buNone/>
                      </a:pPr>
                      <a:r>
                        <a:rPr lang="en-US" sz="900" dirty="0">
                          <a:solidFill>
                            <a:srgbClr val="CAD6DE"/>
                          </a:solidFill>
                          <a:latin typeface="Cabin" pitchFamily="34" charset="0"/>
                          <a:ea typeface="Cabin" pitchFamily="34" charset="-122"/>
                          <a:cs typeface="Cabin" pitchFamily="34" charset="-120"/>
                        </a:rPr>
                        <a:t>Contoh konkret dari input dan output yang diharapkan, agar AI memiliki acuan yang jelas</a:t>
                      </a:r>
                      <a:endParaRPr lang="en-US" sz="900" dirty="0">
                        <a:latin typeface="Cabin" charset="0"/>
                        <a:ea typeface="Cabin" charset="0"/>
                        <a:cs typeface="Cabin" charset="0"/>
                      </a:endParaRPr>
                    </a:p>
                  </a:txBody>
                  <a:tcPr marL="117272" marR="117272" marT="6350" marB="6350" anchor="ctr">
                    <a:lnL w="12700" cap="flat" cmpd="sng" algn="ctr">
                      <a:solidFill>
                        <a:srgbClr val="102634"/>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102634"/>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000000">
                        <a:alpha val="4000"/>
                      </a:srgbClr>
                    </a:solidFill>
                  </a:tcPr>
                </a:tc>
              </a:tr>
            </a:tbl>
          </a:graphicData>
        </a:graphic>
      </p:graphicFrame>
      <p:sp>
        <p:nvSpPr>
          <p:cNvPr id="7" name="Text 4"/>
          <p:cNvSpPr/>
          <p:nvPr/>
        </p:nvSpPr>
        <p:spPr>
          <a:xfrm>
            <a:off x="698086" y="2865438"/>
            <a:ext cx="5254692" cy="172442"/>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Unbounded" pitchFamily="34" charset="0"/>
                <a:ea typeface="Unbounded" pitchFamily="34" charset="-122"/>
                <a:cs typeface="Unbounded" pitchFamily="34" charset="-120"/>
              </a:rPr>
              <a:t>Perbandingan Prompt</a:t>
            </a:r>
            <a:endParaRPr lang="en-US" sz="1050" dirty="0"/>
          </a:p>
        </p:txBody>
      </p:sp>
      <p:sp>
        <p:nvSpPr>
          <p:cNvPr id="8" name="Text 5"/>
          <p:cNvSpPr/>
          <p:nvPr/>
        </p:nvSpPr>
        <p:spPr>
          <a:xfrm>
            <a:off x="698086" y="3116659"/>
            <a:ext cx="5254692" cy="1395809"/>
          </a:xfrm>
          <a:prstGeom prst="rect">
            <a:avLst/>
          </a:prstGeom>
          <a:noFill/>
          <a:ln/>
        </p:spPr>
        <p:txBody>
          <a:bodyPr wrap="square" lIns="0" tIns="0" rIns="0" bIns="0" rtlCol="0" anchor="t"/>
          <a:lstStyle/>
          <a:p>
            <a:pPr algn="l" indent="0" marL="0">
              <a:lnSpc>
                <a:spcPct val="111000"/>
              </a:lnSpc>
              <a:spcAft>
                <a:spcPts val="550"/>
              </a:spcAft>
              <a:buNone/>
            </a:pPr>
            <a:r>
              <a:rPr lang="en-US" sz="900" b="1" dirty="0">
                <a:solidFill>
                  <a:srgbClr val="CAD6DE"/>
                </a:solidFill>
                <a:latin typeface="Cabin Bold" pitchFamily="34" charset="0"/>
                <a:ea typeface="Cabin Bold" pitchFamily="34" charset="-122"/>
                <a:cs typeface="Cabin Bold" pitchFamily="34" charset="-120"/>
              </a:rPr>
              <a:t>Prompt lemah:</a:t>
            </a:r>
            <a:pPr algn="l" indent="0" marL="0">
              <a:lnSpc>
                <a:spcPct val="111000"/>
              </a:lnSpc>
              <a:spcAft>
                <a:spcPts val="550"/>
              </a:spcAft>
              <a:buNone/>
            </a:pPr>
            <a:r>
              <a:rPr lang="en-US" sz="900" dirty="0">
                <a:solidFill>
                  <a:srgbClr val="CAD6DE"/>
                </a:solidFill>
                <a:latin typeface="Cabin" pitchFamily="34" charset="0"/>
                <a:ea typeface="Cabin" pitchFamily="34" charset="-122"/>
                <a:cs typeface="Cabin" pitchFamily="34" charset="-120"/>
              </a:rPr>
              <a:t> "Buatkan saya tombol."</a:t>
            </a:r>
            <a:endParaRPr lang="en-US" sz="900" dirty="0"/>
          </a:p>
          <a:p>
            <a:pPr algn="l" indent="0" marL="0">
              <a:lnSpc>
                <a:spcPct val="111000"/>
              </a:lnSpc>
              <a:spcAft>
                <a:spcPts val="550"/>
              </a:spcAft>
              <a:buNone/>
            </a:pPr>
            <a:r>
              <a:rPr lang="en-US" sz="900" b="1" dirty="0">
                <a:solidFill>
                  <a:srgbClr val="CAD6DE"/>
                </a:solidFill>
                <a:latin typeface="Cabin Bold" pitchFamily="34" charset="0"/>
                <a:ea typeface="Cabin Bold" pitchFamily="34" charset="-122"/>
                <a:cs typeface="Cabin Bold" pitchFamily="34" charset="-120"/>
              </a:rPr>
              <a:t>Prompt kuat:</a:t>
            </a:r>
            <a:pPr algn="l" indent="0" marL="0">
              <a:lnSpc>
                <a:spcPct val="111000"/>
              </a:lnSpc>
              <a:spcAft>
                <a:spcPts val="550"/>
              </a:spcAft>
              <a:buNone/>
            </a:pPr>
            <a:r>
              <a:rPr lang="en-US" sz="900" dirty="0">
                <a:solidFill>
                  <a:srgbClr val="CAD6DE"/>
                </a:solidFill>
                <a:latin typeface="Cabin" pitchFamily="34" charset="0"/>
                <a:ea typeface="Cabin" pitchFamily="34" charset="-122"/>
                <a:cs typeface="Cabin" pitchFamily="34" charset="-120"/>
              </a:rPr>
              <a:t> "Buatkan saya komponen tombol menggunakan HTML dan CSS untuk sebuah landing page produk kopi. Tombol bertuliskan 'Pesan Sekarang', berwarna cokelat tua dengan teks putih, membesar sedikit saat kursor diarahkan ke atasnya (hover), dan harus terlihat baik di layar ponsel maupun laptop. Berikan kode HTML dan CSS-nya secara terpisah, beserta penjelasan singkat untuk setiap bagian CSS."</a:t>
            </a:r>
            <a:endParaRPr lang="en-US" sz="900" dirty="0"/>
          </a:p>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Prompt kedua sudah memuat konteks, constraint, dan format output — semakin lengkap ketiga unsur ini disampaikan, semakin besar peluang AI memberikan hasil yang benar-benar sesuai kebutuhan sejak percobaan pertama.</a:t>
            </a:r>
            <a:endParaRPr lang="en-US" sz="900" dirty="0"/>
          </a:p>
        </p:txBody>
      </p:sp>
      <p:sp>
        <p:nvSpPr>
          <p:cNvPr id="9" name="Text 6"/>
          <p:cNvSpPr/>
          <p:nvPr/>
        </p:nvSpPr>
        <p:spPr>
          <a:xfrm>
            <a:off x="6245267" y="2865438"/>
            <a:ext cx="5254692" cy="172442"/>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Unbounded" pitchFamily="34" charset="0"/>
                <a:ea typeface="Unbounded" pitchFamily="34" charset="-122"/>
                <a:cs typeface="Unbounded" pitchFamily="34" charset="-120"/>
              </a:rPr>
              <a:t>Tiga Pola Iterative Prompting</a:t>
            </a:r>
            <a:endParaRPr lang="en-US" sz="1050" dirty="0"/>
          </a:p>
        </p:txBody>
      </p:sp>
      <p:sp>
        <p:nvSpPr>
          <p:cNvPr id="10" name="Shape 7"/>
          <p:cNvSpPr/>
          <p:nvPr/>
        </p:nvSpPr>
        <p:spPr>
          <a:xfrm>
            <a:off x="6245267" y="3126482"/>
            <a:ext cx="2587957" cy="1896467"/>
          </a:xfrm>
          <a:prstGeom prst="roundRect">
            <a:avLst>
              <a:gd name="adj" fmla="val 928"/>
            </a:avLst>
          </a:prstGeom>
          <a:solidFill>
            <a:srgbClr val="304755"/>
          </a:solidFill>
          <a:ln/>
        </p:spPr>
      </p:sp>
      <p:sp>
        <p:nvSpPr>
          <p:cNvPr id="11" name="Text 8"/>
          <p:cNvSpPr/>
          <p:nvPr/>
        </p:nvSpPr>
        <p:spPr>
          <a:xfrm>
            <a:off x="6362442" y="3243659"/>
            <a:ext cx="2353608" cy="172442"/>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Refine</a:t>
            </a:r>
            <a:endParaRPr lang="en-US" sz="1050" dirty="0"/>
          </a:p>
        </p:txBody>
      </p:sp>
      <p:sp>
        <p:nvSpPr>
          <p:cNvPr id="12" name="Text 9"/>
          <p:cNvSpPr/>
          <p:nvPr/>
        </p:nvSpPr>
        <p:spPr>
          <a:xfrm>
            <a:off x="6362442" y="3494881"/>
            <a:ext cx="2353608" cy="627063"/>
          </a:xfrm>
          <a:prstGeom prst="rect">
            <a:avLst/>
          </a:prstGeom>
          <a:noFill/>
          <a:ln/>
        </p:spPr>
        <p:txBody>
          <a:bodyPr wrap="square" lIns="0" tIns="0" rIns="0" bIns="0" rtlCol="0" anchor="t">
            <a:normAutofit/>
          </a:bodyPr>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Menyempurnakan hasil yang sudah ke arah benar. Contoh: </a:t>
            </a:r>
            <a:pPr algn="l" indent="0" marL="0">
              <a:lnSpc>
                <a:spcPct val="111000"/>
              </a:lnSpc>
              <a:buNone/>
            </a:pPr>
            <a:r>
              <a:rPr lang="en-US" sz="900" i="1" dirty="0">
                <a:solidFill>
                  <a:srgbClr val="CAD6DE"/>
                </a:solidFill>
                <a:latin typeface="Cabin" pitchFamily="34" charset="0"/>
                <a:ea typeface="Cabin" pitchFamily="34" charset="-122"/>
                <a:cs typeface="Cabin" pitchFamily="34" charset="-120"/>
              </a:rPr>
              <a:t>"Warnanya sudah pas, tapi tolong ukuran tombolnya diperbesar sedikit dan sudutnya dibuat lebih membulat."</a:t>
            </a:r>
            <a:endParaRPr lang="en-US" sz="900" dirty="0"/>
          </a:p>
        </p:txBody>
      </p:sp>
      <p:sp>
        <p:nvSpPr>
          <p:cNvPr id="13" name="Shape 10"/>
          <p:cNvSpPr/>
          <p:nvPr/>
        </p:nvSpPr>
        <p:spPr>
          <a:xfrm>
            <a:off x="8912002" y="3126482"/>
            <a:ext cx="2587957" cy="1896467"/>
          </a:xfrm>
          <a:prstGeom prst="roundRect">
            <a:avLst>
              <a:gd name="adj" fmla="val 928"/>
            </a:avLst>
          </a:prstGeom>
          <a:solidFill>
            <a:srgbClr val="304755"/>
          </a:solidFill>
          <a:ln/>
        </p:spPr>
      </p:sp>
      <p:sp>
        <p:nvSpPr>
          <p:cNvPr id="14" name="Text 11"/>
          <p:cNvSpPr/>
          <p:nvPr/>
        </p:nvSpPr>
        <p:spPr>
          <a:xfrm>
            <a:off x="9029176" y="3243659"/>
            <a:ext cx="2353608" cy="172442"/>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Debug</a:t>
            </a:r>
            <a:endParaRPr lang="en-US" sz="1050" dirty="0"/>
          </a:p>
        </p:txBody>
      </p:sp>
      <p:sp>
        <p:nvSpPr>
          <p:cNvPr id="15" name="Text 12"/>
          <p:cNvSpPr/>
          <p:nvPr/>
        </p:nvSpPr>
        <p:spPr>
          <a:xfrm>
            <a:off x="9029176" y="3494881"/>
            <a:ext cx="2353608" cy="1410891"/>
          </a:xfrm>
          <a:prstGeom prst="rect">
            <a:avLst/>
          </a:prstGeom>
          <a:noFill/>
          <a:ln/>
        </p:spPr>
        <p:txBody>
          <a:bodyPr wrap="square" lIns="0" tIns="0" rIns="0" bIns="0" rtlCol="0" anchor="t">
            <a:normAutofit/>
          </a:bodyPr>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Memperbaiki kesalahan ketika kode menghasilkan error. Contoh: </a:t>
            </a:r>
            <a:pPr algn="l" indent="0" marL="0">
              <a:lnSpc>
                <a:spcPct val="111000"/>
              </a:lnSpc>
              <a:buNone/>
            </a:pPr>
            <a:r>
              <a:rPr lang="en-US" sz="900" i="1" dirty="0">
                <a:solidFill>
                  <a:srgbClr val="CAD6DE"/>
                </a:solidFill>
                <a:latin typeface="Cabin" pitchFamily="34" charset="0"/>
                <a:ea typeface="Cabin" pitchFamily="34" charset="-122"/>
                <a:cs typeface="Cabin" pitchFamily="34" charset="-120"/>
              </a:rPr>
              <a:t>"Kode ini menghasilkan pesan error 'Cannot read properties of undefined' ketika saya jalankan. Berikut pesan errornya secara lengkap: [tempel pesan error]. Tolong jelaskan penyebabnya dan perbaiki kodenya."</a:t>
            </a:r>
            <a:pPr algn="l" indent="0" marL="0">
              <a:lnSpc>
                <a:spcPct val="111000"/>
              </a:lnSpc>
              <a:buNone/>
            </a:pPr>
            <a:r>
              <a:rPr lang="en-US" sz="900" dirty="0">
                <a:solidFill>
                  <a:srgbClr val="CAD6DE"/>
                </a:solidFill>
                <a:latin typeface="Cabin" pitchFamily="34" charset="0"/>
                <a:ea typeface="Cabin" pitchFamily="34" charset="-122"/>
                <a:cs typeface="Cabin" pitchFamily="34" charset="-120"/>
              </a:rPr>
              <a:t> Menyertakan pesan error secara lengkap jauh lebih efektif dibanding hanya berkata "kodenya error".</a:t>
            </a:r>
            <a:endParaRPr lang="en-US" sz="900" dirty="0"/>
          </a:p>
        </p:txBody>
      </p:sp>
      <p:sp>
        <p:nvSpPr>
          <p:cNvPr id="16" name="Shape 13"/>
          <p:cNvSpPr/>
          <p:nvPr/>
        </p:nvSpPr>
        <p:spPr>
          <a:xfrm>
            <a:off x="6245267" y="5101729"/>
            <a:ext cx="5254692" cy="1112639"/>
          </a:xfrm>
          <a:prstGeom prst="roundRect">
            <a:avLst>
              <a:gd name="adj" fmla="val 1581"/>
            </a:avLst>
          </a:prstGeom>
          <a:solidFill>
            <a:srgbClr val="304755"/>
          </a:solidFill>
          <a:ln/>
        </p:spPr>
      </p:sp>
      <p:sp>
        <p:nvSpPr>
          <p:cNvPr id="17" name="Text 14"/>
          <p:cNvSpPr/>
          <p:nvPr/>
        </p:nvSpPr>
        <p:spPr>
          <a:xfrm>
            <a:off x="6362442" y="5218906"/>
            <a:ext cx="5020343" cy="172442"/>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Minta Penjelasan</a:t>
            </a:r>
            <a:endParaRPr lang="en-US" sz="1050" dirty="0"/>
          </a:p>
        </p:txBody>
      </p:sp>
      <p:sp>
        <p:nvSpPr>
          <p:cNvPr id="18" name="Text 15"/>
          <p:cNvSpPr/>
          <p:nvPr/>
        </p:nvSpPr>
        <p:spPr>
          <a:xfrm>
            <a:off x="6362442" y="5470128"/>
            <a:ext cx="5020343" cy="627063"/>
          </a:xfrm>
          <a:prstGeom prst="rect">
            <a:avLst/>
          </a:prstGeom>
          <a:noFill/>
          <a:ln/>
        </p:spPr>
        <p:txBody>
          <a:bodyPr wrap="square" lIns="0" tIns="0" rIns="0" bIns="0" rtlCol="0" anchor="t">
            <a:normAutofit/>
          </a:bodyPr>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Memahami kode yang belum dipahami sepenuhnya. Contoh: </a:t>
            </a:r>
            <a:pPr algn="l" indent="0" marL="0">
              <a:lnSpc>
                <a:spcPct val="111000"/>
              </a:lnSpc>
              <a:buNone/>
            </a:pPr>
            <a:r>
              <a:rPr lang="en-US" sz="900" i="1" dirty="0">
                <a:solidFill>
                  <a:srgbClr val="CAD6DE"/>
                </a:solidFill>
                <a:latin typeface="Cabin" pitchFamily="34" charset="0"/>
                <a:ea typeface="Cabin" pitchFamily="34" charset="-122"/>
                <a:cs typeface="Cabin" pitchFamily="34" charset="-120"/>
              </a:rPr>
              <a:t>"Jelaskan baris ke-3 sampai ke-6 dari kode di atas, khususnya mengapa digunakan tanda &amp;&amp; di sana, seolah saya baru belajar JavaScript minggu ini."</a:t>
            </a:r>
            <a:pPr algn="l" indent="0" marL="0">
              <a:lnSpc>
                <a:spcPct val="111000"/>
              </a:lnSpc>
              <a:buNone/>
            </a:pPr>
            <a:r>
              <a:rPr lang="en-US" sz="900" dirty="0">
                <a:solidFill>
                  <a:srgbClr val="CAD6DE"/>
                </a:solidFill>
                <a:latin typeface="Cabin" pitchFamily="34" charset="0"/>
                <a:ea typeface="Cabin" pitchFamily="34" charset="-122"/>
                <a:cs typeface="Cabin" pitchFamily="34" charset="-120"/>
              </a:rPr>
              <a:t> Kebiasaan ini adalah pembeda utama antara vibe coding yang produktif dengan sekadar menyalin kode tanpa pemahaman.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98086" y="547787"/>
            <a:ext cx="1268778" cy="186531"/>
          </a:xfrm>
          <a:prstGeom prst="roundRect">
            <a:avLst>
              <a:gd name="adj" fmla="val 7895"/>
            </a:avLst>
          </a:prstGeom>
          <a:solidFill>
            <a:srgbClr val="054842"/>
          </a:solidFill>
          <a:ln/>
        </p:spPr>
      </p:sp>
      <p:sp>
        <p:nvSpPr>
          <p:cNvPr id="3" name="Text 1"/>
          <p:cNvSpPr/>
          <p:nvPr/>
        </p:nvSpPr>
        <p:spPr>
          <a:xfrm>
            <a:off x="771704" y="584597"/>
            <a:ext cx="1731125" cy="112911"/>
          </a:xfrm>
          <a:prstGeom prst="rect">
            <a:avLst/>
          </a:prstGeom>
          <a:noFill/>
          <a:ln/>
        </p:spPr>
        <p:txBody>
          <a:bodyPr wrap="none" lIns="0" tIns="0" rIns="0" bIns="0" rtlCol="0" anchor="t"/>
          <a:lstStyle/>
          <a:p>
            <a:pPr algn="l" indent="0" marL="0">
              <a:lnSpc>
                <a:spcPct val="96000"/>
              </a:lnSpc>
              <a:buNone/>
            </a:pPr>
            <a:r>
              <a:rPr lang="en-US" sz="750" dirty="0">
                <a:solidFill>
                  <a:srgbClr val="CAD6DE"/>
                </a:solidFill>
                <a:latin typeface="Cabin" pitchFamily="34" charset="0"/>
                <a:ea typeface="Cabin" pitchFamily="34" charset="-122"/>
                <a:cs typeface="Cabin" pitchFamily="34" charset="-120"/>
              </a:rPr>
              <a:t>BOOTCAMP VIBE CODING</a:t>
            </a:r>
            <a:endParaRPr lang="en-US" sz="750" dirty="0"/>
          </a:p>
        </p:txBody>
      </p:sp>
      <p:sp>
        <p:nvSpPr>
          <p:cNvPr id="4" name="Text 2"/>
          <p:cNvSpPr/>
          <p:nvPr/>
        </p:nvSpPr>
        <p:spPr>
          <a:xfrm>
            <a:off x="698086" y="768747"/>
            <a:ext cx="10795524" cy="360859"/>
          </a:xfrm>
          <a:prstGeom prst="rect">
            <a:avLst/>
          </a:prstGeom>
          <a:noFill/>
          <a:ln/>
        </p:spPr>
        <p:txBody>
          <a:bodyPr wrap="none" lIns="0" tIns="0" rIns="0" bIns="0" rtlCol="0" anchor="t"/>
          <a:lstStyle/>
          <a:p>
            <a:pPr algn="l" indent="0" marL="0">
              <a:lnSpc>
                <a:spcPct val="104000"/>
              </a:lnSpc>
              <a:buNone/>
            </a:pPr>
            <a:r>
              <a:rPr lang="en-US" sz="2250" dirty="0">
                <a:solidFill>
                  <a:srgbClr val="FFFFFF"/>
                </a:solidFill>
                <a:latin typeface="Unbounded" pitchFamily="34" charset="0"/>
                <a:ea typeface="Unbounded" pitchFamily="34" charset="-122"/>
                <a:cs typeface="Unbounded" pitchFamily="34" charset="-120"/>
              </a:rPr>
              <a:t>Dasar HTML Semantic &amp; CSS: Flexbox dan Grid</a:t>
            </a:r>
            <a:endParaRPr lang="en-US" sz="2250" dirty="0"/>
          </a:p>
        </p:txBody>
      </p:sp>
      <p:sp>
        <p:nvSpPr>
          <p:cNvPr id="5" name="Text 3"/>
          <p:cNvSpPr/>
          <p:nvPr/>
        </p:nvSpPr>
        <p:spPr>
          <a:xfrm>
            <a:off x="698086" y="1345208"/>
            <a:ext cx="5248044" cy="180380"/>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Unbounded" pitchFamily="34" charset="0"/>
                <a:ea typeface="Unbounded" pitchFamily="34" charset="-122"/>
                <a:cs typeface="Unbounded" pitchFamily="34" charset="-120"/>
              </a:rPr>
              <a:t>HTML Semantic</a:t>
            </a:r>
            <a:endParaRPr lang="en-US" sz="1100" dirty="0"/>
          </a:p>
        </p:txBody>
      </p:sp>
      <p:sp>
        <p:nvSpPr>
          <p:cNvPr id="6" name="Text 4"/>
          <p:cNvSpPr/>
          <p:nvPr/>
        </p:nvSpPr>
        <p:spPr>
          <a:xfrm>
            <a:off x="698086" y="1611809"/>
            <a:ext cx="5248044" cy="668734"/>
          </a:xfrm>
          <a:prstGeom prst="rect">
            <a:avLst/>
          </a:prstGeom>
          <a:noFill/>
          <a:ln/>
        </p:spPr>
        <p:txBody>
          <a:bodyPr wrap="square" lIns="0" tIns="0" rIns="0" bIns="0" rtlCol="0" anchor="t">
            <a:normAutofit/>
          </a:bodyPr>
          <a:lstStyle/>
          <a:p>
            <a:pPr algn="l" indent="0" marL="0">
              <a:lnSpc>
                <a:spcPct val="114000"/>
              </a:lnSpc>
              <a:buNone/>
            </a:pPr>
            <a:r>
              <a:rPr lang="en-US" sz="950" dirty="0">
                <a:solidFill>
                  <a:srgbClr val="CAD6DE"/>
                </a:solidFill>
                <a:latin typeface="Cabin" pitchFamily="34" charset="0"/>
                <a:ea typeface="Cabin" pitchFamily="34" charset="-122"/>
                <a:cs typeface="Cabin" pitchFamily="34" charset="-120"/>
              </a:rPr>
              <a:t>HTML (HyperText Markup Language) adalah bahasa penanda untuk menyusun struktur halaman web. </a:t>
            </a:r>
            <a:pPr algn="l" indent="0" marL="0">
              <a:lnSpc>
                <a:spcPct val="114000"/>
              </a:lnSpc>
              <a:buNone/>
            </a:pPr>
            <a:r>
              <a:rPr lang="en-US" sz="950" b="1" dirty="0">
                <a:solidFill>
                  <a:srgbClr val="CAD6DE"/>
                </a:solidFill>
                <a:latin typeface="Cabin Bold" pitchFamily="34" charset="0"/>
                <a:ea typeface="Cabin Bold" pitchFamily="34" charset="-122"/>
                <a:cs typeface="Cabin Bold" pitchFamily="34" charset="-120"/>
              </a:rPr>
              <a:t>HTML semantic</a:t>
            </a:r>
            <a:pPr algn="l" indent="0" marL="0">
              <a:lnSpc>
                <a:spcPct val="114000"/>
              </a:lnSpc>
              <a:buNone/>
            </a:pPr>
            <a:r>
              <a:rPr lang="en-US" sz="950" dirty="0">
                <a:solidFill>
                  <a:srgbClr val="CAD6DE"/>
                </a:solidFill>
                <a:latin typeface="Cabin" pitchFamily="34" charset="0"/>
                <a:ea typeface="Cabin" pitchFamily="34" charset="-122"/>
                <a:cs typeface="Cabin" pitchFamily="34" charset="-120"/>
              </a:rPr>
              <a:t> berarti memilih tag yang benar-benar menggambarkan makna kontennya, bukan sekadar tampilannya. Manfaatnya: kode lebih mudah dibaca oleh manusia (termasuk AI assistant) dan lebih ramah bagi teknologi bantu seperti pembaca layar untuk penyandang disabilitas.</a:t>
            </a:r>
            <a:endParaRPr lang="en-US" sz="9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4122" y="2381399"/>
            <a:ext cx="184046" cy="184051"/>
          </a:xfrm>
          <a:prstGeom prst="rect">
            <a:avLst/>
          </a:prstGeom>
        </p:spPr>
      </p:pic>
      <p:sp>
        <p:nvSpPr>
          <p:cNvPr id="8" name="Text 5"/>
          <p:cNvSpPr/>
          <p:nvPr/>
        </p:nvSpPr>
        <p:spPr>
          <a:xfrm>
            <a:off x="1096836" y="2377579"/>
            <a:ext cx="4849294" cy="180380"/>
          </a:xfrm>
          <a:prstGeom prst="rect">
            <a:avLst/>
          </a:prstGeom>
          <a:noFill/>
          <a:ln/>
        </p:spPr>
        <p:txBody>
          <a:bodyPr wrap="none" lIns="0" tIns="0" rIns="0" bIns="0" rtlCol="0" anchor="t"/>
          <a:lstStyle/>
          <a:p>
            <a:pPr algn="l" indent="0" marL="0">
              <a:lnSpc>
                <a:spcPct val="104000"/>
              </a:lnSpc>
              <a:buNone/>
            </a:pPr>
            <a:r>
              <a:rPr lang="en-US" sz="1100" dirty="0">
                <a:solidFill>
                  <a:srgbClr val="CAD6DE"/>
                </a:solidFill>
                <a:highlight>
                  <a:srgbClr val="1E3543"/>
                </a:highlight>
                <a:latin typeface="Consolas" pitchFamily="34" charset="0"/>
                <a:ea typeface="Consolas" pitchFamily="34" charset="-122"/>
                <a:cs typeface="Consolas" pitchFamily="34" charset="-120"/>
              </a:rPr>
              <a:t>&lt;header&gt;</a:t>
            </a:r>
            <a:endParaRPr lang="en-US" sz="1100" dirty="0"/>
          </a:p>
        </p:txBody>
      </p:sp>
      <p:sp>
        <p:nvSpPr>
          <p:cNvPr id="9" name="Text 6"/>
          <p:cNvSpPr/>
          <p:nvPr/>
        </p:nvSpPr>
        <p:spPr>
          <a:xfrm>
            <a:off x="1096836" y="2644180"/>
            <a:ext cx="4849294" cy="167184"/>
          </a:xfrm>
          <a:prstGeom prst="rect">
            <a:avLst/>
          </a:prstGeom>
          <a:noFill/>
          <a:ln/>
        </p:spPr>
        <p:txBody>
          <a:bodyPr wrap="none" lIns="0" tIns="0" rIns="0" bIns="0" rtlCol="0" anchor="t"/>
          <a:lstStyle/>
          <a:p>
            <a:pPr algn="l" indent="0" marL="0">
              <a:lnSpc>
                <a:spcPct val="114000"/>
              </a:lnSpc>
              <a:buNone/>
            </a:pPr>
            <a:r>
              <a:rPr lang="en-US" sz="950" dirty="0">
                <a:solidFill>
                  <a:srgbClr val="CAD6DE"/>
                </a:solidFill>
                <a:latin typeface="Cabin" pitchFamily="34" charset="0"/>
                <a:ea typeface="Cabin" pitchFamily="34" charset="-122"/>
                <a:cs typeface="Cabin" pitchFamily="34" charset="-120"/>
              </a:rPr>
              <a:t>Bagian kepala halaman, biasanya berisi logo dan menu navigasi.</a:t>
            </a:r>
            <a:endParaRPr lang="en-US" sz="9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122" y="2987725"/>
            <a:ext cx="184046" cy="184051"/>
          </a:xfrm>
          <a:prstGeom prst="rect">
            <a:avLst/>
          </a:prstGeom>
        </p:spPr>
      </p:pic>
      <p:sp>
        <p:nvSpPr>
          <p:cNvPr id="11" name="Text 7"/>
          <p:cNvSpPr/>
          <p:nvPr/>
        </p:nvSpPr>
        <p:spPr>
          <a:xfrm>
            <a:off x="1096836" y="2983905"/>
            <a:ext cx="4849294" cy="180380"/>
          </a:xfrm>
          <a:prstGeom prst="rect">
            <a:avLst/>
          </a:prstGeom>
          <a:noFill/>
          <a:ln/>
        </p:spPr>
        <p:txBody>
          <a:bodyPr wrap="none" lIns="0" tIns="0" rIns="0" bIns="0" rtlCol="0" anchor="t"/>
          <a:lstStyle/>
          <a:p>
            <a:pPr algn="l" indent="0" marL="0">
              <a:lnSpc>
                <a:spcPct val="104000"/>
              </a:lnSpc>
              <a:buNone/>
            </a:pPr>
            <a:r>
              <a:rPr lang="en-US" sz="1100" dirty="0">
                <a:solidFill>
                  <a:srgbClr val="CAD6DE"/>
                </a:solidFill>
                <a:highlight>
                  <a:srgbClr val="1E3543"/>
                </a:highlight>
                <a:latin typeface="Consolas" pitchFamily="34" charset="0"/>
                <a:ea typeface="Consolas" pitchFamily="34" charset="-122"/>
                <a:cs typeface="Consolas" pitchFamily="34" charset="-120"/>
              </a:rPr>
              <a:t>&lt;nav&gt;</a:t>
            </a:r>
            <a:endParaRPr lang="en-US" sz="1100" dirty="0"/>
          </a:p>
        </p:txBody>
      </p:sp>
      <p:sp>
        <p:nvSpPr>
          <p:cNvPr id="12" name="Text 8"/>
          <p:cNvSpPr/>
          <p:nvPr/>
        </p:nvSpPr>
        <p:spPr>
          <a:xfrm>
            <a:off x="1096836" y="3250505"/>
            <a:ext cx="4849294" cy="167184"/>
          </a:xfrm>
          <a:prstGeom prst="rect">
            <a:avLst/>
          </a:prstGeom>
          <a:noFill/>
          <a:ln/>
        </p:spPr>
        <p:txBody>
          <a:bodyPr wrap="none" lIns="0" tIns="0" rIns="0" bIns="0" rtlCol="0" anchor="t"/>
          <a:lstStyle/>
          <a:p>
            <a:pPr algn="l" indent="0" marL="0">
              <a:lnSpc>
                <a:spcPct val="114000"/>
              </a:lnSpc>
              <a:buNone/>
            </a:pPr>
            <a:r>
              <a:rPr lang="en-US" sz="950" dirty="0">
                <a:solidFill>
                  <a:srgbClr val="CAD6DE"/>
                </a:solidFill>
                <a:latin typeface="Cabin" pitchFamily="34" charset="0"/>
                <a:ea typeface="Cabin" pitchFamily="34" charset="-122"/>
                <a:cs typeface="Cabin" pitchFamily="34" charset="-120"/>
              </a:rPr>
              <a:t>Kumpulan tautan navigasi menuju bagian atau halaman lain.</a:t>
            </a:r>
            <a:endParaRPr lang="en-US" sz="9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4122" y="3594050"/>
            <a:ext cx="184046" cy="184051"/>
          </a:xfrm>
          <a:prstGeom prst="rect">
            <a:avLst/>
          </a:prstGeom>
        </p:spPr>
      </p:pic>
      <p:sp>
        <p:nvSpPr>
          <p:cNvPr id="14" name="Text 9"/>
          <p:cNvSpPr/>
          <p:nvPr/>
        </p:nvSpPr>
        <p:spPr>
          <a:xfrm>
            <a:off x="1096836" y="3590230"/>
            <a:ext cx="4849294" cy="180380"/>
          </a:xfrm>
          <a:prstGeom prst="rect">
            <a:avLst/>
          </a:prstGeom>
          <a:noFill/>
          <a:ln/>
        </p:spPr>
        <p:txBody>
          <a:bodyPr wrap="none" lIns="0" tIns="0" rIns="0" bIns="0" rtlCol="0" anchor="t"/>
          <a:lstStyle/>
          <a:p>
            <a:pPr algn="l" indent="0" marL="0">
              <a:lnSpc>
                <a:spcPct val="104000"/>
              </a:lnSpc>
              <a:buNone/>
            </a:pPr>
            <a:r>
              <a:rPr lang="en-US" sz="1100" dirty="0">
                <a:solidFill>
                  <a:srgbClr val="CAD6DE"/>
                </a:solidFill>
                <a:highlight>
                  <a:srgbClr val="1E3543"/>
                </a:highlight>
                <a:latin typeface="Consolas" pitchFamily="34" charset="0"/>
                <a:ea typeface="Consolas" pitchFamily="34" charset="-122"/>
                <a:cs typeface="Consolas" pitchFamily="34" charset="-120"/>
              </a:rPr>
              <a:t>&lt;main&gt;</a:t>
            </a:r>
            <a:endParaRPr lang="en-US" sz="1100" dirty="0"/>
          </a:p>
        </p:txBody>
      </p:sp>
      <p:sp>
        <p:nvSpPr>
          <p:cNvPr id="15" name="Text 10"/>
          <p:cNvSpPr/>
          <p:nvPr/>
        </p:nvSpPr>
        <p:spPr>
          <a:xfrm>
            <a:off x="1096836" y="3856831"/>
            <a:ext cx="4849294" cy="167184"/>
          </a:xfrm>
          <a:prstGeom prst="rect">
            <a:avLst/>
          </a:prstGeom>
          <a:noFill/>
          <a:ln/>
        </p:spPr>
        <p:txBody>
          <a:bodyPr wrap="none" lIns="0" tIns="0" rIns="0" bIns="0" rtlCol="0" anchor="t"/>
          <a:lstStyle/>
          <a:p>
            <a:pPr algn="l" indent="0" marL="0">
              <a:lnSpc>
                <a:spcPct val="114000"/>
              </a:lnSpc>
              <a:buNone/>
            </a:pPr>
            <a:r>
              <a:rPr lang="en-US" sz="950" dirty="0">
                <a:solidFill>
                  <a:srgbClr val="CAD6DE"/>
                </a:solidFill>
                <a:latin typeface="Cabin" pitchFamily="34" charset="0"/>
                <a:ea typeface="Cabin" pitchFamily="34" charset="-122"/>
                <a:cs typeface="Cabin" pitchFamily="34" charset="-120"/>
              </a:rPr>
              <a:t>Konten utama halaman, hanya boleh ada satu dalam satu halaman.</a:t>
            </a:r>
            <a:endParaRPr lang="en-US" sz="95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4122" y="4200376"/>
            <a:ext cx="184046" cy="184051"/>
          </a:xfrm>
          <a:prstGeom prst="rect">
            <a:avLst/>
          </a:prstGeom>
        </p:spPr>
      </p:pic>
      <p:sp>
        <p:nvSpPr>
          <p:cNvPr id="17" name="Text 11"/>
          <p:cNvSpPr/>
          <p:nvPr/>
        </p:nvSpPr>
        <p:spPr>
          <a:xfrm>
            <a:off x="1096836" y="4196556"/>
            <a:ext cx="4849294" cy="180380"/>
          </a:xfrm>
          <a:prstGeom prst="rect">
            <a:avLst/>
          </a:prstGeom>
          <a:noFill/>
          <a:ln/>
        </p:spPr>
        <p:txBody>
          <a:bodyPr wrap="none" lIns="0" tIns="0" rIns="0" bIns="0" rtlCol="0" anchor="t"/>
          <a:lstStyle/>
          <a:p>
            <a:pPr algn="l" indent="0" marL="0">
              <a:lnSpc>
                <a:spcPct val="104000"/>
              </a:lnSpc>
              <a:buNone/>
            </a:pPr>
            <a:r>
              <a:rPr lang="en-US" sz="1100" dirty="0">
                <a:solidFill>
                  <a:srgbClr val="CAD6DE"/>
                </a:solidFill>
                <a:highlight>
                  <a:srgbClr val="1E3543"/>
                </a:highlight>
                <a:latin typeface="Consolas" pitchFamily="34" charset="0"/>
                <a:ea typeface="Consolas" pitchFamily="34" charset="-122"/>
                <a:cs typeface="Consolas" pitchFamily="34" charset="-120"/>
              </a:rPr>
              <a:t>&lt;section&gt;</a:t>
            </a:r>
            <a:endParaRPr lang="en-US" sz="1100" dirty="0"/>
          </a:p>
        </p:txBody>
      </p:sp>
      <p:sp>
        <p:nvSpPr>
          <p:cNvPr id="18" name="Text 12"/>
          <p:cNvSpPr/>
          <p:nvPr/>
        </p:nvSpPr>
        <p:spPr>
          <a:xfrm>
            <a:off x="1096836" y="4463157"/>
            <a:ext cx="4849294" cy="167184"/>
          </a:xfrm>
          <a:prstGeom prst="rect">
            <a:avLst/>
          </a:prstGeom>
          <a:noFill/>
          <a:ln/>
        </p:spPr>
        <p:txBody>
          <a:bodyPr wrap="none" lIns="0" tIns="0" rIns="0" bIns="0" rtlCol="0" anchor="t"/>
          <a:lstStyle/>
          <a:p>
            <a:pPr algn="l" indent="0" marL="0">
              <a:lnSpc>
                <a:spcPct val="114000"/>
              </a:lnSpc>
              <a:buNone/>
            </a:pPr>
            <a:r>
              <a:rPr lang="en-US" sz="950" dirty="0">
                <a:solidFill>
                  <a:srgbClr val="CAD6DE"/>
                </a:solidFill>
                <a:latin typeface="Cabin" pitchFamily="34" charset="0"/>
                <a:ea typeface="Cabin" pitchFamily="34" charset="-122"/>
                <a:cs typeface="Cabin" pitchFamily="34" charset="-120"/>
              </a:rPr>
              <a:t>Pengelompokan konten yang berdiri sendiri, misalnya bagian "Fitur" atau "Testimoni".</a:t>
            </a:r>
            <a:endParaRPr lang="en-US" sz="95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4122" y="4806702"/>
            <a:ext cx="184046" cy="184051"/>
          </a:xfrm>
          <a:prstGeom prst="rect">
            <a:avLst/>
          </a:prstGeom>
        </p:spPr>
      </p:pic>
      <p:sp>
        <p:nvSpPr>
          <p:cNvPr id="20" name="Text 13"/>
          <p:cNvSpPr/>
          <p:nvPr/>
        </p:nvSpPr>
        <p:spPr>
          <a:xfrm>
            <a:off x="1096836" y="4802882"/>
            <a:ext cx="4849294" cy="180380"/>
          </a:xfrm>
          <a:prstGeom prst="rect">
            <a:avLst/>
          </a:prstGeom>
          <a:noFill/>
          <a:ln/>
        </p:spPr>
        <p:txBody>
          <a:bodyPr wrap="none" lIns="0" tIns="0" rIns="0" bIns="0" rtlCol="0" anchor="t"/>
          <a:lstStyle/>
          <a:p>
            <a:pPr algn="l" indent="0" marL="0">
              <a:lnSpc>
                <a:spcPct val="104000"/>
              </a:lnSpc>
              <a:buNone/>
            </a:pPr>
            <a:r>
              <a:rPr lang="en-US" sz="1100" dirty="0">
                <a:solidFill>
                  <a:srgbClr val="CAD6DE"/>
                </a:solidFill>
                <a:highlight>
                  <a:srgbClr val="1E3543"/>
                </a:highlight>
                <a:latin typeface="Consolas" pitchFamily="34" charset="0"/>
                <a:ea typeface="Consolas" pitchFamily="34" charset="-122"/>
                <a:cs typeface="Consolas" pitchFamily="34" charset="-120"/>
              </a:rPr>
              <a:t>&lt;footer&gt;</a:t>
            </a:r>
            <a:endParaRPr lang="en-US" sz="1100" dirty="0"/>
          </a:p>
        </p:txBody>
      </p:sp>
      <p:sp>
        <p:nvSpPr>
          <p:cNvPr id="21" name="Text 14"/>
          <p:cNvSpPr/>
          <p:nvPr/>
        </p:nvSpPr>
        <p:spPr>
          <a:xfrm>
            <a:off x="1096836" y="5069483"/>
            <a:ext cx="4849294" cy="167184"/>
          </a:xfrm>
          <a:prstGeom prst="rect">
            <a:avLst/>
          </a:prstGeom>
          <a:noFill/>
          <a:ln/>
        </p:spPr>
        <p:txBody>
          <a:bodyPr wrap="none" lIns="0" tIns="0" rIns="0" bIns="0" rtlCol="0" anchor="t"/>
          <a:lstStyle/>
          <a:p>
            <a:pPr algn="l" indent="0" marL="0">
              <a:lnSpc>
                <a:spcPct val="114000"/>
              </a:lnSpc>
              <a:buNone/>
            </a:pPr>
            <a:r>
              <a:rPr lang="en-US" sz="950" dirty="0">
                <a:solidFill>
                  <a:srgbClr val="CAD6DE"/>
                </a:solidFill>
                <a:latin typeface="Cabin" pitchFamily="34" charset="0"/>
                <a:ea typeface="Cabin" pitchFamily="34" charset="-122"/>
                <a:cs typeface="Cabin" pitchFamily="34" charset="-120"/>
              </a:rPr>
              <a:t>Bagian kaki halaman, biasanya berisi hak cipta dan tautan tambahan.</a:t>
            </a:r>
            <a:endParaRPr lang="en-US" sz="950" dirty="0"/>
          </a:p>
        </p:txBody>
      </p:sp>
      <p:sp>
        <p:nvSpPr>
          <p:cNvPr id="22" name="Text 15"/>
          <p:cNvSpPr/>
          <p:nvPr/>
        </p:nvSpPr>
        <p:spPr>
          <a:xfrm>
            <a:off x="6251915" y="1345208"/>
            <a:ext cx="5248044" cy="180380"/>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Unbounded" pitchFamily="34" charset="0"/>
                <a:ea typeface="Unbounded" pitchFamily="34" charset="-122"/>
                <a:cs typeface="Unbounded" pitchFamily="34" charset="-120"/>
              </a:rPr>
              <a:t>CSS: Box Model, Flexbox &amp; Grid</a:t>
            </a:r>
            <a:endParaRPr lang="en-US" sz="1100" dirty="0"/>
          </a:p>
        </p:txBody>
      </p:sp>
      <p:sp>
        <p:nvSpPr>
          <p:cNvPr id="23" name="Text 16"/>
          <p:cNvSpPr/>
          <p:nvPr/>
        </p:nvSpPr>
        <p:spPr>
          <a:xfrm>
            <a:off x="6251915" y="1611809"/>
            <a:ext cx="5248044" cy="913507"/>
          </a:xfrm>
          <a:prstGeom prst="rect">
            <a:avLst/>
          </a:prstGeom>
          <a:noFill/>
          <a:ln/>
        </p:spPr>
        <p:txBody>
          <a:bodyPr wrap="square" lIns="0" tIns="0" rIns="0" bIns="0" rtlCol="0" anchor="t">
            <a:normAutofit/>
          </a:bodyPr>
          <a:lstStyle/>
          <a:p>
            <a:pPr algn="l" indent="0" marL="0">
              <a:lnSpc>
                <a:spcPct val="114000"/>
              </a:lnSpc>
              <a:spcAft>
                <a:spcPts val="600"/>
              </a:spcAft>
              <a:buNone/>
            </a:pPr>
            <a:r>
              <a:rPr lang="en-US" sz="950" dirty="0">
                <a:solidFill>
                  <a:srgbClr val="CAD6DE"/>
                </a:solidFill>
                <a:latin typeface="Cabin" pitchFamily="34" charset="0"/>
                <a:ea typeface="Cabin" pitchFamily="34" charset="-122"/>
                <a:cs typeface="Cabin" pitchFamily="34" charset="-120"/>
              </a:rPr>
              <a:t>CSS (Cascading Style Sheets) mengatur tampilan halaman: warna, ukuran, jarak antar elemen, hingga tata letak keseluruhan. Setiap elemen HTML pada dasarnya adalah sebuah "kotak" yang memiliki </a:t>
            </a:r>
            <a:pPr algn="l" indent="0" marL="0">
              <a:lnSpc>
                <a:spcPct val="114000"/>
              </a:lnSpc>
              <a:spcAft>
                <a:spcPts val="600"/>
              </a:spcAft>
              <a:buNone/>
            </a:pPr>
            <a:r>
              <a:rPr lang="en-US" sz="950" b="1" dirty="0">
                <a:solidFill>
                  <a:srgbClr val="CAD6DE"/>
                </a:solidFill>
                <a:latin typeface="Cabin Bold" pitchFamily="34" charset="0"/>
                <a:ea typeface="Cabin Bold" pitchFamily="34" charset="-122"/>
                <a:cs typeface="Cabin Bold" pitchFamily="34" charset="-120"/>
              </a:rPr>
              <a:t>content</a:t>
            </a:r>
            <a:pPr algn="l" indent="0" marL="0">
              <a:lnSpc>
                <a:spcPct val="114000"/>
              </a:lnSpc>
              <a:spcAft>
                <a:spcPts val="600"/>
              </a:spcAft>
              <a:buNone/>
            </a:pPr>
            <a:r>
              <a:rPr lang="en-US" sz="950" dirty="0">
                <a:solidFill>
                  <a:srgbClr val="CAD6DE"/>
                </a:solidFill>
                <a:latin typeface="Cabin" pitchFamily="34" charset="0"/>
                <a:ea typeface="Cabin" pitchFamily="34" charset="-122"/>
                <a:cs typeface="Cabin" pitchFamily="34" charset="-120"/>
              </a:rPr>
              <a:t> (isi), </a:t>
            </a:r>
            <a:pPr algn="l" indent="0" marL="0">
              <a:lnSpc>
                <a:spcPct val="114000"/>
              </a:lnSpc>
              <a:spcAft>
                <a:spcPts val="600"/>
              </a:spcAft>
              <a:buNone/>
            </a:pPr>
            <a:r>
              <a:rPr lang="en-US" sz="950" b="1" dirty="0">
                <a:solidFill>
                  <a:srgbClr val="CAD6DE"/>
                </a:solidFill>
                <a:latin typeface="Cabin Bold" pitchFamily="34" charset="0"/>
                <a:ea typeface="Cabin Bold" pitchFamily="34" charset="-122"/>
                <a:cs typeface="Cabin Bold" pitchFamily="34" charset="-120"/>
              </a:rPr>
              <a:t>padding</a:t>
            </a:r>
            <a:pPr algn="l" indent="0" marL="0">
              <a:lnSpc>
                <a:spcPct val="114000"/>
              </a:lnSpc>
              <a:spcAft>
                <a:spcPts val="600"/>
              </a:spcAft>
              <a:buNone/>
            </a:pPr>
            <a:r>
              <a:rPr lang="en-US" sz="950" dirty="0">
                <a:solidFill>
                  <a:srgbClr val="CAD6DE"/>
                </a:solidFill>
                <a:latin typeface="Cabin" pitchFamily="34" charset="0"/>
                <a:ea typeface="Cabin" pitchFamily="34" charset="-122"/>
                <a:cs typeface="Cabin" pitchFamily="34" charset="-120"/>
              </a:rPr>
              <a:t> (jarak dalam), </a:t>
            </a:r>
            <a:pPr algn="l" indent="0" marL="0">
              <a:lnSpc>
                <a:spcPct val="114000"/>
              </a:lnSpc>
              <a:spcAft>
                <a:spcPts val="600"/>
              </a:spcAft>
              <a:buNone/>
            </a:pPr>
            <a:r>
              <a:rPr lang="en-US" sz="950" b="1" dirty="0">
                <a:solidFill>
                  <a:srgbClr val="CAD6DE"/>
                </a:solidFill>
                <a:latin typeface="Cabin Bold" pitchFamily="34" charset="0"/>
                <a:ea typeface="Cabin Bold" pitchFamily="34" charset="-122"/>
                <a:cs typeface="Cabin Bold" pitchFamily="34" charset="-120"/>
              </a:rPr>
              <a:t>border</a:t>
            </a:r>
            <a:pPr algn="l" indent="0" marL="0">
              <a:lnSpc>
                <a:spcPct val="114000"/>
              </a:lnSpc>
              <a:spcAft>
                <a:spcPts val="600"/>
              </a:spcAft>
              <a:buNone/>
            </a:pPr>
            <a:r>
              <a:rPr lang="en-US" sz="950" dirty="0">
                <a:solidFill>
                  <a:srgbClr val="CAD6DE"/>
                </a:solidFill>
                <a:latin typeface="Cabin" pitchFamily="34" charset="0"/>
                <a:ea typeface="Cabin" pitchFamily="34" charset="-122"/>
                <a:cs typeface="Cabin" pitchFamily="34" charset="-120"/>
              </a:rPr>
              <a:t> (garis tepi), dan </a:t>
            </a:r>
            <a:pPr algn="l" indent="0" marL="0">
              <a:lnSpc>
                <a:spcPct val="114000"/>
              </a:lnSpc>
              <a:spcAft>
                <a:spcPts val="600"/>
              </a:spcAft>
              <a:buNone/>
            </a:pPr>
            <a:r>
              <a:rPr lang="en-US" sz="950" b="1" dirty="0">
                <a:solidFill>
                  <a:srgbClr val="CAD6DE"/>
                </a:solidFill>
                <a:latin typeface="Cabin Bold" pitchFamily="34" charset="0"/>
                <a:ea typeface="Cabin Bold" pitchFamily="34" charset="-122"/>
                <a:cs typeface="Cabin Bold" pitchFamily="34" charset="-120"/>
              </a:rPr>
              <a:t>margin</a:t>
            </a:r>
            <a:pPr algn="l" indent="0" marL="0">
              <a:lnSpc>
                <a:spcPct val="114000"/>
              </a:lnSpc>
              <a:spcAft>
                <a:spcPts val="600"/>
              </a:spcAft>
              <a:buNone/>
            </a:pPr>
            <a:r>
              <a:rPr lang="en-US" sz="950" dirty="0">
                <a:solidFill>
                  <a:srgbClr val="CAD6DE"/>
                </a:solidFill>
                <a:latin typeface="Cabin" pitchFamily="34" charset="0"/>
                <a:ea typeface="Cabin" pitchFamily="34" charset="-122"/>
                <a:cs typeface="Cabin" pitchFamily="34" charset="-120"/>
              </a:rPr>
              <a:t> (jarak luar).</a:t>
            </a:r>
            <a:endParaRPr lang="en-US" sz="950" dirty="0"/>
          </a:p>
          <a:p>
            <a:pPr algn="l" indent="0" marL="0">
              <a:lnSpc>
                <a:spcPct val="114000"/>
              </a:lnSpc>
              <a:buNone/>
            </a:pPr>
            <a:r>
              <a:rPr lang="en-US" sz="950" b="1" dirty="0">
                <a:solidFill>
                  <a:srgbClr val="CAD6DE"/>
                </a:solidFill>
                <a:latin typeface="Cabin Bold" pitchFamily="34" charset="0"/>
                <a:ea typeface="Cabin Bold" pitchFamily="34" charset="-122"/>
                <a:cs typeface="Cabin Bold" pitchFamily="34" charset="-120"/>
              </a:rPr>
              <a:t>Flexbox</a:t>
            </a:r>
            <a:pPr algn="l" indent="0" marL="0">
              <a:lnSpc>
                <a:spcPct val="114000"/>
              </a:lnSpc>
              <a:buNone/>
            </a:pPr>
            <a:r>
              <a:rPr lang="en-US" sz="950" dirty="0">
                <a:solidFill>
                  <a:srgbClr val="CAD6DE"/>
                </a:solidFill>
                <a:latin typeface="Cabin" pitchFamily="34" charset="0"/>
                <a:ea typeface="Cabin" pitchFamily="34" charset="-122"/>
                <a:cs typeface="Cabin" pitchFamily="34" charset="-120"/>
              </a:rPr>
              <a:t> cocok untuk menyusun elemen dalam satu baris atau kolom (misalnya menu navigasi horizontal atau kartu produk berjajar):</a:t>
            </a:r>
            <a:endParaRPr lang="en-US" sz="950" dirty="0"/>
          </a:p>
        </p:txBody>
      </p:sp>
      <p:sp>
        <p:nvSpPr>
          <p:cNvPr id="24" name="Shape 17"/>
          <p:cNvSpPr/>
          <p:nvPr/>
        </p:nvSpPr>
        <p:spPr>
          <a:xfrm>
            <a:off x="6251915" y="2622352"/>
            <a:ext cx="5248044" cy="1423392"/>
          </a:xfrm>
          <a:prstGeom prst="roundRect">
            <a:avLst>
              <a:gd name="adj" fmla="val 1293"/>
            </a:avLst>
          </a:prstGeom>
          <a:solidFill>
            <a:srgbClr val="1E3543"/>
          </a:solidFill>
          <a:ln/>
        </p:spPr>
      </p:sp>
      <p:sp>
        <p:nvSpPr>
          <p:cNvPr id="25" name="Text 18"/>
          <p:cNvSpPr/>
          <p:nvPr/>
        </p:nvSpPr>
        <p:spPr>
          <a:xfrm>
            <a:off x="6399152" y="2744986"/>
            <a:ext cx="4953571" cy="1178123"/>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9C0FF"/>
                </a:solidFill>
                <a:latin typeface="Consolas" pitchFamily="34" charset="0"/>
                <a:ea typeface="Consolas" pitchFamily="34" charset="-122"/>
                <a:cs typeface="Consolas" pitchFamily="34" charset="-120"/>
              </a:rPr>
              <a:t>.navigasi {</a:t>
            </a:r>
            <a:endParaRPr lang="en-US" sz="950" dirty="0"/>
          </a:p>
          <a:p>
            <a:pPr algn="l" indent="0" marL="0">
              <a:lnSpc>
                <a:spcPct val="133000"/>
              </a:lnSpc>
              <a:buNone/>
            </a:pPr>
            <a:r>
              <a:rPr lang="en-US" sz="950" dirty="0">
                <a:solidFill>
                  <a:srgbClr val="79C0FF"/>
                </a:solidFill>
                <a:latin typeface="Consolas" pitchFamily="34" charset="0"/>
                <a:ea typeface="Consolas" pitchFamily="34" charset="-122"/>
                <a:cs typeface="Consolas" pitchFamily="34" charset="-120"/>
              </a:rPr>
              <a:t>  display: flex;</a:t>
            </a:r>
            <a:endParaRPr lang="en-US" sz="950" dirty="0"/>
          </a:p>
          <a:p>
            <a:pPr algn="l" indent="0" marL="0">
              <a:lnSpc>
                <a:spcPct val="133000"/>
              </a:lnSpc>
              <a:buNone/>
            </a:pPr>
            <a:r>
              <a:rPr lang="en-US" sz="950" dirty="0">
                <a:solidFill>
                  <a:srgbClr val="79C0FF"/>
                </a:solidFill>
                <a:latin typeface="Consolas" pitchFamily="34" charset="0"/>
                <a:ea typeface="Consolas" pitchFamily="34" charset="-122"/>
                <a:cs typeface="Consolas" pitchFamily="34" charset="-120"/>
              </a:rPr>
              <a:t>  justify-content: space-between;</a:t>
            </a:r>
            <a:endParaRPr lang="en-US" sz="950" dirty="0"/>
          </a:p>
          <a:p>
            <a:pPr algn="l" indent="0" marL="0">
              <a:lnSpc>
                <a:spcPct val="133000"/>
              </a:lnSpc>
              <a:buNone/>
            </a:pPr>
            <a:r>
              <a:rPr lang="en-US" sz="950" dirty="0">
                <a:solidFill>
                  <a:srgbClr val="79C0FF"/>
                </a:solidFill>
                <a:latin typeface="Consolas" pitchFamily="34" charset="0"/>
                <a:ea typeface="Consolas" pitchFamily="34" charset="-122"/>
                <a:cs typeface="Consolas" pitchFamily="34" charset="-120"/>
              </a:rPr>
              <a:t>  align-items: center;</a:t>
            </a:r>
            <a:endParaRPr lang="en-US" sz="950" dirty="0"/>
          </a:p>
          <a:p>
            <a:pPr algn="l" indent="0" marL="0">
              <a:lnSpc>
                <a:spcPct val="133000"/>
              </a:lnSpc>
              <a:buNone/>
            </a:pPr>
            <a:r>
              <a:rPr lang="en-US" sz="950" dirty="0">
                <a:solidFill>
                  <a:srgbClr val="79C0FF"/>
                </a:solidFill>
                <a:latin typeface="Consolas" pitchFamily="34" charset="0"/>
                <a:ea typeface="Consolas" pitchFamily="34" charset="-122"/>
                <a:cs typeface="Consolas" pitchFamily="34" charset="-120"/>
              </a:rPr>
              <a:t>  gap: 16px;</a:t>
            </a:r>
            <a:endParaRPr lang="en-US" sz="950" dirty="0"/>
          </a:p>
          <a:p>
            <a:pPr algn="l" indent="0" marL="0">
              <a:lnSpc>
                <a:spcPct val="133000"/>
              </a:lnSpc>
              <a:buNone/>
            </a:pPr>
            <a:r>
              <a:rPr lang="en-US" sz="950" dirty="0">
                <a:solidFill>
                  <a:srgbClr val="79C0FF"/>
                </a:solidFill>
                <a:latin typeface="Consolas" pitchFamily="34" charset="0"/>
                <a:ea typeface="Consolas" pitchFamily="34" charset="-122"/>
                <a:cs typeface="Consolas" pitchFamily="34" charset="-120"/>
              </a:rPr>
              <a:t>}</a:t>
            </a:r>
            <a:endParaRPr lang="en-US" sz="950" dirty="0"/>
          </a:p>
        </p:txBody>
      </p:sp>
      <p:sp>
        <p:nvSpPr>
          <p:cNvPr id="26" name="Text 19"/>
          <p:cNvSpPr/>
          <p:nvPr/>
        </p:nvSpPr>
        <p:spPr>
          <a:xfrm>
            <a:off x="6251915" y="4142780"/>
            <a:ext cx="5248044" cy="334367"/>
          </a:xfrm>
          <a:prstGeom prst="rect">
            <a:avLst/>
          </a:prstGeom>
          <a:noFill/>
          <a:ln/>
        </p:spPr>
        <p:txBody>
          <a:bodyPr wrap="square" lIns="0" tIns="0" rIns="0" bIns="0" rtlCol="0" anchor="t">
            <a:normAutofit/>
          </a:bodyPr>
          <a:lstStyle/>
          <a:p>
            <a:pPr algn="l" indent="0" marL="0">
              <a:lnSpc>
                <a:spcPct val="114000"/>
              </a:lnSpc>
              <a:buNone/>
            </a:pPr>
            <a:r>
              <a:rPr lang="en-US" sz="950" b="1" dirty="0">
                <a:solidFill>
                  <a:srgbClr val="CAD6DE"/>
                </a:solidFill>
                <a:latin typeface="Cabin Bold" pitchFamily="34" charset="0"/>
                <a:ea typeface="Cabin Bold" pitchFamily="34" charset="-122"/>
                <a:cs typeface="Cabin Bold" pitchFamily="34" charset="-120"/>
              </a:rPr>
              <a:t>CSS Grid</a:t>
            </a:r>
            <a:pPr algn="l" indent="0" marL="0">
              <a:lnSpc>
                <a:spcPct val="114000"/>
              </a:lnSpc>
              <a:buNone/>
            </a:pPr>
            <a:r>
              <a:rPr lang="en-US" sz="950" dirty="0">
                <a:solidFill>
                  <a:srgbClr val="CAD6DE"/>
                </a:solidFill>
                <a:latin typeface="Cabin" pitchFamily="34" charset="0"/>
                <a:ea typeface="Cabin" pitchFamily="34" charset="-122"/>
                <a:cs typeface="Cabin" pitchFamily="34" charset="-120"/>
              </a:rPr>
              <a:t> cocok untuk tata letak baris dan kolom sekaligus (misalnya galeri gambar atau susunan kartu fitur):</a:t>
            </a:r>
            <a:endParaRPr lang="en-US" sz="950" dirty="0"/>
          </a:p>
        </p:txBody>
      </p:sp>
      <p:sp>
        <p:nvSpPr>
          <p:cNvPr id="27" name="Shape 20"/>
          <p:cNvSpPr/>
          <p:nvPr/>
        </p:nvSpPr>
        <p:spPr>
          <a:xfrm>
            <a:off x="6251915" y="4574183"/>
            <a:ext cx="5248044" cy="1227038"/>
          </a:xfrm>
          <a:prstGeom prst="roundRect">
            <a:avLst>
              <a:gd name="adj" fmla="val 1500"/>
            </a:avLst>
          </a:prstGeom>
          <a:solidFill>
            <a:srgbClr val="1E3543"/>
          </a:solidFill>
          <a:ln/>
        </p:spPr>
      </p:sp>
      <p:sp>
        <p:nvSpPr>
          <p:cNvPr id="28" name="Text 21"/>
          <p:cNvSpPr/>
          <p:nvPr/>
        </p:nvSpPr>
        <p:spPr>
          <a:xfrm>
            <a:off x="6399152" y="4696817"/>
            <a:ext cx="4953571" cy="981770"/>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9C0FF"/>
                </a:solidFill>
                <a:latin typeface="Consolas" pitchFamily="34" charset="0"/>
                <a:ea typeface="Consolas" pitchFamily="34" charset="-122"/>
                <a:cs typeface="Consolas" pitchFamily="34" charset="-120"/>
              </a:rPr>
              <a:t>.daftar-fitur {</a:t>
            </a:r>
            <a:endParaRPr lang="en-US" sz="950" dirty="0"/>
          </a:p>
          <a:p>
            <a:pPr algn="l" indent="0" marL="0">
              <a:lnSpc>
                <a:spcPct val="133000"/>
              </a:lnSpc>
              <a:buNone/>
            </a:pPr>
            <a:r>
              <a:rPr lang="en-US" sz="950" dirty="0">
                <a:solidFill>
                  <a:srgbClr val="79C0FF"/>
                </a:solidFill>
                <a:latin typeface="Consolas" pitchFamily="34" charset="0"/>
                <a:ea typeface="Consolas" pitchFamily="34" charset="-122"/>
                <a:cs typeface="Consolas" pitchFamily="34" charset="-120"/>
              </a:rPr>
              <a:t>  display: grid;</a:t>
            </a:r>
            <a:endParaRPr lang="en-US" sz="950" dirty="0"/>
          </a:p>
          <a:p>
            <a:pPr algn="l" indent="0" marL="0">
              <a:lnSpc>
                <a:spcPct val="133000"/>
              </a:lnSpc>
              <a:buNone/>
            </a:pPr>
            <a:r>
              <a:rPr lang="en-US" sz="950" dirty="0">
                <a:solidFill>
                  <a:srgbClr val="79C0FF"/>
                </a:solidFill>
                <a:latin typeface="Consolas" pitchFamily="34" charset="0"/>
                <a:ea typeface="Consolas" pitchFamily="34" charset="-122"/>
                <a:cs typeface="Consolas" pitchFamily="34" charset="-120"/>
              </a:rPr>
              <a:t>  grid-template-columns: repeat(3, 1fr);</a:t>
            </a:r>
            <a:endParaRPr lang="en-US" sz="950" dirty="0"/>
          </a:p>
          <a:p>
            <a:pPr algn="l" indent="0" marL="0">
              <a:lnSpc>
                <a:spcPct val="133000"/>
              </a:lnSpc>
              <a:buNone/>
            </a:pPr>
            <a:r>
              <a:rPr lang="en-US" sz="950" dirty="0">
                <a:solidFill>
                  <a:srgbClr val="79C0FF"/>
                </a:solidFill>
                <a:latin typeface="Consolas" pitchFamily="34" charset="0"/>
                <a:ea typeface="Consolas" pitchFamily="34" charset="-122"/>
                <a:cs typeface="Consolas" pitchFamily="34" charset="-120"/>
              </a:rPr>
              <a:t>  gap: 20px;</a:t>
            </a:r>
            <a:endParaRPr lang="en-US" sz="950" dirty="0"/>
          </a:p>
          <a:p>
            <a:pPr algn="l" indent="0" marL="0">
              <a:lnSpc>
                <a:spcPct val="133000"/>
              </a:lnSpc>
              <a:buNone/>
            </a:pPr>
            <a:r>
              <a:rPr lang="en-US" sz="950" dirty="0">
                <a:solidFill>
                  <a:srgbClr val="79C0FF"/>
                </a:solidFill>
                <a:latin typeface="Consolas" pitchFamily="34" charset="0"/>
                <a:ea typeface="Consolas" pitchFamily="34" charset="-122"/>
                <a:cs typeface="Consolas" pitchFamily="34" charset="-120"/>
              </a:rPr>
              <a:t>}</a:t>
            </a:r>
            <a:endParaRPr lang="en-US" sz="950" dirty="0"/>
          </a:p>
        </p:txBody>
      </p:sp>
      <p:sp>
        <p:nvSpPr>
          <p:cNvPr id="29" name="Text 22"/>
          <p:cNvSpPr/>
          <p:nvPr/>
        </p:nvSpPr>
        <p:spPr>
          <a:xfrm>
            <a:off x="6251915" y="5898257"/>
            <a:ext cx="5248044" cy="334367"/>
          </a:xfrm>
          <a:prstGeom prst="rect">
            <a:avLst/>
          </a:prstGeom>
          <a:noFill/>
          <a:ln/>
        </p:spPr>
        <p:txBody>
          <a:bodyPr wrap="square" lIns="0" tIns="0" rIns="0" bIns="0" rtlCol="0" anchor="t">
            <a:normAutofit/>
          </a:bodyPr>
          <a:lstStyle/>
          <a:p>
            <a:pPr algn="l" indent="0" marL="0">
              <a:lnSpc>
                <a:spcPct val="114000"/>
              </a:lnSpc>
              <a:buNone/>
            </a:pPr>
            <a:r>
              <a:rPr lang="en-US" sz="950" dirty="0">
                <a:solidFill>
                  <a:srgbClr val="CAD6DE"/>
                </a:solidFill>
                <a:latin typeface="Cabin" pitchFamily="34" charset="0"/>
                <a:ea typeface="Cabin" pitchFamily="34" charset="-122"/>
                <a:cs typeface="Cabin" pitchFamily="34" charset="-120"/>
              </a:rPr>
              <a:t>Kombinasi flexbox dan grid inilah yang akan banyak dipakai sepanjang bootcamp untuk membangun tata letak halaman yang rapi dan responsif.</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98086" y="567134"/>
            <a:ext cx="1071139" cy="157460"/>
          </a:xfrm>
          <a:prstGeom prst="roundRect">
            <a:avLst>
              <a:gd name="adj" fmla="val 7898"/>
            </a:avLst>
          </a:prstGeom>
          <a:solidFill>
            <a:srgbClr val="054842"/>
          </a:solidFill>
          <a:ln/>
        </p:spPr>
      </p:sp>
      <p:sp>
        <p:nvSpPr>
          <p:cNvPr id="3" name="Text 1"/>
          <p:cNvSpPr/>
          <p:nvPr/>
        </p:nvSpPr>
        <p:spPr>
          <a:xfrm>
            <a:off x="760195" y="598190"/>
            <a:ext cx="1556505" cy="95349"/>
          </a:xfrm>
          <a:prstGeom prst="rect">
            <a:avLst/>
          </a:prstGeom>
          <a:noFill/>
          <a:ln/>
        </p:spPr>
        <p:txBody>
          <a:bodyPr wrap="none" lIns="0" tIns="0" rIns="0" bIns="0" rtlCol="0" anchor="t"/>
          <a:lstStyle/>
          <a:p>
            <a:pPr algn="l" indent="0" marL="0">
              <a:lnSpc>
                <a:spcPct val="96000"/>
              </a:lnSpc>
              <a:buNone/>
            </a:pPr>
            <a:r>
              <a:rPr lang="en-US" sz="650" dirty="0">
                <a:solidFill>
                  <a:srgbClr val="CAD6DE"/>
                </a:solidFill>
                <a:latin typeface="Cabin" pitchFamily="34" charset="0"/>
                <a:ea typeface="Cabin" pitchFamily="34" charset="-122"/>
                <a:cs typeface="Cabin" pitchFamily="34" charset="-120"/>
              </a:rPr>
              <a:t>BOOTCAMP VIBE CODING</a:t>
            </a:r>
            <a:endParaRPr lang="en-US" sz="650" dirty="0"/>
          </a:p>
        </p:txBody>
      </p:sp>
      <p:sp>
        <p:nvSpPr>
          <p:cNvPr id="4" name="Text 2"/>
          <p:cNvSpPr/>
          <p:nvPr/>
        </p:nvSpPr>
        <p:spPr>
          <a:xfrm>
            <a:off x="698086" y="749201"/>
            <a:ext cx="10795524" cy="304800"/>
          </a:xfrm>
          <a:prstGeom prst="rect">
            <a:avLst/>
          </a:prstGeom>
          <a:noFill/>
          <a:ln/>
        </p:spPr>
        <p:txBody>
          <a:bodyPr wrap="none" lIns="0" tIns="0" rIns="0" bIns="0" rtlCol="0" anchor="t"/>
          <a:lstStyle/>
          <a:p>
            <a:pPr algn="l" indent="0" marL="0">
              <a:lnSpc>
                <a:spcPct val="104000"/>
              </a:lnSpc>
              <a:buNone/>
            </a:pPr>
            <a:r>
              <a:rPr lang="en-US" sz="1900" dirty="0">
                <a:solidFill>
                  <a:srgbClr val="FFFFFF"/>
                </a:solidFill>
                <a:latin typeface="Unbounded" pitchFamily="34" charset="0"/>
                <a:ea typeface="Unbounded" pitchFamily="34" charset="-122"/>
                <a:cs typeface="Unbounded" pitchFamily="34" charset="-120"/>
              </a:rPr>
              <a:t>Dasar JavaScript &amp; Cara Membaca Kode AI</a:t>
            </a:r>
            <a:endParaRPr lang="en-US" sz="1900" dirty="0"/>
          </a:p>
        </p:txBody>
      </p:sp>
      <p:sp>
        <p:nvSpPr>
          <p:cNvPr id="5" name="Text 3"/>
          <p:cNvSpPr/>
          <p:nvPr/>
        </p:nvSpPr>
        <p:spPr>
          <a:xfrm>
            <a:off x="698086" y="1207790"/>
            <a:ext cx="5271360" cy="152400"/>
          </a:xfrm>
          <a:prstGeom prst="rect">
            <a:avLst/>
          </a:prstGeom>
          <a:noFill/>
          <a:ln/>
        </p:spPr>
        <p:txBody>
          <a:bodyPr wrap="none" lIns="0" tIns="0" rIns="0" bIns="0" rtlCol="0" anchor="t"/>
          <a:lstStyle/>
          <a:p>
            <a:pPr algn="l" indent="0" marL="0">
              <a:lnSpc>
                <a:spcPct val="104000"/>
              </a:lnSpc>
              <a:buNone/>
            </a:pPr>
            <a:r>
              <a:rPr lang="en-US" sz="950" dirty="0">
                <a:solidFill>
                  <a:srgbClr val="FFFFFF"/>
                </a:solidFill>
                <a:latin typeface="Unbounded" pitchFamily="34" charset="0"/>
                <a:ea typeface="Unbounded" pitchFamily="34" charset="-122"/>
                <a:cs typeface="Unbounded" pitchFamily="34" charset="-120"/>
              </a:rPr>
              <a:t>Tiga Konsep Dasar JavaScript</a:t>
            </a:r>
            <a:endParaRPr lang="en-US" sz="950" dirty="0"/>
          </a:p>
        </p:txBody>
      </p:sp>
      <p:sp>
        <p:nvSpPr>
          <p:cNvPr id="6" name="Text 4"/>
          <p:cNvSpPr/>
          <p:nvPr/>
        </p:nvSpPr>
        <p:spPr>
          <a:xfrm>
            <a:off x="698086" y="1421705"/>
            <a:ext cx="5271360" cy="264319"/>
          </a:xfrm>
          <a:prstGeom prst="rect">
            <a:avLst/>
          </a:prstGeom>
          <a:noFill/>
          <a:ln/>
        </p:spPr>
        <p:txBody>
          <a:bodyPr wrap="square" lIns="0" tIns="0" rIns="0" bIns="0" rtlCol="0" anchor="t">
            <a:normAutofit/>
          </a:bodyPr>
          <a:lstStyle/>
          <a:p>
            <a:pPr algn="l" indent="0" marL="0">
              <a:lnSpc>
                <a:spcPct val="106000"/>
              </a:lnSpc>
              <a:buNone/>
            </a:pPr>
            <a:r>
              <a:rPr lang="en-US" sz="800" dirty="0">
                <a:solidFill>
                  <a:srgbClr val="CAD6DE"/>
                </a:solidFill>
                <a:latin typeface="Cabin" pitchFamily="34" charset="0"/>
                <a:ea typeface="Cabin" pitchFamily="34" charset="-122"/>
                <a:cs typeface="Cabin" pitchFamily="34" charset="-120"/>
              </a:rPr>
              <a:t>Jika HTML adalah struktur dan CSS adalah tampilan, JavaScript adalah bahasa yang memberikan </a:t>
            </a:r>
            <a:pPr algn="l" indent="0" marL="0">
              <a:lnSpc>
                <a:spcPct val="106000"/>
              </a:lnSpc>
              <a:buNone/>
            </a:pPr>
            <a:r>
              <a:rPr lang="en-US" sz="800" b="1" dirty="0">
                <a:solidFill>
                  <a:srgbClr val="CAD6DE"/>
                </a:solidFill>
                <a:latin typeface="Cabin Bold" pitchFamily="34" charset="0"/>
                <a:ea typeface="Cabin Bold" pitchFamily="34" charset="-122"/>
                <a:cs typeface="Cabin Bold" pitchFamily="34" charset="-120"/>
              </a:rPr>
              <a:t>perilaku dan interaktivitas</a:t>
            </a:r>
            <a:pPr algn="l" indent="0" marL="0">
              <a:lnSpc>
                <a:spcPct val="106000"/>
              </a:lnSpc>
              <a:buNone/>
            </a:pPr>
            <a:r>
              <a:rPr lang="en-US" sz="800" dirty="0">
                <a:solidFill>
                  <a:srgbClr val="CAD6DE"/>
                </a:solidFill>
                <a:latin typeface="Cabin" pitchFamily="34" charset="0"/>
                <a:ea typeface="Cabin" pitchFamily="34" charset="-122"/>
                <a:cs typeface="Cabin" pitchFamily="34" charset="-120"/>
              </a:rPr>
              <a:t> pada halaman web.</a:t>
            </a:r>
            <a:endParaRPr lang="en-US" sz="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1755180"/>
            <a:ext cx="5271360" cy="1360289"/>
          </a:xfrm>
          <a:prstGeom prst="rect">
            <a:avLst/>
          </a:prstGeom>
        </p:spPr>
      </p:pic>
      <p:sp>
        <p:nvSpPr>
          <p:cNvPr id="8" name="Text 5"/>
          <p:cNvSpPr/>
          <p:nvPr/>
        </p:nvSpPr>
        <p:spPr>
          <a:xfrm>
            <a:off x="865166" y="1871464"/>
            <a:ext cx="4987999" cy="152400"/>
          </a:xfrm>
          <a:prstGeom prst="rect">
            <a:avLst/>
          </a:prstGeom>
          <a:noFill/>
          <a:ln/>
        </p:spPr>
        <p:txBody>
          <a:bodyPr wrap="none" lIns="0" tIns="0" rIns="0" bIns="0" rtlCol="0" anchor="t"/>
          <a:lstStyle/>
          <a:p>
            <a:pPr algn="l" indent="0" marL="0">
              <a:lnSpc>
                <a:spcPct val="104000"/>
              </a:lnSpc>
              <a:buNone/>
            </a:pPr>
            <a:r>
              <a:rPr lang="en-US" sz="950" dirty="0">
                <a:solidFill>
                  <a:srgbClr val="CAD6DE"/>
                </a:solidFill>
                <a:latin typeface="Unbounded" pitchFamily="34" charset="0"/>
                <a:ea typeface="Unbounded" pitchFamily="34" charset="-122"/>
                <a:cs typeface="Unbounded" pitchFamily="34" charset="-120"/>
              </a:rPr>
              <a:t>Variabel — Tempat Menyimpan Nilai</a:t>
            </a:r>
            <a:endParaRPr lang="en-US" sz="950" dirty="0"/>
          </a:p>
        </p:txBody>
      </p:sp>
      <p:sp>
        <p:nvSpPr>
          <p:cNvPr id="9" name="Shape 6"/>
          <p:cNvSpPr/>
          <p:nvPr/>
        </p:nvSpPr>
        <p:spPr>
          <a:xfrm>
            <a:off x="865166" y="2093020"/>
            <a:ext cx="4987999" cy="704850"/>
          </a:xfrm>
          <a:prstGeom prst="roundRect">
            <a:avLst>
              <a:gd name="adj" fmla="val 2205"/>
            </a:avLst>
          </a:prstGeom>
          <a:solidFill>
            <a:srgbClr val="1E3543"/>
          </a:solidFill>
          <a:ln/>
        </p:spPr>
      </p:sp>
      <p:sp>
        <p:nvSpPr>
          <p:cNvPr id="10" name="Text 7"/>
          <p:cNvSpPr/>
          <p:nvPr/>
        </p:nvSpPr>
        <p:spPr>
          <a:xfrm>
            <a:off x="989484" y="2196604"/>
            <a:ext cx="4739363" cy="497681"/>
          </a:xfrm>
          <a:prstGeom prst="rect">
            <a:avLst/>
          </a:prstGeom>
          <a:noFill/>
          <a:ln/>
        </p:spPr>
        <p:txBody>
          <a:bodyPr wrap="square" lIns="0" tIns="0" rIns="0" bIns="0" rtlCol="0" anchor="t">
            <a:normAutofit/>
          </a:bodyPr>
          <a:lstStyle/>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let namaProduk = "Kopi Susu Gula Aren";</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const harga = 18000;</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console.log(namaProduk, harga);</a:t>
            </a:r>
            <a:endParaRPr lang="en-US" sz="800" dirty="0"/>
          </a:p>
        </p:txBody>
      </p:sp>
      <p:sp>
        <p:nvSpPr>
          <p:cNvPr id="11" name="Text 8"/>
          <p:cNvSpPr/>
          <p:nvPr/>
        </p:nvSpPr>
        <p:spPr>
          <a:xfrm>
            <a:off x="865166" y="2867025"/>
            <a:ext cx="4987999" cy="132159"/>
          </a:xfrm>
          <a:prstGeom prst="rect">
            <a:avLst/>
          </a:prstGeom>
          <a:noFill/>
          <a:ln/>
        </p:spPr>
        <p:txBody>
          <a:bodyPr wrap="none" lIns="0" tIns="0" rIns="0" bIns="0" rtlCol="0" anchor="t"/>
          <a:lstStyle/>
          <a:p>
            <a:pPr algn="l" indent="0" marL="0">
              <a:lnSpc>
                <a:spcPct val="106000"/>
              </a:lnSpc>
              <a:buNone/>
            </a:pPr>
            <a:r>
              <a:rPr lang="en-US" sz="800" dirty="0">
                <a:solidFill>
                  <a:srgbClr val="CAD6DE"/>
                </a:solidFill>
                <a:highlight>
                  <a:srgbClr val="1E3543"/>
                </a:highlight>
                <a:latin typeface="Consolas" pitchFamily="34" charset="0"/>
                <a:ea typeface="Consolas" pitchFamily="34" charset="-122"/>
                <a:cs typeface="Consolas" pitchFamily="34" charset="-120"/>
              </a:rPr>
              <a:t>let</a:t>
            </a:r>
            <a:pPr algn="l" indent="0" marL="0">
              <a:lnSpc>
                <a:spcPct val="106000"/>
              </a:lnSpc>
              <a:buNone/>
            </a:pPr>
            <a:r>
              <a:rPr lang="en-US" sz="800" dirty="0">
                <a:solidFill>
                  <a:srgbClr val="CAD6DE"/>
                </a:solidFill>
                <a:latin typeface="Cabin" pitchFamily="34" charset="0"/>
                <a:ea typeface="Cabin" pitchFamily="34" charset="-122"/>
                <a:cs typeface="Cabin" pitchFamily="34" charset="-120"/>
              </a:rPr>
              <a:t> untuk nilai yang boleh berubah; </a:t>
            </a:r>
            <a:pPr algn="l" indent="0" marL="0">
              <a:lnSpc>
                <a:spcPct val="106000"/>
              </a:lnSpc>
              <a:buNone/>
            </a:pPr>
            <a:r>
              <a:rPr lang="en-US" sz="800" dirty="0">
                <a:solidFill>
                  <a:srgbClr val="CAD6DE"/>
                </a:solidFill>
                <a:highlight>
                  <a:srgbClr val="1E3543"/>
                </a:highlight>
                <a:latin typeface="Consolas" pitchFamily="34" charset="0"/>
                <a:ea typeface="Consolas" pitchFamily="34" charset="-122"/>
                <a:cs typeface="Consolas" pitchFamily="34" charset="-120"/>
              </a:rPr>
              <a:t>const</a:t>
            </a:r>
            <a:pPr algn="l" indent="0" marL="0">
              <a:lnSpc>
                <a:spcPct val="106000"/>
              </a:lnSpc>
              <a:buNone/>
            </a:pPr>
            <a:r>
              <a:rPr lang="en-US" sz="800" dirty="0">
                <a:solidFill>
                  <a:srgbClr val="CAD6DE"/>
                </a:solidFill>
                <a:latin typeface="Cabin" pitchFamily="34" charset="0"/>
                <a:ea typeface="Cabin" pitchFamily="34" charset="-122"/>
                <a:cs typeface="Cabin" pitchFamily="34" charset="-120"/>
              </a:rPr>
              <a:t> untuk nilai tetap yang tidak boleh diubah setelah ditetapkan.</a:t>
            </a:r>
            <a:endParaRPr lang="en-US" sz="80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8086" y="3176984"/>
            <a:ext cx="5271360" cy="1324868"/>
          </a:xfrm>
          <a:prstGeom prst="rect">
            <a:avLst/>
          </a:prstGeom>
        </p:spPr>
      </p:pic>
      <p:sp>
        <p:nvSpPr>
          <p:cNvPr id="13" name="Text 9"/>
          <p:cNvSpPr/>
          <p:nvPr/>
        </p:nvSpPr>
        <p:spPr>
          <a:xfrm>
            <a:off x="865166" y="3293269"/>
            <a:ext cx="4987999" cy="152400"/>
          </a:xfrm>
          <a:prstGeom prst="rect">
            <a:avLst/>
          </a:prstGeom>
          <a:noFill/>
          <a:ln/>
        </p:spPr>
        <p:txBody>
          <a:bodyPr wrap="none" lIns="0" tIns="0" rIns="0" bIns="0" rtlCol="0" anchor="t"/>
          <a:lstStyle/>
          <a:p>
            <a:pPr algn="l" indent="0" marL="0">
              <a:lnSpc>
                <a:spcPct val="104000"/>
              </a:lnSpc>
              <a:buNone/>
            </a:pPr>
            <a:r>
              <a:rPr lang="en-US" sz="950" dirty="0">
                <a:solidFill>
                  <a:srgbClr val="CAD6DE"/>
                </a:solidFill>
                <a:latin typeface="Unbounded" pitchFamily="34" charset="0"/>
                <a:ea typeface="Unbounded" pitchFamily="34" charset="-122"/>
                <a:cs typeface="Unbounded" pitchFamily="34" charset="-120"/>
              </a:rPr>
              <a:t>Fungsi — Kumpulan Instruksi yang Bisa Dipanggil Berulang</a:t>
            </a:r>
            <a:endParaRPr lang="en-US" sz="950" dirty="0"/>
          </a:p>
        </p:txBody>
      </p:sp>
      <p:sp>
        <p:nvSpPr>
          <p:cNvPr id="14" name="Shape 10"/>
          <p:cNvSpPr/>
          <p:nvPr/>
        </p:nvSpPr>
        <p:spPr>
          <a:xfrm>
            <a:off x="865166" y="3514824"/>
            <a:ext cx="4987999" cy="870744"/>
          </a:xfrm>
          <a:prstGeom prst="roundRect">
            <a:avLst>
              <a:gd name="adj" fmla="val 1785"/>
            </a:avLst>
          </a:prstGeom>
          <a:solidFill>
            <a:srgbClr val="1E3543"/>
          </a:solidFill>
          <a:ln/>
        </p:spPr>
      </p:sp>
      <p:sp>
        <p:nvSpPr>
          <p:cNvPr id="15" name="Text 11"/>
          <p:cNvSpPr/>
          <p:nvPr/>
        </p:nvSpPr>
        <p:spPr>
          <a:xfrm>
            <a:off x="989484" y="3618409"/>
            <a:ext cx="4739363" cy="663575"/>
          </a:xfrm>
          <a:prstGeom prst="rect">
            <a:avLst/>
          </a:prstGeom>
          <a:noFill/>
          <a:ln/>
        </p:spPr>
        <p:txBody>
          <a:bodyPr wrap="square" lIns="0" tIns="0" rIns="0" bIns="0" rtlCol="0" anchor="t">
            <a:normAutofit/>
          </a:bodyPr>
          <a:lstStyle/>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function formatHarga(angka) {</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return "Rp" + angka.toLocaleString("id-ID");</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console.log(formatHarga(18000)); // Rp18.000</a:t>
            </a:r>
            <a:endParaRPr lang="en-US" sz="800" dirty="0"/>
          </a:p>
        </p:txBody>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086" y="4563368"/>
            <a:ext cx="5271360" cy="1658342"/>
          </a:xfrm>
          <a:prstGeom prst="rect">
            <a:avLst/>
          </a:prstGeom>
        </p:spPr>
      </p:pic>
      <p:sp>
        <p:nvSpPr>
          <p:cNvPr id="17" name="Text 12"/>
          <p:cNvSpPr/>
          <p:nvPr/>
        </p:nvSpPr>
        <p:spPr>
          <a:xfrm>
            <a:off x="865166" y="4679652"/>
            <a:ext cx="4987999" cy="152400"/>
          </a:xfrm>
          <a:prstGeom prst="rect">
            <a:avLst/>
          </a:prstGeom>
          <a:noFill/>
          <a:ln/>
        </p:spPr>
        <p:txBody>
          <a:bodyPr wrap="none" lIns="0" tIns="0" rIns="0" bIns="0" rtlCol="0" anchor="t"/>
          <a:lstStyle/>
          <a:p>
            <a:pPr algn="l" indent="0" marL="0">
              <a:lnSpc>
                <a:spcPct val="104000"/>
              </a:lnSpc>
              <a:buNone/>
            </a:pPr>
            <a:r>
              <a:rPr lang="en-US" sz="950" dirty="0">
                <a:solidFill>
                  <a:srgbClr val="CAD6DE"/>
                </a:solidFill>
                <a:latin typeface="Unbounded" pitchFamily="34" charset="0"/>
                <a:ea typeface="Unbounded" pitchFamily="34" charset="-122"/>
                <a:cs typeface="Unbounded" pitchFamily="34" charset="-120"/>
              </a:rPr>
              <a:t>Event — Merespons Aksi Pengguna</a:t>
            </a:r>
            <a:endParaRPr lang="en-US" sz="950" dirty="0"/>
          </a:p>
        </p:txBody>
      </p:sp>
      <p:sp>
        <p:nvSpPr>
          <p:cNvPr id="18" name="Shape 13"/>
          <p:cNvSpPr/>
          <p:nvPr/>
        </p:nvSpPr>
        <p:spPr>
          <a:xfrm>
            <a:off x="865166" y="4901208"/>
            <a:ext cx="4987999" cy="870744"/>
          </a:xfrm>
          <a:prstGeom prst="roundRect">
            <a:avLst>
              <a:gd name="adj" fmla="val 1785"/>
            </a:avLst>
          </a:prstGeom>
          <a:solidFill>
            <a:srgbClr val="1E3543"/>
          </a:solidFill>
          <a:ln/>
        </p:spPr>
      </p:sp>
      <p:sp>
        <p:nvSpPr>
          <p:cNvPr id="19" name="Text 14"/>
          <p:cNvSpPr/>
          <p:nvPr/>
        </p:nvSpPr>
        <p:spPr>
          <a:xfrm>
            <a:off x="989484" y="5004792"/>
            <a:ext cx="4739363" cy="663575"/>
          </a:xfrm>
          <a:prstGeom prst="rect">
            <a:avLst/>
          </a:prstGeom>
          <a:noFill/>
          <a:ln/>
        </p:spPr>
        <p:txBody>
          <a:bodyPr wrap="square" lIns="0" tIns="0" rIns="0" bIns="0" rtlCol="0" anchor="t">
            <a:normAutofit/>
          </a:bodyPr>
          <a:lstStyle/>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const tombolPesan = document.querySelector("#tombol-pesan");</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tombolPesan.addEventListener("click", function() {</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alert("Terima kasih! Pesanan Anda sedang diproses.");</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a:t>
            </a:r>
            <a:endParaRPr lang="en-US" sz="800" dirty="0"/>
          </a:p>
        </p:txBody>
      </p:sp>
      <p:sp>
        <p:nvSpPr>
          <p:cNvPr id="20" name="Text 15"/>
          <p:cNvSpPr/>
          <p:nvPr/>
        </p:nvSpPr>
        <p:spPr>
          <a:xfrm>
            <a:off x="865166" y="5841107"/>
            <a:ext cx="4987999" cy="264319"/>
          </a:xfrm>
          <a:prstGeom prst="rect">
            <a:avLst/>
          </a:prstGeom>
          <a:noFill/>
          <a:ln/>
        </p:spPr>
        <p:txBody>
          <a:bodyPr wrap="square" lIns="0" tIns="0" rIns="0" bIns="0" rtlCol="0" anchor="t">
            <a:normAutofit/>
          </a:bodyPr>
          <a:lstStyle/>
          <a:p>
            <a:pPr algn="l" indent="0" marL="0">
              <a:lnSpc>
                <a:spcPct val="106000"/>
              </a:lnSpc>
              <a:buNone/>
            </a:pPr>
            <a:r>
              <a:rPr lang="en-US" sz="800" dirty="0">
                <a:solidFill>
                  <a:srgbClr val="CAD6DE"/>
                </a:solidFill>
                <a:latin typeface="Cabin" pitchFamily="34" charset="0"/>
                <a:ea typeface="Cabin" pitchFamily="34" charset="-122"/>
                <a:cs typeface="Cabin" pitchFamily="34" charset="-120"/>
              </a:rPr>
              <a:t>Kode di atas mencari elemen dengan id </a:t>
            </a:r>
            <a:pPr algn="l" indent="0" marL="0">
              <a:lnSpc>
                <a:spcPct val="106000"/>
              </a:lnSpc>
              <a:buNone/>
            </a:pPr>
            <a:r>
              <a:rPr lang="en-US" sz="800" dirty="0">
                <a:solidFill>
                  <a:srgbClr val="CAD6DE"/>
                </a:solidFill>
                <a:highlight>
                  <a:srgbClr val="1E3543"/>
                </a:highlight>
                <a:latin typeface="Consolas" pitchFamily="34" charset="0"/>
                <a:ea typeface="Consolas" pitchFamily="34" charset="-122"/>
                <a:cs typeface="Consolas" pitchFamily="34" charset="-120"/>
              </a:rPr>
              <a:t>tombol-pesan</a:t>
            </a:r>
            <a:pPr algn="l" indent="0" marL="0">
              <a:lnSpc>
                <a:spcPct val="106000"/>
              </a:lnSpc>
              <a:buNone/>
            </a:pPr>
            <a:r>
              <a:rPr lang="en-US" sz="800" dirty="0">
                <a:solidFill>
                  <a:srgbClr val="CAD6DE"/>
                </a:solidFill>
                <a:latin typeface="Cabin" pitchFamily="34" charset="0"/>
                <a:ea typeface="Cabin" pitchFamily="34" charset="-122"/>
                <a:cs typeface="Cabin" pitchFamily="34" charset="-120"/>
              </a:rPr>
              <a:t> di halaman, lalu "mendengarkan" aksi klik pada elemen tersebut. Setiap kali tombol itu diklik, fungsi di dalam </a:t>
            </a:r>
            <a:pPr algn="l" indent="0" marL="0">
              <a:lnSpc>
                <a:spcPct val="106000"/>
              </a:lnSpc>
              <a:buNone/>
            </a:pPr>
            <a:r>
              <a:rPr lang="en-US" sz="800" dirty="0">
                <a:solidFill>
                  <a:srgbClr val="CAD6DE"/>
                </a:solidFill>
                <a:highlight>
                  <a:srgbClr val="1E3543"/>
                </a:highlight>
                <a:latin typeface="Consolas" pitchFamily="34" charset="0"/>
                <a:ea typeface="Consolas" pitchFamily="34" charset="-122"/>
                <a:cs typeface="Consolas" pitchFamily="34" charset="-120"/>
              </a:rPr>
              <a:t>addEventListener</a:t>
            </a:r>
            <a:pPr algn="l" indent="0" marL="0">
              <a:lnSpc>
                <a:spcPct val="106000"/>
              </a:lnSpc>
              <a:buNone/>
            </a:pPr>
            <a:r>
              <a:rPr lang="en-US" sz="800" dirty="0">
                <a:solidFill>
                  <a:srgbClr val="CAD6DE"/>
                </a:solidFill>
                <a:latin typeface="Cabin" pitchFamily="34" charset="0"/>
                <a:ea typeface="Cabin" pitchFamily="34" charset="-122"/>
                <a:cs typeface="Cabin" pitchFamily="34" charset="-120"/>
              </a:rPr>
              <a:t> akan dijalankan.</a:t>
            </a:r>
            <a:endParaRPr lang="en-US" sz="800" dirty="0"/>
          </a:p>
        </p:txBody>
      </p:sp>
      <p:sp>
        <p:nvSpPr>
          <p:cNvPr id="21" name="Shape 16"/>
          <p:cNvSpPr/>
          <p:nvPr/>
        </p:nvSpPr>
        <p:spPr>
          <a:xfrm>
            <a:off x="6153988" y="1146274"/>
            <a:ext cx="5420582" cy="5144591"/>
          </a:xfrm>
          <a:prstGeom prst="roundRect">
            <a:avLst>
              <a:gd name="adj" fmla="val 302"/>
            </a:avLst>
          </a:prstGeom>
          <a:solidFill>
            <a:srgbClr val="1C3645"/>
          </a:solidFill>
          <a:ln/>
        </p:spPr>
      </p:sp>
      <p:sp>
        <p:nvSpPr>
          <p:cNvPr id="22" name="Text 17"/>
          <p:cNvSpPr/>
          <p:nvPr/>
        </p:nvSpPr>
        <p:spPr>
          <a:xfrm>
            <a:off x="6257570" y="1207790"/>
            <a:ext cx="5213418" cy="152400"/>
          </a:xfrm>
          <a:prstGeom prst="rect">
            <a:avLst/>
          </a:prstGeom>
          <a:noFill/>
          <a:ln/>
        </p:spPr>
        <p:txBody>
          <a:bodyPr wrap="none" lIns="0" tIns="0" rIns="0" bIns="0" rtlCol="0" anchor="t"/>
          <a:lstStyle/>
          <a:p>
            <a:pPr algn="l" indent="0" marL="0">
              <a:lnSpc>
                <a:spcPct val="104000"/>
              </a:lnSpc>
              <a:buNone/>
            </a:pPr>
            <a:r>
              <a:rPr lang="en-US" sz="950" dirty="0">
                <a:solidFill>
                  <a:srgbClr val="FFFFFF"/>
                </a:solidFill>
                <a:latin typeface="Unbounded" pitchFamily="34" charset="0"/>
                <a:ea typeface="Unbounded" pitchFamily="34" charset="-122"/>
                <a:cs typeface="Unbounded" pitchFamily="34" charset="-120"/>
              </a:rPr>
              <a:t>Cara Membaca Kode Hasil AI (Jangan Copy-Paste Buta)</a:t>
            </a:r>
            <a:endParaRPr lang="en-US" sz="950" dirty="0"/>
          </a:p>
        </p:txBody>
      </p:sp>
      <p:sp>
        <p:nvSpPr>
          <p:cNvPr id="23" name="Text 18"/>
          <p:cNvSpPr/>
          <p:nvPr/>
        </p:nvSpPr>
        <p:spPr>
          <a:xfrm>
            <a:off x="6257570" y="1421705"/>
            <a:ext cx="5213418" cy="396478"/>
          </a:xfrm>
          <a:prstGeom prst="rect">
            <a:avLst/>
          </a:prstGeom>
          <a:noFill/>
          <a:ln/>
        </p:spPr>
        <p:txBody>
          <a:bodyPr wrap="square" lIns="0" tIns="0" rIns="0" bIns="0" rtlCol="0" anchor="t">
            <a:normAutofit/>
          </a:bodyPr>
          <a:lstStyle/>
          <a:p>
            <a:pPr algn="l" indent="0" marL="0">
              <a:lnSpc>
                <a:spcPct val="106000"/>
              </a:lnSpc>
              <a:buNone/>
            </a:pPr>
            <a:r>
              <a:rPr lang="en-US" sz="800" dirty="0">
                <a:solidFill>
                  <a:srgbClr val="CAD6DE"/>
                </a:solidFill>
                <a:latin typeface="Cabin" pitchFamily="34" charset="0"/>
                <a:ea typeface="Cabin" pitchFamily="34" charset="-122"/>
                <a:cs typeface="Cabin" pitchFamily="34" charset="-120"/>
              </a:rPr>
              <a:t>Salah satu risiko terbesar dalam vibe coding adalah menyalin kode dari AI tanpa benar-benar memahaminya, yang pada akhirnya membuat peserta kesulitan ketika harus memperbaiki atau mengembangkan kode tersebut secara mandiri. Berikut strategi membaca kode hasil AI secara bertanggung jawab:</a:t>
            </a:r>
            <a:endParaRPr lang="en-US" sz="800" dirty="0"/>
          </a:p>
        </p:txBody>
      </p:sp>
      <p:sp>
        <p:nvSpPr>
          <p:cNvPr id="24" name="Text 19"/>
          <p:cNvSpPr/>
          <p:nvPr/>
        </p:nvSpPr>
        <p:spPr>
          <a:xfrm>
            <a:off x="6257570" y="1887339"/>
            <a:ext cx="207263" cy="129480"/>
          </a:xfrm>
          <a:prstGeom prst="rect">
            <a:avLst/>
          </a:prstGeom>
          <a:noFill/>
          <a:ln/>
        </p:spPr>
        <p:txBody>
          <a:bodyPr wrap="none" lIns="0" tIns="0" rIns="0" bIns="0" rtlCol="0" anchor="ctr"/>
          <a:lstStyle/>
          <a:p>
            <a:pPr algn="l" indent="0" marL="0">
              <a:lnSpc>
                <a:spcPct val="100000"/>
              </a:lnSpc>
              <a:buNone/>
            </a:pPr>
            <a:r>
              <a:rPr lang="en-US" sz="800" dirty="0">
                <a:solidFill>
                  <a:srgbClr val="CAD6DE"/>
                </a:solidFill>
                <a:latin typeface="Unbounded Light" pitchFamily="34" charset="0"/>
                <a:ea typeface="Unbounded Light" pitchFamily="34" charset="-122"/>
                <a:cs typeface="Unbounded Light" pitchFamily="34" charset="-120"/>
              </a:rPr>
              <a:t>01</a:t>
            </a:r>
            <a:endParaRPr lang="en-US" sz="800" dirty="0"/>
          </a:p>
        </p:txBody>
      </p:sp>
      <p:sp>
        <p:nvSpPr>
          <p:cNvPr id="25" name="Shape 20"/>
          <p:cNvSpPr/>
          <p:nvPr/>
        </p:nvSpPr>
        <p:spPr>
          <a:xfrm>
            <a:off x="6257570" y="2050653"/>
            <a:ext cx="5213418" cy="12700"/>
          </a:xfrm>
          <a:prstGeom prst="rect">
            <a:avLst/>
          </a:prstGeom>
          <a:solidFill>
            <a:srgbClr val="0A988B"/>
          </a:solidFill>
          <a:ln/>
        </p:spPr>
      </p:sp>
      <p:sp>
        <p:nvSpPr>
          <p:cNvPr id="26" name="Text 21"/>
          <p:cNvSpPr/>
          <p:nvPr/>
        </p:nvSpPr>
        <p:spPr>
          <a:xfrm>
            <a:off x="6257570" y="2127845"/>
            <a:ext cx="5213418" cy="264319"/>
          </a:xfrm>
          <a:prstGeom prst="rect">
            <a:avLst/>
          </a:prstGeom>
          <a:noFill/>
          <a:ln/>
        </p:spPr>
        <p:txBody>
          <a:bodyPr wrap="square" lIns="0" tIns="0" rIns="0" bIns="0" rtlCol="0" anchor="t">
            <a:normAutofit/>
          </a:bodyPr>
          <a:lstStyle/>
          <a:p>
            <a:pPr algn="l" indent="0" marL="0">
              <a:lnSpc>
                <a:spcPct val="106000"/>
              </a:lnSpc>
              <a:buNone/>
            </a:pPr>
            <a:r>
              <a:rPr lang="en-US" sz="800" dirty="0">
                <a:solidFill>
                  <a:srgbClr val="CAD6DE"/>
                </a:solidFill>
                <a:latin typeface="Cabin" pitchFamily="34" charset="0"/>
                <a:ea typeface="Cabin" pitchFamily="34" charset="-122"/>
                <a:cs typeface="Cabin" pitchFamily="34" charset="-120"/>
              </a:rPr>
              <a:t>Baca </a:t>
            </a:r>
            <a:pPr algn="l" indent="0" marL="0">
              <a:lnSpc>
                <a:spcPct val="106000"/>
              </a:lnSpc>
              <a:buNone/>
            </a:pPr>
            <a:r>
              <a:rPr lang="en-US" sz="800" b="1" dirty="0">
                <a:solidFill>
                  <a:srgbClr val="CAD6DE"/>
                </a:solidFill>
                <a:latin typeface="Cabin Bold" pitchFamily="34" charset="0"/>
                <a:ea typeface="Cabin Bold" pitchFamily="34" charset="-122"/>
                <a:cs typeface="Cabin Bold" pitchFamily="34" charset="-120"/>
              </a:rPr>
              <a:t>judul atau nama fungsi/variabel</a:t>
            </a:r>
            <a:pPr algn="l" indent="0" marL="0">
              <a:lnSpc>
                <a:spcPct val="106000"/>
              </a:lnSpc>
              <a:buNone/>
            </a:pPr>
            <a:r>
              <a:rPr lang="en-US" sz="800" dirty="0">
                <a:solidFill>
                  <a:srgbClr val="CAD6DE"/>
                </a:solidFill>
                <a:latin typeface="Cabin" pitchFamily="34" charset="0"/>
                <a:ea typeface="Cabin" pitchFamily="34" charset="-122"/>
                <a:cs typeface="Cabin" pitchFamily="34" charset="-120"/>
              </a:rPr>
              <a:t> terlebih dahulu, dan tebak kira-kira apa tujuannya sebelum membaca isinya secara detail.</a:t>
            </a:r>
            <a:endParaRPr lang="en-US" sz="800" dirty="0"/>
          </a:p>
        </p:txBody>
      </p:sp>
      <p:sp>
        <p:nvSpPr>
          <p:cNvPr id="27" name="Text 22"/>
          <p:cNvSpPr/>
          <p:nvPr/>
        </p:nvSpPr>
        <p:spPr>
          <a:xfrm>
            <a:off x="6257570" y="2531368"/>
            <a:ext cx="207263" cy="129480"/>
          </a:xfrm>
          <a:prstGeom prst="rect">
            <a:avLst/>
          </a:prstGeom>
          <a:noFill/>
          <a:ln/>
        </p:spPr>
        <p:txBody>
          <a:bodyPr wrap="none" lIns="0" tIns="0" rIns="0" bIns="0" rtlCol="0" anchor="ctr"/>
          <a:lstStyle/>
          <a:p>
            <a:pPr algn="l" indent="0" marL="0">
              <a:lnSpc>
                <a:spcPct val="100000"/>
              </a:lnSpc>
              <a:buNone/>
            </a:pPr>
            <a:r>
              <a:rPr lang="en-US" sz="800" dirty="0">
                <a:solidFill>
                  <a:srgbClr val="CAD6DE"/>
                </a:solidFill>
                <a:latin typeface="Unbounded Light" pitchFamily="34" charset="0"/>
                <a:ea typeface="Unbounded Light" pitchFamily="34" charset="-122"/>
                <a:cs typeface="Unbounded Light" pitchFamily="34" charset="-120"/>
              </a:rPr>
              <a:t>02</a:t>
            </a:r>
            <a:endParaRPr lang="en-US" sz="800" dirty="0"/>
          </a:p>
        </p:txBody>
      </p:sp>
      <p:sp>
        <p:nvSpPr>
          <p:cNvPr id="28" name="Shape 23"/>
          <p:cNvSpPr/>
          <p:nvPr/>
        </p:nvSpPr>
        <p:spPr>
          <a:xfrm>
            <a:off x="6257570" y="2694682"/>
            <a:ext cx="5213418" cy="12700"/>
          </a:xfrm>
          <a:prstGeom prst="rect">
            <a:avLst/>
          </a:prstGeom>
          <a:solidFill>
            <a:srgbClr val="0A988B"/>
          </a:solidFill>
          <a:ln/>
        </p:spPr>
      </p:sp>
      <p:sp>
        <p:nvSpPr>
          <p:cNvPr id="29" name="Text 24"/>
          <p:cNvSpPr/>
          <p:nvPr/>
        </p:nvSpPr>
        <p:spPr>
          <a:xfrm>
            <a:off x="6257570" y="2771874"/>
            <a:ext cx="5213418" cy="132159"/>
          </a:xfrm>
          <a:prstGeom prst="rect">
            <a:avLst/>
          </a:prstGeom>
          <a:noFill/>
          <a:ln/>
        </p:spPr>
        <p:txBody>
          <a:bodyPr wrap="none" lIns="0" tIns="0" rIns="0" bIns="0" rtlCol="0" anchor="t"/>
          <a:lstStyle/>
          <a:p>
            <a:pPr algn="l" indent="0" marL="0">
              <a:lnSpc>
                <a:spcPct val="106000"/>
              </a:lnSpc>
              <a:buNone/>
            </a:pPr>
            <a:r>
              <a:rPr lang="en-US" sz="800" dirty="0">
                <a:solidFill>
                  <a:srgbClr val="CAD6DE"/>
                </a:solidFill>
                <a:latin typeface="Cabin" pitchFamily="34" charset="0"/>
                <a:ea typeface="Cabin" pitchFamily="34" charset="-122"/>
                <a:cs typeface="Cabin" pitchFamily="34" charset="-120"/>
              </a:rPr>
              <a:t>Telusuri kode </a:t>
            </a:r>
            <a:pPr algn="l" indent="0" marL="0">
              <a:lnSpc>
                <a:spcPct val="106000"/>
              </a:lnSpc>
              <a:buNone/>
            </a:pPr>
            <a:r>
              <a:rPr lang="en-US" sz="800" b="1" dirty="0">
                <a:solidFill>
                  <a:srgbClr val="CAD6DE"/>
                </a:solidFill>
                <a:latin typeface="Cabin Bold" pitchFamily="34" charset="0"/>
                <a:ea typeface="Cabin Bold" pitchFamily="34" charset="-122"/>
                <a:cs typeface="Cabin Bold" pitchFamily="34" charset="-120"/>
              </a:rPr>
              <a:t>baris demi baris</a:t>
            </a:r>
            <a:pPr algn="l" indent="0" marL="0">
              <a:lnSpc>
                <a:spcPct val="106000"/>
              </a:lnSpc>
              <a:buNone/>
            </a:pPr>
            <a:r>
              <a:rPr lang="en-US" sz="800" dirty="0">
                <a:solidFill>
                  <a:srgbClr val="CAD6DE"/>
                </a:solidFill>
                <a:latin typeface="Cabin" pitchFamily="34" charset="0"/>
                <a:ea typeface="Cabin" pitchFamily="34" charset="-122"/>
                <a:cs typeface="Cabin" pitchFamily="34" charset="-120"/>
              </a:rPr>
              <a:t> dari atas ke bawah, dan tandai bagian mana yang belum dipahami.</a:t>
            </a:r>
            <a:endParaRPr lang="en-US" sz="800" dirty="0"/>
          </a:p>
        </p:txBody>
      </p:sp>
      <p:sp>
        <p:nvSpPr>
          <p:cNvPr id="30" name="Text 25"/>
          <p:cNvSpPr/>
          <p:nvPr/>
        </p:nvSpPr>
        <p:spPr>
          <a:xfrm>
            <a:off x="6257570" y="3043238"/>
            <a:ext cx="207263" cy="129480"/>
          </a:xfrm>
          <a:prstGeom prst="rect">
            <a:avLst/>
          </a:prstGeom>
          <a:noFill/>
          <a:ln/>
        </p:spPr>
        <p:txBody>
          <a:bodyPr wrap="none" lIns="0" tIns="0" rIns="0" bIns="0" rtlCol="0" anchor="ctr"/>
          <a:lstStyle/>
          <a:p>
            <a:pPr algn="l" indent="0" marL="0">
              <a:lnSpc>
                <a:spcPct val="100000"/>
              </a:lnSpc>
              <a:buNone/>
            </a:pPr>
            <a:r>
              <a:rPr lang="en-US" sz="800" dirty="0">
                <a:solidFill>
                  <a:srgbClr val="CAD6DE"/>
                </a:solidFill>
                <a:latin typeface="Unbounded Light" pitchFamily="34" charset="0"/>
                <a:ea typeface="Unbounded Light" pitchFamily="34" charset="-122"/>
                <a:cs typeface="Unbounded Light" pitchFamily="34" charset="-120"/>
              </a:rPr>
              <a:t>03</a:t>
            </a:r>
            <a:endParaRPr lang="en-US" sz="800" dirty="0"/>
          </a:p>
        </p:txBody>
      </p:sp>
      <p:sp>
        <p:nvSpPr>
          <p:cNvPr id="31" name="Shape 26"/>
          <p:cNvSpPr/>
          <p:nvPr/>
        </p:nvSpPr>
        <p:spPr>
          <a:xfrm>
            <a:off x="6257570" y="3206552"/>
            <a:ext cx="5213418" cy="12700"/>
          </a:xfrm>
          <a:prstGeom prst="rect">
            <a:avLst/>
          </a:prstGeom>
          <a:solidFill>
            <a:srgbClr val="0A988B"/>
          </a:solidFill>
          <a:ln/>
        </p:spPr>
      </p:sp>
      <p:sp>
        <p:nvSpPr>
          <p:cNvPr id="32" name="Text 27"/>
          <p:cNvSpPr/>
          <p:nvPr/>
        </p:nvSpPr>
        <p:spPr>
          <a:xfrm>
            <a:off x="6257570" y="3283744"/>
            <a:ext cx="5213418" cy="264319"/>
          </a:xfrm>
          <a:prstGeom prst="rect">
            <a:avLst/>
          </a:prstGeom>
          <a:noFill/>
          <a:ln/>
        </p:spPr>
        <p:txBody>
          <a:bodyPr wrap="square" lIns="0" tIns="0" rIns="0" bIns="0" rtlCol="0" anchor="t">
            <a:normAutofit/>
          </a:bodyPr>
          <a:lstStyle/>
          <a:p>
            <a:pPr algn="l" indent="0" marL="0">
              <a:lnSpc>
                <a:spcPct val="106000"/>
              </a:lnSpc>
              <a:buNone/>
            </a:pPr>
            <a:r>
              <a:rPr lang="en-US" sz="800" dirty="0">
                <a:solidFill>
                  <a:srgbClr val="CAD6DE"/>
                </a:solidFill>
                <a:latin typeface="Cabin" pitchFamily="34" charset="0"/>
                <a:ea typeface="Cabin" pitchFamily="34" charset="-122"/>
                <a:cs typeface="Cabin" pitchFamily="34" charset="-120"/>
              </a:rPr>
              <a:t>Untuk bagian yang belum dipahami, tanyakan langsung kepada AI dengan </a:t>
            </a:r>
            <a:pPr algn="l" indent="0" marL="0">
              <a:lnSpc>
                <a:spcPct val="106000"/>
              </a:lnSpc>
              <a:buNone/>
            </a:pPr>
            <a:r>
              <a:rPr lang="en-US" sz="800" b="1" dirty="0">
                <a:solidFill>
                  <a:srgbClr val="CAD6DE"/>
                </a:solidFill>
                <a:latin typeface="Cabin Bold" pitchFamily="34" charset="0"/>
                <a:ea typeface="Cabin Bold" pitchFamily="34" charset="-122"/>
                <a:cs typeface="Cabin Bold" pitchFamily="34" charset="-120"/>
              </a:rPr>
              <a:t>menunjuk baris atau kata kunci yang spesifik</a:t>
            </a:r>
            <a:pPr algn="l" indent="0" marL="0">
              <a:lnSpc>
                <a:spcPct val="106000"/>
              </a:lnSpc>
              <a:buNone/>
            </a:pPr>
            <a:r>
              <a:rPr lang="en-US" sz="800" dirty="0">
                <a:solidFill>
                  <a:srgbClr val="CAD6DE"/>
                </a:solidFill>
                <a:latin typeface="Cabin" pitchFamily="34" charset="0"/>
                <a:ea typeface="Cabin" pitchFamily="34" charset="-122"/>
                <a:cs typeface="Cabin" pitchFamily="34" charset="-120"/>
              </a:rPr>
              <a:t>, bukan bertanya secara umum.</a:t>
            </a:r>
            <a:endParaRPr lang="en-US" sz="800" dirty="0"/>
          </a:p>
        </p:txBody>
      </p:sp>
      <p:sp>
        <p:nvSpPr>
          <p:cNvPr id="33" name="Text 28"/>
          <p:cNvSpPr/>
          <p:nvPr/>
        </p:nvSpPr>
        <p:spPr>
          <a:xfrm>
            <a:off x="6257570" y="3687266"/>
            <a:ext cx="207263" cy="129480"/>
          </a:xfrm>
          <a:prstGeom prst="rect">
            <a:avLst/>
          </a:prstGeom>
          <a:noFill/>
          <a:ln/>
        </p:spPr>
        <p:txBody>
          <a:bodyPr wrap="none" lIns="0" tIns="0" rIns="0" bIns="0" rtlCol="0" anchor="ctr"/>
          <a:lstStyle/>
          <a:p>
            <a:pPr algn="l" indent="0" marL="0">
              <a:lnSpc>
                <a:spcPct val="100000"/>
              </a:lnSpc>
              <a:buNone/>
            </a:pPr>
            <a:r>
              <a:rPr lang="en-US" sz="800" dirty="0">
                <a:solidFill>
                  <a:srgbClr val="CAD6DE"/>
                </a:solidFill>
                <a:latin typeface="Unbounded Light" pitchFamily="34" charset="0"/>
                <a:ea typeface="Unbounded Light" pitchFamily="34" charset="-122"/>
                <a:cs typeface="Unbounded Light" pitchFamily="34" charset="-120"/>
              </a:rPr>
              <a:t>04</a:t>
            </a:r>
            <a:endParaRPr lang="en-US" sz="800" dirty="0"/>
          </a:p>
        </p:txBody>
      </p:sp>
      <p:sp>
        <p:nvSpPr>
          <p:cNvPr id="34" name="Shape 29"/>
          <p:cNvSpPr/>
          <p:nvPr/>
        </p:nvSpPr>
        <p:spPr>
          <a:xfrm>
            <a:off x="6257570" y="3850580"/>
            <a:ext cx="5213418" cy="12700"/>
          </a:xfrm>
          <a:prstGeom prst="rect">
            <a:avLst/>
          </a:prstGeom>
          <a:solidFill>
            <a:srgbClr val="0A988B"/>
          </a:solidFill>
          <a:ln/>
        </p:spPr>
      </p:sp>
      <p:sp>
        <p:nvSpPr>
          <p:cNvPr id="35" name="Text 30"/>
          <p:cNvSpPr/>
          <p:nvPr/>
        </p:nvSpPr>
        <p:spPr>
          <a:xfrm>
            <a:off x="6257570" y="3927773"/>
            <a:ext cx="5213418" cy="264319"/>
          </a:xfrm>
          <a:prstGeom prst="rect">
            <a:avLst/>
          </a:prstGeom>
          <a:noFill/>
          <a:ln/>
        </p:spPr>
        <p:txBody>
          <a:bodyPr wrap="square" lIns="0" tIns="0" rIns="0" bIns="0" rtlCol="0" anchor="t">
            <a:normAutofit/>
          </a:bodyPr>
          <a:lstStyle/>
          <a:p>
            <a:pPr algn="l" indent="0" marL="0">
              <a:lnSpc>
                <a:spcPct val="106000"/>
              </a:lnSpc>
              <a:buNone/>
            </a:pPr>
            <a:r>
              <a:rPr lang="en-US" sz="800" dirty="0">
                <a:solidFill>
                  <a:srgbClr val="CAD6DE"/>
                </a:solidFill>
                <a:latin typeface="Cabin" pitchFamily="34" charset="0"/>
                <a:ea typeface="Cabin" pitchFamily="34" charset="-122"/>
                <a:cs typeface="Cabin" pitchFamily="34" charset="-120"/>
              </a:rPr>
              <a:t>Coba </a:t>
            </a:r>
            <a:pPr algn="l" indent="0" marL="0">
              <a:lnSpc>
                <a:spcPct val="106000"/>
              </a:lnSpc>
              <a:buNone/>
            </a:pPr>
            <a:r>
              <a:rPr lang="en-US" sz="800" b="1" dirty="0">
                <a:solidFill>
                  <a:srgbClr val="CAD6DE"/>
                </a:solidFill>
                <a:latin typeface="Cabin Bold" pitchFamily="34" charset="0"/>
                <a:ea typeface="Cabin Bold" pitchFamily="34" charset="-122"/>
                <a:cs typeface="Cabin Bold" pitchFamily="34" charset="-120"/>
              </a:rPr>
              <a:t>jalankan kode</a:t>
            </a:r>
            <a:pPr algn="l" indent="0" marL="0">
              <a:lnSpc>
                <a:spcPct val="106000"/>
              </a:lnSpc>
              <a:buNone/>
            </a:pPr>
            <a:r>
              <a:rPr lang="en-US" sz="800" dirty="0">
                <a:solidFill>
                  <a:srgbClr val="CAD6DE"/>
                </a:solidFill>
                <a:latin typeface="Cabin" pitchFamily="34" charset="0"/>
                <a:ea typeface="Cabin" pitchFamily="34" charset="-122"/>
                <a:cs typeface="Cabin" pitchFamily="34" charset="-120"/>
              </a:rPr>
              <a:t> tersebut dan amati hasilnya secara langsung, lalu ubah salah satu nilai di dalamnya untuk melihat bagaimana perubahan itu memengaruhi hasil.</a:t>
            </a:r>
            <a:endParaRPr lang="en-US" sz="800" dirty="0"/>
          </a:p>
        </p:txBody>
      </p:sp>
      <p:sp>
        <p:nvSpPr>
          <p:cNvPr id="36" name="Text 31"/>
          <p:cNvSpPr/>
          <p:nvPr/>
        </p:nvSpPr>
        <p:spPr>
          <a:xfrm>
            <a:off x="6257570" y="4331295"/>
            <a:ext cx="207263" cy="129480"/>
          </a:xfrm>
          <a:prstGeom prst="rect">
            <a:avLst/>
          </a:prstGeom>
          <a:noFill/>
          <a:ln/>
        </p:spPr>
        <p:txBody>
          <a:bodyPr wrap="none" lIns="0" tIns="0" rIns="0" bIns="0" rtlCol="0" anchor="ctr"/>
          <a:lstStyle/>
          <a:p>
            <a:pPr algn="l" indent="0" marL="0">
              <a:lnSpc>
                <a:spcPct val="100000"/>
              </a:lnSpc>
              <a:buNone/>
            </a:pPr>
            <a:r>
              <a:rPr lang="en-US" sz="800" dirty="0">
                <a:solidFill>
                  <a:srgbClr val="CAD6DE"/>
                </a:solidFill>
                <a:latin typeface="Unbounded Light" pitchFamily="34" charset="0"/>
                <a:ea typeface="Unbounded Light" pitchFamily="34" charset="-122"/>
                <a:cs typeface="Unbounded Light" pitchFamily="34" charset="-120"/>
              </a:rPr>
              <a:t>05</a:t>
            </a:r>
            <a:endParaRPr lang="en-US" sz="800" dirty="0"/>
          </a:p>
        </p:txBody>
      </p:sp>
      <p:sp>
        <p:nvSpPr>
          <p:cNvPr id="37" name="Shape 32"/>
          <p:cNvSpPr/>
          <p:nvPr/>
        </p:nvSpPr>
        <p:spPr>
          <a:xfrm>
            <a:off x="6257570" y="4494609"/>
            <a:ext cx="5213418" cy="12700"/>
          </a:xfrm>
          <a:prstGeom prst="rect">
            <a:avLst/>
          </a:prstGeom>
          <a:solidFill>
            <a:srgbClr val="0A988B"/>
          </a:solidFill>
          <a:ln/>
        </p:spPr>
      </p:sp>
      <p:sp>
        <p:nvSpPr>
          <p:cNvPr id="38" name="Text 33"/>
          <p:cNvSpPr/>
          <p:nvPr/>
        </p:nvSpPr>
        <p:spPr>
          <a:xfrm>
            <a:off x="6257570" y="4571802"/>
            <a:ext cx="5213418" cy="264319"/>
          </a:xfrm>
          <a:prstGeom prst="rect">
            <a:avLst/>
          </a:prstGeom>
          <a:noFill/>
          <a:ln/>
        </p:spPr>
        <p:txBody>
          <a:bodyPr wrap="square" lIns="0" tIns="0" rIns="0" bIns="0" rtlCol="0" anchor="t">
            <a:normAutofit/>
          </a:bodyPr>
          <a:lstStyle/>
          <a:p>
            <a:pPr algn="l" indent="0" marL="0">
              <a:lnSpc>
                <a:spcPct val="106000"/>
              </a:lnSpc>
              <a:buNone/>
            </a:pPr>
            <a:r>
              <a:rPr lang="en-US" sz="800" dirty="0">
                <a:solidFill>
                  <a:srgbClr val="CAD6DE"/>
                </a:solidFill>
                <a:latin typeface="Cabin" pitchFamily="34" charset="0"/>
                <a:ea typeface="Cabin" pitchFamily="34" charset="-122"/>
                <a:cs typeface="Cabin" pitchFamily="34" charset="-120"/>
              </a:rPr>
              <a:t>Coba </a:t>
            </a:r>
            <a:pPr algn="l" indent="0" marL="0">
              <a:lnSpc>
                <a:spcPct val="106000"/>
              </a:lnSpc>
              <a:buNone/>
            </a:pPr>
            <a:r>
              <a:rPr lang="en-US" sz="800" b="1" dirty="0">
                <a:solidFill>
                  <a:srgbClr val="CAD6DE"/>
                </a:solidFill>
                <a:latin typeface="Cabin Bold" pitchFamily="34" charset="0"/>
                <a:ea typeface="Cabin Bold" pitchFamily="34" charset="-122"/>
                <a:cs typeface="Cabin Bold" pitchFamily="34" charset="-120"/>
              </a:rPr>
              <a:t>jelaskan ulang kode</a:t>
            </a:r>
            <a:pPr algn="l" indent="0" marL="0">
              <a:lnSpc>
                <a:spcPct val="106000"/>
              </a:lnSpc>
              <a:buNone/>
            </a:pPr>
            <a:r>
              <a:rPr lang="en-US" sz="800" dirty="0">
                <a:solidFill>
                  <a:srgbClr val="CAD6DE"/>
                </a:solidFill>
                <a:latin typeface="Cabin" pitchFamily="34" charset="0"/>
                <a:ea typeface="Cabin" pitchFamily="34" charset="-122"/>
                <a:cs typeface="Cabin" pitchFamily="34" charset="-120"/>
              </a:rPr>
              <a:t> tersebut dengan kata-kata sendiri kepada rekan belajar lain, sebagai bentuk verifikasi pemahaman.</a:t>
            </a:r>
            <a:endParaRPr lang="en-US" sz="800" dirty="0"/>
          </a:p>
        </p:txBody>
      </p:sp>
      <p:sp>
        <p:nvSpPr>
          <p:cNvPr id="39" name="Text 34"/>
          <p:cNvSpPr/>
          <p:nvPr/>
        </p:nvSpPr>
        <p:spPr>
          <a:xfrm>
            <a:off x="6257570" y="4982964"/>
            <a:ext cx="5213418" cy="264319"/>
          </a:xfrm>
          <a:prstGeom prst="rect">
            <a:avLst/>
          </a:prstGeom>
          <a:noFill/>
          <a:ln/>
        </p:spPr>
        <p:txBody>
          <a:bodyPr wrap="square" lIns="0" tIns="0" rIns="0" bIns="0" rtlCol="0" anchor="t">
            <a:normAutofit/>
          </a:bodyPr>
          <a:lstStyle/>
          <a:p>
            <a:pPr algn="l" indent="0" marL="0">
              <a:lnSpc>
                <a:spcPct val="106000"/>
              </a:lnSpc>
              <a:buNone/>
            </a:pPr>
            <a:r>
              <a:rPr lang="en-US" sz="800" dirty="0">
                <a:solidFill>
                  <a:srgbClr val="CAD6DE"/>
                </a:solidFill>
                <a:latin typeface="Cabin" pitchFamily="34" charset="0"/>
                <a:ea typeface="Cabin" pitchFamily="34" charset="-122"/>
                <a:cs typeface="Cabin" pitchFamily="34" charset="-120"/>
              </a:rPr>
              <a:t>Kebiasaan ini akan terus dipraktikkan sepanjang bootcamp dan menjadi salah satu kriteria penting saat mentor melakukan review terhadap tugas-tugas peserta.</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98086" y="543322"/>
            <a:ext cx="1183948" cy="174030"/>
          </a:xfrm>
          <a:prstGeom prst="roundRect">
            <a:avLst>
              <a:gd name="adj" fmla="val 7898"/>
            </a:avLst>
          </a:prstGeom>
          <a:solidFill>
            <a:srgbClr val="054842"/>
          </a:solidFill>
          <a:ln/>
        </p:spPr>
      </p:sp>
      <p:sp>
        <p:nvSpPr>
          <p:cNvPr id="3" name="Text 1"/>
          <p:cNvSpPr/>
          <p:nvPr/>
        </p:nvSpPr>
        <p:spPr>
          <a:xfrm>
            <a:off x="766743" y="577652"/>
            <a:ext cx="1656217" cy="105370"/>
          </a:xfrm>
          <a:prstGeom prst="rect">
            <a:avLst/>
          </a:prstGeom>
          <a:noFill/>
          <a:ln/>
        </p:spPr>
        <p:txBody>
          <a:bodyPr wrap="none" lIns="0" tIns="0" rIns="0" bIns="0" rtlCol="0" anchor="t"/>
          <a:lstStyle/>
          <a:p>
            <a:pPr algn="l" indent="0" marL="0">
              <a:lnSpc>
                <a:spcPct val="96000"/>
              </a:lnSpc>
              <a:buNone/>
            </a:pPr>
            <a:r>
              <a:rPr lang="en-US" sz="700" dirty="0">
                <a:solidFill>
                  <a:srgbClr val="CAD6DE"/>
                </a:solidFill>
                <a:latin typeface="Cabin" pitchFamily="34" charset="0"/>
                <a:ea typeface="Cabin" pitchFamily="34" charset="-122"/>
                <a:cs typeface="Cabin" pitchFamily="34" charset="-120"/>
              </a:rPr>
              <a:t>BOOTCAMP VIBE CODING</a:t>
            </a:r>
            <a:endParaRPr lang="en-US" sz="700" dirty="0"/>
          </a:p>
        </p:txBody>
      </p:sp>
      <p:sp>
        <p:nvSpPr>
          <p:cNvPr id="4" name="Text 2"/>
          <p:cNvSpPr/>
          <p:nvPr/>
        </p:nvSpPr>
        <p:spPr>
          <a:xfrm>
            <a:off x="698086" y="747415"/>
            <a:ext cx="10795524" cy="336848"/>
          </a:xfrm>
          <a:prstGeom prst="rect">
            <a:avLst/>
          </a:prstGeom>
          <a:noFill/>
          <a:ln/>
        </p:spPr>
        <p:txBody>
          <a:bodyPr wrap="none" lIns="0" tIns="0" rIns="0" bIns="0" rtlCol="0" anchor="t"/>
          <a:lstStyle/>
          <a:p>
            <a:pPr algn="l" indent="0" marL="0">
              <a:lnSpc>
                <a:spcPct val="104000"/>
              </a:lnSpc>
              <a:buNone/>
            </a:pPr>
            <a:r>
              <a:rPr lang="en-US" sz="2100" dirty="0">
                <a:solidFill>
                  <a:srgbClr val="FFFFFF"/>
                </a:solidFill>
                <a:latin typeface="Unbounded" pitchFamily="34" charset="0"/>
                <a:ea typeface="Unbounded" pitchFamily="34" charset="-122"/>
                <a:cs typeface="Unbounded" pitchFamily="34" charset="-120"/>
              </a:rPr>
              <a:t>Struktur Folder Project &amp; Praktik Live</a:t>
            </a:r>
            <a:endParaRPr lang="en-US" sz="2100" dirty="0"/>
          </a:p>
        </p:txBody>
      </p:sp>
      <p:sp>
        <p:nvSpPr>
          <p:cNvPr id="5" name="Text 3"/>
          <p:cNvSpPr/>
          <p:nvPr/>
        </p:nvSpPr>
        <p:spPr>
          <a:xfrm>
            <a:off x="698086" y="1272084"/>
            <a:ext cx="5258065" cy="168374"/>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Unbounded" pitchFamily="34" charset="0"/>
                <a:ea typeface="Unbounded" pitchFamily="34" charset="-122"/>
                <a:cs typeface="Unbounded" pitchFamily="34" charset="-120"/>
              </a:rPr>
              <a:t>Struktur Folder Project Web Modern</a:t>
            </a:r>
            <a:endParaRPr lang="en-US" sz="1050" dirty="0"/>
          </a:p>
        </p:txBody>
      </p:sp>
      <p:sp>
        <p:nvSpPr>
          <p:cNvPr id="6" name="Text 4"/>
          <p:cNvSpPr/>
          <p:nvPr/>
        </p:nvSpPr>
        <p:spPr>
          <a:xfrm>
            <a:off x="698086" y="1515566"/>
            <a:ext cx="5258065" cy="455116"/>
          </a:xfrm>
          <a:prstGeom prst="rect">
            <a:avLst/>
          </a:prstGeom>
          <a:noFill/>
          <a:ln/>
        </p:spPr>
        <p:txBody>
          <a:bodyPr wrap="square" lIns="0" tIns="0" rIns="0" bIns="0" rtlCol="0" anchor="t">
            <a:normAutofit/>
          </a:bodyPr>
          <a:lstStyle/>
          <a:p>
            <a:pPr algn="l" indent="0" marL="0">
              <a:lnSpc>
                <a:spcPct val="110000"/>
              </a:lnSpc>
              <a:buNone/>
            </a:pPr>
            <a:r>
              <a:rPr lang="en-US" sz="900" dirty="0">
                <a:solidFill>
                  <a:srgbClr val="CAD6DE"/>
                </a:solidFill>
                <a:latin typeface="Cabin" pitchFamily="34" charset="0"/>
                <a:ea typeface="Cabin" pitchFamily="34" charset="-122"/>
                <a:cs typeface="Cabin" pitchFamily="34" charset="-120"/>
              </a:rPr>
              <a:t>Memisahkan HTML, CSS, dan JavaScript ke dalam berkas yang berbeda (alih-alih menuliskannya semua dalam satu berkas) adalah praktik yang baik sejak awal, karena membuat project lebih mudah dibaca, dirawat, dan dikembangkan seiring bertambahnya fitur pada pertemuan-pertemuan berikutnya.</a:t>
            </a:r>
            <a:endParaRPr lang="en-US" sz="900" dirty="0"/>
          </a:p>
        </p:txBody>
      </p:sp>
      <p:sp>
        <p:nvSpPr>
          <p:cNvPr id="7" name="Shape 5"/>
          <p:cNvSpPr/>
          <p:nvPr/>
        </p:nvSpPr>
        <p:spPr>
          <a:xfrm>
            <a:off x="698086" y="2055217"/>
            <a:ext cx="5258065" cy="1511102"/>
          </a:xfrm>
          <a:prstGeom prst="roundRect">
            <a:avLst>
              <a:gd name="adj" fmla="val 1137"/>
            </a:avLst>
          </a:prstGeom>
          <a:solidFill>
            <a:srgbClr val="1E3543"/>
          </a:solidFill>
          <a:ln/>
        </p:spPr>
      </p:sp>
      <p:sp>
        <p:nvSpPr>
          <p:cNvPr id="8" name="Text 6"/>
          <p:cNvSpPr/>
          <p:nvPr/>
        </p:nvSpPr>
        <p:spPr>
          <a:xfrm>
            <a:off x="835500" y="2169716"/>
            <a:ext cx="4983236" cy="1282105"/>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belajar-vibe-coding/</a:t>
            </a:r>
            <a:endParaRPr lang="en-US" sz="900" dirty="0"/>
          </a:p>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 index.html       (halaman utama)</a:t>
            </a:r>
            <a:endParaRPr lang="en-US" sz="900" dirty="0"/>
          </a:p>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 style.css        (berkas CSS untuk styling)</a:t>
            </a:r>
            <a:endParaRPr lang="en-US" sz="900" dirty="0"/>
          </a:p>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 script.js        (berkas JavaScript untuk interaktivitas)</a:t>
            </a:r>
            <a:endParaRPr lang="en-US" sz="900" dirty="0"/>
          </a:p>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 assets/</a:t>
            </a:r>
            <a:endParaRPr lang="en-US" sz="900" dirty="0"/>
          </a:p>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  └─ gambar-produk.jpg</a:t>
            </a:r>
            <a:endParaRPr lang="en-US" sz="900" dirty="0"/>
          </a:p>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 README.md        (dokumentasi singkat project)</a:t>
            </a:r>
            <a:endParaRPr lang="en-US" sz="900" dirty="0"/>
          </a:p>
        </p:txBody>
      </p:sp>
      <p:sp>
        <p:nvSpPr>
          <p:cNvPr id="9" name="Text 7"/>
          <p:cNvSpPr/>
          <p:nvPr/>
        </p:nvSpPr>
        <p:spPr>
          <a:xfrm>
            <a:off x="6241894" y="1272084"/>
            <a:ext cx="5258065" cy="168374"/>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Unbounded" pitchFamily="34" charset="0"/>
                <a:ea typeface="Unbounded" pitchFamily="34" charset="-122"/>
                <a:cs typeface="Unbounded" pitchFamily="34" charset="-120"/>
              </a:rPr>
              <a:t>Praktik: Membangun Halaman dari Prompt</a:t>
            </a:r>
            <a:endParaRPr lang="en-US" sz="1050" dirty="0"/>
          </a:p>
        </p:txBody>
      </p:sp>
      <p:sp>
        <p:nvSpPr>
          <p:cNvPr id="10" name="Text 8"/>
          <p:cNvSpPr/>
          <p:nvPr/>
        </p:nvSpPr>
        <p:spPr>
          <a:xfrm>
            <a:off x="6241894" y="1515566"/>
            <a:ext cx="5258065" cy="977801"/>
          </a:xfrm>
          <a:prstGeom prst="rect">
            <a:avLst/>
          </a:prstGeom>
          <a:noFill/>
          <a:ln/>
        </p:spPr>
        <p:txBody>
          <a:bodyPr wrap="square" lIns="0" tIns="0" rIns="0" bIns="0" rtlCol="0" anchor="t">
            <a:normAutofit/>
          </a:bodyPr>
          <a:lstStyle/>
          <a:p>
            <a:pPr algn="l" indent="0" marL="0">
              <a:lnSpc>
                <a:spcPct val="110000"/>
              </a:lnSpc>
              <a:spcAft>
                <a:spcPts val="500"/>
              </a:spcAft>
              <a:buNone/>
            </a:pPr>
            <a:r>
              <a:rPr lang="en-US" sz="900" dirty="0">
                <a:solidFill>
                  <a:srgbClr val="CAD6DE"/>
                </a:solidFill>
                <a:latin typeface="Cabin" pitchFamily="34" charset="0"/>
                <a:ea typeface="Cabin" pitchFamily="34" charset="-122"/>
                <a:cs typeface="Cabin" pitchFamily="34" charset="-120"/>
              </a:rPr>
              <a:t>Sesi praktik dilakukan secara bersama-sama: peserta menyusun satu prompt awal untuk membangun sebuah halaman sederhana (misalnya sebuah kartu profil atau kartu produk), meminta AI membuatkan kode HTML dan CSS-nya, lalu menjalankannya langsung di browser untuk melihat hasilnya.</a:t>
            </a:r>
            <a:endParaRPr lang="en-US" sz="900" dirty="0"/>
          </a:p>
          <a:p>
            <a:pPr algn="l" indent="0" marL="0">
              <a:lnSpc>
                <a:spcPct val="110000"/>
              </a:lnSpc>
              <a:buNone/>
            </a:pPr>
            <a:r>
              <a:rPr lang="en-US" sz="900" dirty="0">
                <a:solidFill>
                  <a:srgbClr val="CAD6DE"/>
                </a:solidFill>
                <a:latin typeface="Cabin" pitchFamily="34" charset="0"/>
                <a:ea typeface="Cabin" pitchFamily="34" charset="-122"/>
                <a:cs typeface="Cabin" pitchFamily="34" charset="-120"/>
              </a:rPr>
              <a:t>Ketika hasil dari AI ternyata belum sesuai harapan, atau muncul tampilan yang berantakan, di sinilah sesi </a:t>
            </a:r>
            <a:pPr algn="l" indent="0" marL="0">
              <a:lnSpc>
                <a:spcPct val="110000"/>
              </a:lnSpc>
              <a:buNone/>
            </a:pPr>
            <a:r>
              <a:rPr lang="en-US" sz="900" b="1" dirty="0">
                <a:solidFill>
                  <a:srgbClr val="CAD6DE"/>
                </a:solidFill>
                <a:latin typeface="Cabin Bold" pitchFamily="34" charset="0"/>
                <a:ea typeface="Cabin Bold" pitchFamily="34" charset="-122"/>
                <a:cs typeface="Cabin Bold" pitchFamily="34" charset="-120"/>
              </a:rPr>
              <a:t>live-debugging</a:t>
            </a:r>
            <a:pPr algn="l" indent="0" marL="0">
              <a:lnSpc>
                <a:spcPct val="110000"/>
              </a:lnSpc>
              <a:buNone/>
            </a:pPr>
            <a:r>
              <a:rPr lang="en-US" sz="900" dirty="0">
                <a:solidFill>
                  <a:srgbClr val="CAD6DE"/>
                </a:solidFill>
                <a:latin typeface="Cabin" pitchFamily="34" charset="0"/>
                <a:ea typeface="Cabin" pitchFamily="34" charset="-122"/>
                <a:cs typeface="Cabin" pitchFamily="34" charset="-120"/>
              </a:rPr>
              <a:t> dilakukan: peserta diajak mengamati apa yang salah, membandingkan dengan struktur HTML/CSS yang sudah dipelajari sebelumnya, lalu menyusun prompt lanjutan yang lebih spesifik untuk memperbaikinya.</a:t>
            </a:r>
            <a:endParaRPr lang="en-US" sz="900" dirty="0"/>
          </a:p>
        </p:txBody>
      </p:sp>
      <p:sp>
        <p:nvSpPr>
          <p:cNvPr id="11" name="Shape 9"/>
          <p:cNvSpPr/>
          <p:nvPr/>
        </p:nvSpPr>
        <p:spPr>
          <a:xfrm>
            <a:off x="6241894" y="2577902"/>
            <a:ext cx="5258065" cy="495697"/>
          </a:xfrm>
          <a:prstGeom prst="roundRect">
            <a:avLst>
              <a:gd name="adj" fmla="val 3466"/>
            </a:avLst>
          </a:prstGeom>
          <a:solidFill>
            <a:srgbClr val="08786D"/>
          </a:solidFill>
          <a:ln/>
        </p:spPr>
      </p:sp>
      <p:pic>
        <p:nvPicPr>
          <p:cNvPr id="12" name="Image 0" descr="preencoded.png">    </p:cNvPr>
          <p:cNvPicPr>
            <a:picLocks noChangeAspect="1"/>
          </p:cNvPicPr>
          <p:nvPr/>
        </p:nvPicPr>
        <p:blipFill>
          <a:blip r:embed="rId1"/>
          <a:stretch>
            <a:fillRect/>
          </a:stretch>
        </p:blipFill>
        <p:spPr>
          <a:xfrm>
            <a:off x="6356389" y="2689324"/>
            <a:ext cx="143169" cy="114498"/>
          </a:xfrm>
          <a:prstGeom prst="rect">
            <a:avLst/>
          </a:prstGeom>
        </p:spPr>
      </p:pic>
      <p:sp>
        <p:nvSpPr>
          <p:cNvPr id="13" name="Text 10"/>
          <p:cNvSpPr/>
          <p:nvPr/>
        </p:nvSpPr>
        <p:spPr>
          <a:xfrm>
            <a:off x="6614054" y="2674045"/>
            <a:ext cx="4771410" cy="303411"/>
          </a:xfrm>
          <a:prstGeom prst="rect">
            <a:avLst/>
          </a:prstGeom>
          <a:noFill/>
          <a:ln/>
        </p:spPr>
        <p:txBody>
          <a:bodyPr wrap="square" lIns="0" tIns="0" rIns="0" bIns="0" rtlCol="0" anchor="t">
            <a:normAutofit/>
          </a:bodyPr>
          <a:lstStyle/>
          <a:p>
            <a:pPr algn="l" indent="0" marL="0">
              <a:lnSpc>
                <a:spcPct val="110000"/>
              </a:lnSpc>
              <a:buNone/>
            </a:pPr>
            <a:r>
              <a:rPr lang="en-US" sz="900" b="1" dirty="0">
                <a:solidFill>
                  <a:srgbClr val="FFFFFF"/>
                </a:solidFill>
                <a:latin typeface="Cabin Bold" pitchFamily="34" charset="0"/>
                <a:ea typeface="Cabin Bold" pitchFamily="34" charset="-122"/>
                <a:cs typeface="Cabin Bold" pitchFamily="34" charset="-120"/>
              </a:rPr>
              <a:t>Inti dari vibe coding yang sesungguhnya:</a:t>
            </a:r>
            <a:pPr algn="l" indent="0" marL="0">
              <a:lnSpc>
                <a:spcPct val="110000"/>
              </a:lnSpc>
              <a:buNone/>
            </a:pPr>
            <a:r>
              <a:rPr lang="en-US" sz="900" dirty="0">
                <a:solidFill>
                  <a:srgbClr val="FFFFFF"/>
                </a:solidFill>
                <a:latin typeface="Cabin" pitchFamily="34" charset="0"/>
                <a:ea typeface="Cabin" pitchFamily="34" charset="-122"/>
                <a:cs typeface="Cabin" pitchFamily="34" charset="-120"/>
              </a:rPr>
              <a:t> Bukan sekali jadi, melainkan siklus </a:t>
            </a:r>
            <a:pPr algn="l" indent="0" marL="0">
              <a:lnSpc>
                <a:spcPct val="110000"/>
              </a:lnSpc>
              <a:buNone/>
            </a:pPr>
            <a:r>
              <a:rPr lang="en-US" sz="900" b="1" dirty="0">
                <a:solidFill>
                  <a:srgbClr val="FFFFFF"/>
                </a:solidFill>
                <a:latin typeface="Cabin Bold" pitchFamily="34" charset="0"/>
                <a:ea typeface="Cabin Bold" pitchFamily="34" charset="-122"/>
                <a:cs typeface="Cabin Bold" pitchFamily="34" charset="-120"/>
              </a:rPr>
              <a:t>mencoba → mengamati → menyempurnakan</a:t>
            </a:r>
            <a:pPr algn="l" indent="0" marL="0">
              <a:lnSpc>
                <a:spcPct val="110000"/>
              </a:lnSpc>
              <a:buNone/>
            </a:pPr>
            <a:r>
              <a:rPr lang="en-US" sz="900" dirty="0">
                <a:solidFill>
                  <a:srgbClr val="FFFFFF"/>
                </a:solidFill>
                <a:latin typeface="Cabin" pitchFamily="34" charset="0"/>
                <a:ea typeface="Cabin" pitchFamily="34" charset="-122"/>
                <a:cs typeface="Cabin" pitchFamily="34" charset="-120"/>
              </a:rPr>
              <a:t>. Proses inilah yang akan terus dipraktikkan sepanjang bootcamp.</a:t>
            </a:r>
            <a:endParaRPr lang="en-US" sz="900" dirty="0"/>
          </a:p>
        </p:txBody>
      </p:sp>
      <p:sp>
        <p:nvSpPr>
          <p:cNvPr id="14" name="Text 11"/>
          <p:cNvSpPr/>
          <p:nvPr/>
        </p:nvSpPr>
        <p:spPr>
          <a:xfrm>
            <a:off x="698086" y="3763566"/>
            <a:ext cx="10795524" cy="269478"/>
          </a:xfrm>
          <a:prstGeom prst="rect">
            <a:avLst/>
          </a:prstGeom>
          <a:noFill/>
          <a:ln/>
        </p:spPr>
        <p:txBody>
          <a:bodyPr wrap="none" lIns="0" tIns="0" rIns="0" bIns="0" rtlCol="0" anchor="t"/>
          <a:lstStyle/>
          <a:p>
            <a:pPr algn="l" indent="0" marL="0">
              <a:lnSpc>
                <a:spcPct val="104000"/>
              </a:lnSpc>
              <a:buNone/>
            </a:pPr>
            <a:r>
              <a:rPr lang="en-US" sz="1650" dirty="0">
                <a:solidFill>
                  <a:srgbClr val="FFFFFF"/>
                </a:solidFill>
                <a:latin typeface="Unbounded" pitchFamily="34" charset="0"/>
                <a:ea typeface="Unbounded" pitchFamily="34" charset="-122"/>
                <a:cs typeface="Unbounded" pitchFamily="34" charset="-120"/>
              </a:rPr>
              <a:t>Rangkuman 2</a:t>
            </a:r>
            <a:endParaRPr lang="en-US" sz="1650" dirty="0"/>
          </a:p>
        </p:txBody>
      </p:sp>
      <p:sp>
        <p:nvSpPr>
          <p:cNvPr id="15" name="Shape 12"/>
          <p:cNvSpPr/>
          <p:nvPr/>
        </p:nvSpPr>
        <p:spPr>
          <a:xfrm>
            <a:off x="698086" y="4145756"/>
            <a:ext cx="5360159" cy="594122"/>
          </a:xfrm>
          <a:prstGeom prst="roundRect">
            <a:avLst>
              <a:gd name="adj" fmla="val 2892"/>
            </a:avLst>
          </a:prstGeom>
          <a:solidFill>
            <a:srgbClr val="304755"/>
          </a:solidFill>
          <a:ln/>
        </p:spPr>
      </p:sp>
      <p:sp>
        <p:nvSpPr>
          <p:cNvPr id="16" name="Text 13"/>
          <p:cNvSpPr/>
          <p:nvPr/>
        </p:nvSpPr>
        <p:spPr>
          <a:xfrm>
            <a:off x="812581" y="4260255"/>
            <a:ext cx="5131168" cy="168374"/>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Prompt yang Baik</a:t>
            </a:r>
            <a:endParaRPr lang="en-US" sz="1050" dirty="0"/>
          </a:p>
        </p:txBody>
      </p:sp>
      <p:sp>
        <p:nvSpPr>
          <p:cNvPr id="17" name="Text 14"/>
          <p:cNvSpPr/>
          <p:nvPr/>
        </p:nvSpPr>
        <p:spPr>
          <a:xfrm>
            <a:off x="812581" y="4473674"/>
            <a:ext cx="5131168" cy="151705"/>
          </a:xfrm>
          <a:prstGeom prst="rect">
            <a:avLst/>
          </a:prstGeom>
          <a:noFill/>
          <a:ln/>
        </p:spPr>
        <p:txBody>
          <a:bodyPr wrap="none" lIns="0" tIns="0" rIns="0" bIns="0" rtlCol="0" anchor="t"/>
          <a:lstStyle/>
          <a:p>
            <a:pPr algn="l" indent="0" marL="0">
              <a:lnSpc>
                <a:spcPct val="110000"/>
              </a:lnSpc>
              <a:buNone/>
            </a:pPr>
            <a:r>
              <a:rPr lang="en-US" sz="900" dirty="0">
                <a:solidFill>
                  <a:srgbClr val="CAD6DE"/>
                </a:solidFill>
                <a:latin typeface="Cabin" pitchFamily="34" charset="0"/>
                <a:ea typeface="Cabin" pitchFamily="34" charset="-122"/>
                <a:cs typeface="Cabin" pitchFamily="34" charset="-120"/>
              </a:rPr>
              <a:t>Empat unsur: konteks, constraint, format output, dan contoh.</a:t>
            </a:r>
            <a:endParaRPr lang="en-US" sz="900" dirty="0"/>
          </a:p>
        </p:txBody>
      </p:sp>
      <p:sp>
        <p:nvSpPr>
          <p:cNvPr id="18" name="Shape 15"/>
          <p:cNvSpPr/>
          <p:nvPr/>
        </p:nvSpPr>
        <p:spPr>
          <a:xfrm>
            <a:off x="6133351" y="4145756"/>
            <a:ext cx="5360258" cy="594122"/>
          </a:xfrm>
          <a:prstGeom prst="roundRect">
            <a:avLst>
              <a:gd name="adj" fmla="val 2892"/>
            </a:avLst>
          </a:prstGeom>
          <a:solidFill>
            <a:srgbClr val="304755"/>
          </a:solidFill>
          <a:ln/>
        </p:spPr>
      </p:sp>
      <p:sp>
        <p:nvSpPr>
          <p:cNvPr id="19" name="Text 16"/>
          <p:cNvSpPr/>
          <p:nvPr/>
        </p:nvSpPr>
        <p:spPr>
          <a:xfrm>
            <a:off x="6247847" y="4260255"/>
            <a:ext cx="5131267" cy="168374"/>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Iterative Prompting</a:t>
            </a:r>
            <a:endParaRPr lang="en-US" sz="1050" dirty="0"/>
          </a:p>
        </p:txBody>
      </p:sp>
      <p:sp>
        <p:nvSpPr>
          <p:cNvPr id="20" name="Text 17"/>
          <p:cNvSpPr/>
          <p:nvPr/>
        </p:nvSpPr>
        <p:spPr>
          <a:xfrm>
            <a:off x="6247847" y="4473674"/>
            <a:ext cx="5131267" cy="151705"/>
          </a:xfrm>
          <a:prstGeom prst="rect">
            <a:avLst/>
          </a:prstGeom>
          <a:noFill/>
          <a:ln/>
        </p:spPr>
        <p:txBody>
          <a:bodyPr wrap="none" lIns="0" tIns="0" rIns="0" bIns="0" rtlCol="0" anchor="t"/>
          <a:lstStyle/>
          <a:p>
            <a:pPr algn="l" indent="0" marL="0">
              <a:lnSpc>
                <a:spcPct val="110000"/>
              </a:lnSpc>
              <a:buNone/>
            </a:pPr>
            <a:r>
              <a:rPr lang="en-US" sz="900" dirty="0">
                <a:solidFill>
                  <a:srgbClr val="CAD6DE"/>
                </a:solidFill>
                <a:latin typeface="Cabin" pitchFamily="34" charset="0"/>
                <a:ea typeface="Cabin" pitchFamily="34" charset="-122"/>
                <a:cs typeface="Cabin" pitchFamily="34" charset="-120"/>
              </a:rPr>
              <a:t>Tiga teknik: refine, debug, dan meminta penjelasan.</a:t>
            </a:r>
            <a:endParaRPr lang="en-US" sz="900" dirty="0"/>
          </a:p>
        </p:txBody>
      </p:sp>
      <p:sp>
        <p:nvSpPr>
          <p:cNvPr id="21" name="Shape 18"/>
          <p:cNvSpPr/>
          <p:nvPr/>
        </p:nvSpPr>
        <p:spPr>
          <a:xfrm>
            <a:off x="698086" y="4814987"/>
            <a:ext cx="5360159" cy="594122"/>
          </a:xfrm>
          <a:prstGeom prst="roundRect">
            <a:avLst>
              <a:gd name="adj" fmla="val 2892"/>
            </a:avLst>
          </a:prstGeom>
          <a:solidFill>
            <a:srgbClr val="304755"/>
          </a:solidFill>
          <a:ln/>
        </p:spPr>
      </p:sp>
      <p:sp>
        <p:nvSpPr>
          <p:cNvPr id="22" name="Text 19"/>
          <p:cNvSpPr/>
          <p:nvPr/>
        </p:nvSpPr>
        <p:spPr>
          <a:xfrm>
            <a:off x="812581" y="4929485"/>
            <a:ext cx="5131168" cy="168374"/>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HTML Semantic</a:t>
            </a:r>
            <a:endParaRPr lang="en-US" sz="1050" dirty="0"/>
          </a:p>
        </p:txBody>
      </p:sp>
      <p:sp>
        <p:nvSpPr>
          <p:cNvPr id="23" name="Text 20"/>
          <p:cNvSpPr/>
          <p:nvPr/>
        </p:nvSpPr>
        <p:spPr>
          <a:xfrm>
            <a:off x="812581" y="5142905"/>
            <a:ext cx="5131168" cy="151705"/>
          </a:xfrm>
          <a:prstGeom prst="rect">
            <a:avLst/>
          </a:prstGeom>
          <a:noFill/>
          <a:ln/>
        </p:spPr>
        <p:txBody>
          <a:bodyPr wrap="none" lIns="0" tIns="0" rIns="0" bIns="0" rtlCol="0" anchor="t"/>
          <a:lstStyle/>
          <a:p>
            <a:pPr algn="l" indent="0" marL="0">
              <a:lnSpc>
                <a:spcPct val="110000"/>
              </a:lnSpc>
              <a:buNone/>
            </a:pPr>
            <a:r>
              <a:rPr lang="en-US" sz="900" dirty="0">
                <a:solidFill>
                  <a:srgbClr val="CAD6DE"/>
                </a:solidFill>
                <a:latin typeface="Cabin" pitchFamily="34" charset="0"/>
                <a:ea typeface="Cabin" pitchFamily="34" charset="-122"/>
                <a:cs typeface="Cabin" pitchFamily="34" charset="-120"/>
              </a:rPr>
              <a:t>Tag yang menggambarkan makna konten: header, nav, main, section, footer.</a:t>
            </a:r>
            <a:endParaRPr lang="en-US" sz="900" dirty="0"/>
          </a:p>
        </p:txBody>
      </p:sp>
      <p:sp>
        <p:nvSpPr>
          <p:cNvPr id="24" name="Shape 21"/>
          <p:cNvSpPr/>
          <p:nvPr/>
        </p:nvSpPr>
        <p:spPr>
          <a:xfrm>
            <a:off x="6133351" y="4814987"/>
            <a:ext cx="5360258" cy="594122"/>
          </a:xfrm>
          <a:prstGeom prst="roundRect">
            <a:avLst>
              <a:gd name="adj" fmla="val 2892"/>
            </a:avLst>
          </a:prstGeom>
          <a:solidFill>
            <a:srgbClr val="304755"/>
          </a:solidFill>
          <a:ln/>
        </p:spPr>
      </p:sp>
      <p:sp>
        <p:nvSpPr>
          <p:cNvPr id="25" name="Text 22"/>
          <p:cNvSpPr/>
          <p:nvPr/>
        </p:nvSpPr>
        <p:spPr>
          <a:xfrm>
            <a:off x="6247847" y="4929485"/>
            <a:ext cx="5131267" cy="168374"/>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CSS Layout</a:t>
            </a:r>
            <a:endParaRPr lang="en-US" sz="1050" dirty="0"/>
          </a:p>
        </p:txBody>
      </p:sp>
      <p:sp>
        <p:nvSpPr>
          <p:cNvPr id="26" name="Text 23"/>
          <p:cNvSpPr/>
          <p:nvPr/>
        </p:nvSpPr>
        <p:spPr>
          <a:xfrm>
            <a:off x="6247847" y="5142905"/>
            <a:ext cx="5131267" cy="151705"/>
          </a:xfrm>
          <a:prstGeom prst="rect">
            <a:avLst/>
          </a:prstGeom>
          <a:noFill/>
          <a:ln/>
        </p:spPr>
        <p:txBody>
          <a:bodyPr wrap="none" lIns="0" tIns="0" rIns="0" bIns="0" rtlCol="0" anchor="t"/>
          <a:lstStyle/>
          <a:p>
            <a:pPr algn="l" indent="0" marL="0">
              <a:lnSpc>
                <a:spcPct val="110000"/>
              </a:lnSpc>
              <a:buNone/>
            </a:pPr>
            <a:r>
              <a:rPr lang="en-US" sz="900" dirty="0">
                <a:solidFill>
                  <a:srgbClr val="CAD6DE"/>
                </a:solidFill>
                <a:latin typeface="Cabin" pitchFamily="34" charset="0"/>
                <a:ea typeface="Cabin" pitchFamily="34" charset="-122"/>
                <a:cs typeface="Cabin" pitchFamily="34" charset="-120"/>
              </a:rPr>
              <a:t>Box model, flexbox untuk satu arah, grid untuk baris dan kolom.</a:t>
            </a:r>
            <a:endParaRPr lang="en-US" sz="900" dirty="0"/>
          </a:p>
        </p:txBody>
      </p:sp>
      <p:sp>
        <p:nvSpPr>
          <p:cNvPr id="27" name="Shape 24"/>
          <p:cNvSpPr/>
          <p:nvPr/>
        </p:nvSpPr>
        <p:spPr>
          <a:xfrm>
            <a:off x="698086" y="5484217"/>
            <a:ext cx="5360159" cy="594122"/>
          </a:xfrm>
          <a:prstGeom prst="roundRect">
            <a:avLst>
              <a:gd name="adj" fmla="val 2892"/>
            </a:avLst>
          </a:prstGeom>
          <a:solidFill>
            <a:srgbClr val="304755"/>
          </a:solidFill>
          <a:ln/>
        </p:spPr>
      </p:sp>
      <p:sp>
        <p:nvSpPr>
          <p:cNvPr id="28" name="Text 25"/>
          <p:cNvSpPr/>
          <p:nvPr/>
        </p:nvSpPr>
        <p:spPr>
          <a:xfrm>
            <a:off x="812581" y="5598716"/>
            <a:ext cx="5131168" cy="168374"/>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JavaScript Dasar</a:t>
            </a:r>
            <a:endParaRPr lang="en-US" sz="1050" dirty="0"/>
          </a:p>
        </p:txBody>
      </p:sp>
      <p:sp>
        <p:nvSpPr>
          <p:cNvPr id="29" name="Text 26"/>
          <p:cNvSpPr/>
          <p:nvPr/>
        </p:nvSpPr>
        <p:spPr>
          <a:xfrm>
            <a:off x="812581" y="5812135"/>
            <a:ext cx="5131168" cy="151705"/>
          </a:xfrm>
          <a:prstGeom prst="rect">
            <a:avLst/>
          </a:prstGeom>
          <a:noFill/>
          <a:ln/>
        </p:spPr>
        <p:txBody>
          <a:bodyPr wrap="none" lIns="0" tIns="0" rIns="0" bIns="0" rtlCol="0" anchor="t"/>
          <a:lstStyle/>
          <a:p>
            <a:pPr algn="l" indent="0" marL="0">
              <a:lnSpc>
                <a:spcPct val="110000"/>
              </a:lnSpc>
              <a:buNone/>
            </a:pPr>
            <a:r>
              <a:rPr lang="en-US" sz="900" dirty="0">
                <a:solidFill>
                  <a:srgbClr val="CAD6DE"/>
                </a:solidFill>
                <a:latin typeface="Cabin" pitchFamily="34" charset="0"/>
                <a:ea typeface="Cabin" pitchFamily="34" charset="-122"/>
                <a:cs typeface="Cabin" pitchFamily="34" charset="-120"/>
              </a:rPr>
              <a:t>Variabel (let/const), fungsi, dan event untuk interaktivitas.</a:t>
            </a:r>
            <a:endParaRPr lang="en-US" sz="900" dirty="0"/>
          </a:p>
        </p:txBody>
      </p:sp>
      <p:sp>
        <p:nvSpPr>
          <p:cNvPr id="30" name="Shape 27"/>
          <p:cNvSpPr/>
          <p:nvPr/>
        </p:nvSpPr>
        <p:spPr>
          <a:xfrm>
            <a:off x="6133351" y="5484217"/>
            <a:ext cx="5360258" cy="594122"/>
          </a:xfrm>
          <a:prstGeom prst="roundRect">
            <a:avLst>
              <a:gd name="adj" fmla="val 2892"/>
            </a:avLst>
          </a:prstGeom>
          <a:solidFill>
            <a:srgbClr val="304755"/>
          </a:solidFill>
          <a:ln/>
        </p:spPr>
      </p:sp>
      <p:sp>
        <p:nvSpPr>
          <p:cNvPr id="31" name="Text 28"/>
          <p:cNvSpPr/>
          <p:nvPr/>
        </p:nvSpPr>
        <p:spPr>
          <a:xfrm>
            <a:off x="6247847" y="5598716"/>
            <a:ext cx="5131267" cy="168374"/>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Membaca Kode AI</a:t>
            </a:r>
            <a:endParaRPr lang="en-US" sz="1050" dirty="0"/>
          </a:p>
        </p:txBody>
      </p:sp>
      <p:sp>
        <p:nvSpPr>
          <p:cNvPr id="32" name="Text 29"/>
          <p:cNvSpPr/>
          <p:nvPr/>
        </p:nvSpPr>
        <p:spPr>
          <a:xfrm>
            <a:off x="6247847" y="5812135"/>
            <a:ext cx="5131267" cy="151705"/>
          </a:xfrm>
          <a:prstGeom prst="rect">
            <a:avLst/>
          </a:prstGeom>
          <a:noFill/>
          <a:ln/>
        </p:spPr>
        <p:txBody>
          <a:bodyPr wrap="none" lIns="0" tIns="0" rIns="0" bIns="0" rtlCol="0" anchor="t"/>
          <a:lstStyle/>
          <a:p>
            <a:pPr algn="l" indent="0" marL="0">
              <a:lnSpc>
                <a:spcPct val="110000"/>
              </a:lnSpc>
              <a:buNone/>
            </a:pPr>
            <a:r>
              <a:rPr lang="en-US" sz="900" dirty="0">
                <a:solidFill>
                  <a:srgbClr val="CAD6DE"/>
                </a:solidFill>
                <a:latin typeface="Cabin" pitchFamily="34" charset="0"/>
                <a:ea typeface="Cabin" pitchFamily="34" charset="-122"/>
                <a:cs typeface="Cabin" pitchFamily="34" charset="-120"/>
              </a:rPr>
              <a:t>Strategi membaca kode secara kritis, bukan menyalin secara buta.</a:t>
            </a:r>
            <a:endParaRPr lang="en-US" sz="900" dirty="0"/>
          </a:p>
        </p:txBody>
      </p:sp>
      <p:sp>
        <p:nvSpPr>
          <p:cNvPr id="33" name="Text 30"/>
          <p:cNvSpPr/>
          <p:nvPr/>
        </p:nvSpPr>
        <p:spPr>
          <a:xfrm>
            <a:off x="698086" y="6162873"/>
            <a:ext cx="11405108" cy="151705"/>
          </a:xfrm>
          <a:prstGeom prst="rect">
            <a:avLst/>
          </a:prstGeom>
          <a:noFill/>
          <a:ln/>
        </p:spPr>
        <p:txBody>
          <a:bodyPr wrap="none" lIns="0" tIns="0" rIns="0" bIns="0" rtlCol="0" anchor="t"/>
          <a:lstStyle/>
          <a:p>
            <a:pPr algn="l" indent="0" marL="0">
              <a:lnSpc>
                <a:spcPct val="110000"/>
              </a:lnSpc>
              <a:buNone/>
            </a:pPr>
            <a:r>
              <a:rPr lang="en-US" sz="900" dirty="0">
                <a:solidFill>
                  <a:srgbClr val="CAD6DE"/>
                </a:solidFill>
                <a:latin typeface="Cabin" pitchFamily="34" charset="0"/>
                <a:ea typeface="Cabin" pitchFamily="34" charset="-122"/>
                <a:cs typeface="Cabin" pitchFamily="34" charset="-120"/>
              </a:rPr>
              <a:t>Output akhir pertemuan ini adalah sebuah halaman HTML/CSS/JavaScript interaktif sederhana, yang siap dikembangkan lebih lanjut menjadi landing page utuh pada Tugas 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98086" y="525463"/>
            <a:ext cx="1212324" cy="178098"/>
          </a:xfrm>
          <a:prstGeom prst="roundRect">
            <a:avLst>
              <a:gd name="adj" fmla="val 7902"/>
            </a:avLst>
          </a:prstGeom>
          <a:solidFill>
            <a:srgbClr val="054842"/>
          </a:solidFill>
          <a:ln/>
        </p:spPr>
      </p:sp>
      <p:sp>
        <p:nvSpPr>
          <p:cNvPr id="3" name="Text 1"/>
          <p:cNvSpPr/>
          <p:nvPr/>
        </p:nvSpPr>
        <p:spPr>
          <a:xfrm>
            <a:off x="768430" y="560586"/>
            <a:ext cx="1681220" cy="107851"/>
          </a:xfrm>
          <a:prstGeom prst="rect">
            <a:avLst/>
          </a:prstGeom>
          <a:noFill/>
          <a:ln/>
        </p:spPr>
        <p:txBody>
          <a:bodyPr wrap="none" lIns="0" tIns="0" rIns="0" bIns="0" rtlCol="0" anchor="t"/>
          <a:lstStyle/>
          <a:p>
            <a:pPr algn="l" indent="0" marL="0">
              <a:lnSpc>
                <a:spcPct val="96000"/>
              </a:lnSpc>
              <a:buNone/>
            </a:pPr>
            <a:r>
              <a:rPr lang="en-US" sz="700" dirty="0">
                <a:solidFill>
                  <a:srgbClr val="CAD6DE"/>
                </a:solidFill>
                <a:latin typeface="Cabin" pitchFamily="34" charset="0"/>
                <a:ea typeface="Cabin" pitchFamily="34" charset="-122"/>
                <a:cs typeface="Cabin" pitchFamily="34" charset="-120"/>
              </a:rPr>
              <a:t>BOOTCAMP VIBE CODING</a:t>
            </a:r>
            <a:endParaRPr lang="en-US" sz="700" dirty="0"/>
          </a:p>
        </p:txBody>
      </p:sp>
      <p:sp>
        <p:nvSpPr>
          <p:cNvPr id="4" name="Text 2"/>
          <p:cNvSpPr/>
          <p:nvPr/>
        </p:nvSpPr>
        <p:spPr>
          <a:xfrm>
            <a:off x="698086" y="735013"/>
            <a:ext cx="10795524" cy="344884"/>
          </a:xfrm>
          <a:prstGeom prst="rect">
            <a:avLst/>
          </a:prstGeom>
          <a:noFill/>
          <a:ln/>
        </p:spPr>
        <p:txBody>
          <a:bodyPr wrap="none" lIns="0" tIns="0" rIns="0" bIns="0" rtlCol="0" anchor="t"/>
          <a:lstStyle/>
          <a:p>
            <a:pPr algn="l" indent="0" marL="0">
              <a:lnSpc>
                <a:spcPct val="104000"/>
              </a:lnSpc>
              <a:buNone/>
            </a:pPr>
            <a:r>
              <a:rPr lang="en-US" sz="2150" dirty="0">
                <a:solidFill>
                  <a:srgbClr val="FFFFFF"/>
                </a:solidFill>
                <a:latin typeface="Unbounded" pitchFamily="34" charset="0"/>
                <a:ea typeface="Unbounded" pitchFamily="34" charset="-122"/>
                <a:cs typeface="Unbounded" pitchFamily="34" charset="-120"/>
              </a:rPr>
              <a:t>Landing Page Statis dengan AI</a:t>
            </a:r>
            <a:endParaRPr lang="en-US" sz="2150" dirty="0"/>
          </a:p>
        </p:txBody>
      </p:sp>
      <p:sp>
        <p:nvSpPr>
          <p:cNvPr id="5" name="Text 3"/>
          <p:cNvSpPr/>
          <p:nvPr/>
        </p:nvSpPr>
        <p:spPr>
          <a:xfrm>
            <a:off x="698086" y="1198066"/>
            <a:ext cx="11405108" cy="156766"/>
          </a:xfrm>
          <a:prstGeom prst="rect">
            <a:avLst/>
          </a:prstGeom>
          <a:noFill/>
          <a:ln/>
        </p:spPr>
        <p:txBody>
          <a:bodyPr wrap="none" lIns="0" tIns="0" rIns="0" bIns="0" rtlCol="0" anchor="t"/>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Sebagai penutup Materi 1, peserta mengerjakan tugas pertama yang menjadi </a:t>
            </a:r>
            <a:pPr algn="l" indent="0" marL="0">
              <a:lnSpc>
                <a:spcPct val="111000"/>
              </a:lnSpc>
              <a:buNone/>
            </a:pPr>
            <a:r>
              <a:rPr lang="en-US" sz="900" b="1" dirty="0">
                <a:solidFill>
                  <a:srgbClr val="CAD6DE"/>
                </a:solidFill>
                <a:latin typeface="Cabin Bold" pitchFamily="34" charset="0"/>
                <a:ea typeface="Cabin Bold" pitchFamily="34" charset="-122"/>
                <a:cs typeface="Cabin Bold" pitchFamily="34" charset="-120"/>
              </a:rPr>
              <a:t>bukti nyata</a:t>
            </a:r>
            <a:pPr algn="l" indent="0" marL="0">
              <a:lnSpc>
                <a:spcPct val="111000"/>
              </a:lnSpc>
              <a:buNone/>
            </a:pPr>
            <a:r>
              <a:rPr lang="en-US" sz="900" dirty="0">
                <a:solidFill>
                  <a:srgbClr val="CAD6DE"/>
                </a:solidFill>
                <a:latin typeface="Cabin" pitchFamily="34" charset="0"/>
                <a:ea typeface="Cabin" pitchFamily="34" charset="-122"/>
                <a:cs typeface="Cabin" pitchFamily="34" charset="-120"/>
              </a:rPr>
              <a:t> dari seluruh konsep dan keterampilan yang telah dipelajari pada dua pertemuan sebelumnya.</a:t>
            </a:r>
            <a:endParaRPr lang="en-US" sz="900" dirty="0"/>
          </a:p>
        </p:txBody>
      </p:sp>
      <p:sp>
        <p:nvSpPr>
          <p:cNvPr id="6" name="Text 4"/>
          <p:cNvSpPr/>
          <p:nvPr/>
        </p:nvSpPr>
        <p:spPr>
          <a:xfrm>
            <a:off x="698086" y="1473002"/>
            <a:ext cx="10795524" cy="275927"/>
          </a:xfrm>
          <a:prstGeom prst="rect">
            <a:avLst/>
          </a:prstGeom>
          <a:noFill/>
          <a:ln/>
        </p:spPr>
        <p:txBody>
          <a:bodyPr wrap="none" lIns="0" tIns="0" rIns="0" bIns="0" rtlCol="0" anchor="t"/>
          <a:lstStyle/>
          <a:p>
            <a:pPr algn="l" indent="0" marL="0">
              <a:lnSpc>
                <a:spcPct val="104000"/>
              </a:lnSpc>
              <a:buNone/>
            </a:pPr>
            <a:r>
              <a:rPr lang="en-US" sz="1700" dirty="0">
                <a:solidFill>
                  <a:srgbClr val="FFFFFF"/>
                </a:solidFill>
                <a:latin typeface="Unbounded" pitchFamily="34" charset="0"/>
                <a:ea typeface="Unbounded" pitchFamily="34" charset="-122"/>
                <a:cs typeface="Unbounded" pitchFamily="34" charset="-120"/>
              </a:rPr>
              <a:t>Deskripsi Tugas</a:t>
            </a:r>
            <a:endParaRPr lang="en-US" sz="1700" dirty="0"/>
          </a:p>
        </p:txBody>
      </p:sp>
      <p:sp>
        <p:nvSpPr>
          <p:cNvPr id="7" name="Text 5"/>
          <p:cNvSpPr/>
          <p:nvPr/>
        </p:nvSpPr>
        <p:spPr>
          <a:xfrm>
            <a:off x="698086" y="1867098"/>
            <a:ext cx="10795524" cy="313531"/>
          </a:xfrm>
          <a:prstGeom prst="rect">
            <a:avLst/>
          </a:prstGeom>
          <a:noFill/>
          <a:ln/>
        </p:spPr>
        <p:txBody>
          <a:bodyPr wrap="square" lIns="0" tIns="0" rIns="0" bIns="0" rtlCol="0" anchor="t">
            <a:normAutofit/>
          </a:bodyPr>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Peserta membuat satu halaman landing page menggunakan HTML, CSS, dan JavaScript sederhana (boleh menggunakan Next.js dasar bagi yang ingin mencoba lebih awal), untuk sebuah produk atau ide fiktif pilihan sendiri. Seluruh proses pembuatan halaman ini dibangun penuh dengan bantuan prompting kepada AI assistant, sesuai teknik yang telah dipelajari pada Pertemuan 2.</a:t>
            </a:r>
            <a:endParaRPr lang="en-US" sz="900" dirty="0"/>
          </a:p>
        </p:txBody>
      </p:sp>
      <p:sp>
        <p:nvSpPr>
          <p:cNvPr id="8" name="Text 6"/>
          <p:cNvSpPr/>
          <p:nvPr/>
        </p:nvSpPr>
        <p:spPr>
          <a:xfrm>
            <a:off x="698086" y="2298799"/>
            <a:ext cx="10795524" cy="275927"/>
          </a:xfrm>
          <a:prstGeom prst="rect">
            <a:avLst/>
          </a:prstGeom>
          <a:noFill/>
          <a:ln/>
        </p:spPr>
        <p:txBody>
          <a:bodyPr wrap="none" lIns="0" tIns="0" rIns="0" bIns="0" rtlCol="0" anchor="t"/>
          <a:lstStyle/>
          <a:p>
            <a:pPr algn="l" indent="0" marL="0">
              <a:lnSpc>
                <a:spcPct val="104000"/>
              </a:lnSpc>
              <a:buNone/>
            </a:pPr>
            <a:r>
              <a:rPr lang="en-US" sz="1700" dirty="0">
                <a:solidFill>
                  <a:srgbClr val="FFFFFF"/>
                </a:solidFill>
                <a:latin typeface="Unbounded" pitchFamily="34" charset="0"/>
                <a:ea typeface="Unbounded" pitchFamily="34" charset="-122"/>
                <a:cs typeface="Unbounded" pitchFamily="34" charset="-120"/>
              </a:rPr>
              <a:t>Kriteria Penilaian</a:t>
            </a:r>
            <a:endParaRPr lang="en-US" sz="17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2692896"/>
            <a:ext cx="5358373" cy="1131987"/>
          </a:xfrm>
          <a:prstGeom prst="rect">
            <a:avLst/>
          </a:prstGeom>
        </p:spPr>
      </p:pic>
      <p:sp>
        <p:nvSpPr>
          <p:cNvPr id="10" name="Text 7"/>
          <p:cNvSpPr/>
          <p:nvPr/>
        </p:nvSpPr>
        <p:spPr>
          <a:xfrm>
            <a:off x="3306829" y="2780804"/>
            <a:ext cx="140689" cy="175816"/>
          </a:xfrm>
          <a:prstGeom prst="rect">
            <a:avLst/>
          </a:prstGeom>
          <a:noFill/>
          <a:ln/>
        </p:spPr>
        <p:txBody>
          <a:bodyPr wrap="none" lIns="0" tIns="0" rIns="0" bIns="0" rtlCol="0" anchor="ctr"/>
          <a:lstStyle/>
          <a:p>
            <a:pPr algn="ctr" indent="0" marL="0">
              <a:lnSpc>
                <a:spcPct val="100000"/>
              </a:lnSpc>
              <a:buNone/>
            </a:pPr>
            <a:r>
              <a:rPr lang="en-US" sz="1100" dirty="0">
                <a:solidFill>
                  <a:srgbClr val="FFFFFF"/>
                </a:solidFill>
                <a:latin typeface="Unbounded" pitchFamily="34" charset="0"/>
                <a:ea typeface="Unbounded" pitchFamily="34" charset="-122"/>
                <a:cs typeface="Unbounded" pitchFamily="34" charset="-120"/>
              </a:rPr>
              <a:t>1</a:t>
            </a:r>
            <a:endParaRPr lang="en-US" sz="1100" dirty="0"/>
          </a:p>
        </p:txBody>
      </p:sp>
      <p:sp>
        <p:nvSpPr>
          <p:cNvPr id="11" name="Text 8"/>
          <p:cNvSpPr/>
          <p:nvPr/>
        </p:nvSpPr>
        <p:spPr>
          <a:xfrm>
            <a:off x="827960" y="3161804"/>
            <a:ext cx="5098625" cy="172442"/>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Struktur Halaman</a:t>
            </a:r>
            <a:endParaRPr lang="en-US" sz="1050" dirty="0"/>
          </a:p>
        </p:txBody>
      </p:sp>
      <p:sp>
        <p:nvSpPr>
          <p:cNvPr id="12" name="Text 9"/>
          <p:cNvSpPr/>
          <p:nvPr/>
        </p:nvSpPr>
        <p:spPr>
          <a:xfrm>
            <a:off x="827960" y="3381474"/>
            <a:ext cx="5098625" cy="313531"/>
          </a:xfrm>
          <a:prstGeom prst="rect">
            <a:avLst/>
          </a:prstGeom>
          <a:noFill/>
          <a:ln/>
        </p:spPr>
        <p:txBody>
          <a:bodyPr wrap="square" lIns="0" tIns="0" rIns="0" bIns="0" rtlCol="0" anchor="t">
            <a:normAutofit/>
          </a:bodyPr>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Landing page memiliki minimal tiga bagian (section): </a:t>
            </a:r>
            <a:pPr algn="l" indent="0" marL="0">
              <a:lnSpc>
                <a:spcPct val="111000"/>
              </a:lnSpc>
              <a:buNone/>
            </a:pPr>
            <a:r>
              <a:rPr lang="en-US" sz="900" b="1" dirty="0">
                <a:solidFill>
                  <a:srgbClr val="CAD6DE"/>
                </a:solidFill>
                <a:latin typeface="Cabin Bold" pitchFamily="34" charset="0"/>
                <a:ea typeface="Cabin Bold" pitchFamily="34" charset="-122"/>
                <a:cs typeface="Cabin Bold" pitchFamily="34" charset="-120"/>
              </a:rPr>
              <a:t>hero</a:t>
            </a:r>
            <a:pPr algn="l" indent="0" marL="0">
              <a:lnSpc>
                <a:spcPct val="111000"/>
              </a:lnSpc>
              <a:buNone/>
            </a:pPr>
            <a:r>
              <a:rPr lang="en-US" sz="900" dirty="0">
                <a:solidFill>
                  <a:srgbClr val="CAD6DE"/>
                </a:solidFill>
                <a:latin typeface="Cabin" pitchFamily="34" charset="0"/>
                <a:ea typeface="Cabin" pitchFamily="34" charset="-122"/>
                <a:cs typeface="Cabin" pitchFamily="34" charset="-120"/>
              </a:rPr>
              <a:t> (bagian pembuka utama), </a:t>
            </a:r>
            <a:pPr algn="l" indent="0" marL="0">
              <a:lnSpc>
                <a:spcPct val="111000"/>
              </a:lnSpc>
              <a:buNone/>
            </a:pPr>
            <a:r>
              <a:rPr lang="en-US" sz="900" b="1" dirty="0">
                <a:solidFill>
                  <a:srgbClr val="CAD6DE"/>
                </a:solidFill>
                <a:latin typeface="Cabin Bold" pitchFamily="34" charset="0"/>
                <a:ea typeface="Cabin Bold" pitchFamily="34" charset="-122"/>
                <a:cs typeface="Cabin Bold" pitchFamily="34" charset="-120"/>
              </a:rPr>
              <a:t>fitur</a:t>
            </a:r>
            <a:pPr algn="l" indent="0" marL="0">
              <a:lnSpc>
                <a:spcPct val="111000"/>
              </a:lnSpc>
              <a:buNone/>
            </a:pPr>
            <a:r>
              <a:rPr lang="en-US" sz="900" dirty="0">
                <a:solidFill>
                  <a:srgbClr val="CAD6DE"/>
                </a:solidFill>
                <a:latin typeface="Cabin" pitchFamily="34" charset="0"/>
                <a:ea typeface="Cabin" pitchFamily="34" charset="-122"/>
                <a:cs typeface="Cabin" pitchFamily="34" charset="-120"/>
              </a:rPr>
              <a:t>, dan </a:t>
            </a:r>
            <a:pPr algn="l" indent="0" marL="0">
              <a:lnSpc>
                <a:spcPct val="111000"/>
              </a:lnSpc>
              <a:buNone/>
            </a:pPr>
            <a:r>
              <a:rPr lang="en-US" sz="900" b="1" dirty="0">
                <a:solidFill>
                  <a:srgbClr val="CAD6DE"/>
                </a:solidFill>
                <a:latin typeface="Cabin Bold" pitchFamily="34" charset="0"/>
                <a:ea typeface="Cabin Bold" pitchFamily="34" charset="-122"/>
                <a:cs typeface="Cabin Bold" pitchFamily="34" charset="-120"/>
              </a:rPr>
              <a:t>kontak/ajakan bertindak</a:t>
            </a:r>
            <a:pPr algn="l" indent="0" marL="0">
              <a:lnSpc>
                <a:spcPct val="111000"/>
              </a:lnSpc>
              <a:buNone/>
            </a:pPr>
            <a:r>
              <a:rPr lang="en-US" sz="900" dirty="0">
                <a:solidFill>
                  <a:srgbClr val="CAD6DE"/>
                </a:solidFill>
                <a:latin typeface="Cabin" pitchFamily="34" charset="0"/>
                <a:ea typeface="Cabin" pitchFamily="34" charset="-122"/>
                <a:cs typeface="Cabin" pitchFamily="34" charset="-120"/>
              </a:rPr>
              <a:t> (call to action).</a:t>
            </a:r>
            <a:endParaRPr lang="en-US" sz="900" dirty="0"/>
          </a:p>
        </p:txBody>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35236" y="2692896"/>
            <a:ext cx="5358373" cy="1131987"/>
          </a:xfrm>
          <a:prstGeom prst="rect">
            <a:avLst/>
          </a:prstGeom>
        </p:spPr>
      </p:pic>
      <p:sp>
        <p:nvSpPr>
          <p:cNvPr id="14" name="Text 10"/>
          <p:cNvSpPr/>
          <p:nvPr/>
        </p:nvSpPr>
        <p:spPr>
          <a:xfrm>
            <a:off x="8743979" y="2780804"/>
            <a:ext cx="140689" cy="175816"/>
          </a:xfrm>
          <a:prstGeom prst="rect">
            <a:avLst/>
          </a:prstGeom>
          <a:noFill/>
          <a:ln/>
        </p:spPr>
        <p:txBody>
          <a:bodyPr wrap="none" lIns="0" tIns="0" rIns="0" bIns="0" rtlCol="0" anchor="ctr"/>
          <a:lstStyle/>
          <a:p>
            <a:pPr algn="ctr" indent="0" marL="0">
              <a:lnSpc>
                <a:spcPct val="100000"/>
              </a:lnSpc>
              <a:buNone/>
            </a:pPr>
            <a:r>
              <a:rPr lang="en-US" sz="1100" dirty="0">
                <a:solidFill>
                  <a:srgbClr val="FFFFFF"/>
                </a:solidFill>
                <a:latin typeface="Unbounded" pitchFamily="34" charset="0"/>
                <a:ea typeface="Unbounded" pitchFamily="34" charset="-122"/>
                <a:cs typeface="Unbounded" pitchFamily="34" charset="-120"/>
              </a:rPr>
              <a:t>2</a:t>
            </a:r>
            <a:endParaRPr lang="en-US" sz="1100" dirty="0"/>
          </a:p>
        </p:txBody>
      </p:sp>
      <p:sp>
        <p:nvSpPr>
          <p:cNvPr id="15" name="Text 11"/>
          <p:cNvSpPr/>
          <p:nvPr/>
        </p:nvSpPr>
        <p:spPr>
          <a:xfrm>
            <a:off x="6265110" y="3161804"/>
            <a:ext cx="5098625" cy="172442"/>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Responsif Dasar</a:t>
            </a:r>
            <a:endParaRPr lang="en-US" sz="1050" dirty="0"/>
          </a:p>
        </p:txBody>
      </p:sp>
      <p:sp>
        <p:nvSpPr>
          <p:cNvPr id="16" name="Text 12"/>
          <p:cNvSpPr/>
          <p:nvPr/>
        </p:nvSpPr>
        <p:spPr>
          <a:xfrm>
            <a:off x="6265110" y="3381474"/>
            <a:ext cx="5098625" cy="156766"/>
          </a:xfrm>
          <a:prstGeom prst="rect">
            <a:avLst/>
          </a:prstGeom>
          <a:noFill/>
          <a:ln/>
        </p:spPr>
        <p:txBody>
          <a:bodyPr wrap="none" lIns="0" tIns="0" rIns="0" bIns="0" rtlCol="0" anchor="t"/>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Tampilan responsif dasar, artinya tetap terlihat rapi baik ketika dibuka melalui ponsel maupun laptop.</a:t>
            </a:r>
            <a:endParaRPr lang="en-US" sz="900" dirty="0"/>
          </a:p>
        </p:txBody>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086" y="3903663"/>
            <a:ext cx="5358373" cy="1131987"/>
          </a:xfrm>
          <a:prstGeom prst="rect">
            <a:avLst/>
          </a:prstGeom>
        </p:spPr>
      </p:pic>
      <p:sp>
        <p:nvSpPr>
          <p:cNvPr id="18" name="Text 13"/>
          <p:cNvSpPr/>
          <p:nvPr/>
        </p:nvSpPr>
        <p:spPr>
          <a:xfrm>
            <a:off x="3306829" y="3991570"/>
            <a:ext cx="140689" cy="175816"/>
          </a:xfrm>
          <a:prstGeom prst="rect">
            <a:avLst/>
          </a:prstGeom>
          <a:noFill/>
          <a:ln/>
        </p:spPr>
        <p:txBody>
          <a:bodyPr wrap="none" lIns="0" tIns="0" rIns="0" bIns="0" rtlCol="0" anchor="ctr"/>
          <a:lstStyle/>
          <a:p>
            <a:pPr algn="ctr" indent="0" marL="0">
              <a:lnSpc>
                <a:spcPct val="100000"/>
              </a:lnSpc>
              <a:buNone/>
            </a:pPr>
            <a:r>
              <a:rPr lang="en-US" sz="1100" dirty="0">
                <a:solidFill>
                  <a:srgbClr val="FFFFFF"/>
                </a:solidFill>
                <a:latin typeface="Unbounded" pitchFamily="34" charset="0"/>
                <a:ea typeface="Unbounded" pitchFamily="34" charset="-122"/>
                <a:cs typeface="Unbounded" pitchFamily="34" charset="-120"/>
              </a:rPr>
              <a:t>3</a:t>
            </a:r>
            <a:endParaRPr lang="en-US" sz="1100" dirty="0"/>
          </a:p>
        </p:txBody>
      </p:sp>
      <p:sp>
        <p:nvSpPr>
          <p:cNvPr id="19" name="Text 14"/>
          <p:cNvSpPr/>
          <p:nvPr/>
        </p:nvSpPr>
        <p:spPr>
          <a:xfrm>
            <a:off x="827960" y="4372570"/>
            <a:ext cx="5098625" cy="172442"/>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Prompt Log</a:t>
            </a:r>
            <a:endParaRPr lang="en-US" sz="1050" dirty="0"/>
          </a:p>
        </p:txBody>
      </p:sp>
      <p:sp>
        <p:nvSpPr>
          <p:cNvPr id="20" name="Text 15"/>
          <p:cNvSpPr/>
          <p:nvPr/>
        </p:nvSpPr>
        <p:spPr>
          <a:xfrm>
            <a:off x="827960" y="4592241"/>
            <a:ext cx="5098625" cy="313531"/>
          </a:xfrm>
          <a:prstGeom prst="rect">
            <a:avLst/>
          </a:prstGeom>
          <a:noFill/>
          <a:ln/>
        </p:spPr>
        <p:txBody>
          <a:bodyPr wrap="square" lIns="0" tIns="0" rIns="0" bIns="0" rtlCol="0" anchor="t">
            <a:normAutofit/>
          </a:bodyPr>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Menyertakan dokumentasi prompt yang digunakan sepanjang pengerjaan (</a:t>
            </a:r>
            <a:pPr algn="l" indent="0" marL="0">
              <a:lnSpc>
                <a:spcPct val="111000"/>
              </a:lnSpc>
              <a:buNone/>
            </a:pPr>
            <a:r>
              <a:rPr lang="en-US" sz="900" b="1" dirty="0">
                <a:solidFill>
                  <a:srgbClr val="CAD6DE"/>
                </a:solidFill>
                <a:latin typeface="Cabin Bold" pitchFamily="34" charset="0"/>
                <a:ea typeface="Cabin Bold" pitchFamily="34" charset="-122"/>
                <a:cs typeface="Cabin Bold" pitchFamily="34" charset="-120"/>
              </a:rPr>
              <a:t>prompt log</a:t>
            </a:r>
            <a:pPr algn="l" indent="0" marL="0">
              <a:lnSpc>
                <a:spcPct val="111000"/>
              </a:lnSpc>
              <a:buNone/>
            </a:pPr>
            <a:r>
              <a:rPr lang="en-US" sz="900" dirty="0">
                <a:solidFill>
                  <a:srgbClr val="CAD6DE"/>
                </a:solidFill>
                <a:latin typeface="Cabin" pitchFamily="34" charset="0"/>
                <a:ea typeface="Cabin" pitchFamily="34" charset="-122"/>
                <a:cs typeface="Cabin" pitchFamily="34" charset="-120"/>
              </a:rPr>
              <a:t>), sebagai bukti proses berpikir, bukan hanya hasil akhir.</a:t>
            </a:r>
            <a:endParaRPr lang="en-US" sz="900" dirty="0"/>
          </a:p>
        </p:txBody>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35236" y="3903663"/>
            <a:ext cx="5358373" cy="1131987"/>
          </a:xfrm>
          <a:prstGeom prst="rect">
            <a:avLst/>
          </a:prstGeom>
        </p:spPr>
      </p:pic>
      <p:sp>
        <p:nvSpPr>
          <p:cNvPr id="22" name="Text 16"/>
          <p:cNvSpPr/>
          <p:nvPr/>
        </p:nvSpPr>
        <p:spPr>
          <a:xfrm>
            <a:off x="8743979" y="3991570"/>
            <a:ext cx="140689" cy="175816"/>
          </a:xfrm>
          <a:prstGeom prst="rect">
            <a:avLst/>
          </a:prstGeom>
          <a:noFill/>
          <a:ln/>
        </p:spPr>
        <p:txBody>
          <a:bodyPr wrap="none" lIns="0" tIns="0" rIns="0" bIns="0" rtlCol="0" anchor="ctr"/>
          <a:lstStyle/>
          <a:p>
            <a:pPr algn="ctr" indent="0" marL="0">
              <a:lnSpc>
                <a:spcPct val="100000"/>
              </a:lnSpc>
              <a:buNone/>
            </a:pPr>
            <a:r>
              <a:rPr lang="en-US" sz="1100" dirty="0">
                <a:solidFill>
                  <a:srgbClr val="FFFFFF"/>
                </a:solidFill>
                <a:latin typeface="Unbounded" pitchFamily="34" charset="0"/>
                <a:ea typeface="Unbounded" pitchFamily="34" charset="-122"/>
                <a:cs typeface="Unbounded" pitchFamily="34" charset="-120"/>
              </a:rPr>
              <a:t>4</a:t>
            </a:r>
            <a:endParaRPr lang="en-US" sz="1100" dirty="0"/>
          </a:p>
        </p:txBody>
      </p:sp>
      <p:sp>
        <p:nvSpPr>
          <p:cNvPr id="23" name="Text 17"/>
          <p:cNvSpPr/>
          <p:nvPr/>
        </p:nvSpPr>
        <p:spPr>
          <a:xfrm>
            <a:off x="6265110" y="4372570"/>
            <a:ext cx="5098625" cy="172442"/>
          </a:xfrm>
          <a:prstGeom prst="rect">
            <a:avLst/>
          </a:prstGeom>
          <a:noFill/>
          <a:ln/>
        </p:spPr>
        <p:txBody>
          <a:bodyPr wrap="none" lIns="0" tIns="0" rIns="0" bIns="0" rtlCol="0" anchor="t"/>
          <a:lstStyle/>
          <a:p>
            <a:pPr algn="l" indent="0" marL="0">
              <a:lnSpc>
                <a:spcPct val="104000"/>
              </a:lnSpc>
              <a:buNone/>
            </a:pPr>
            <a:r>
              <a:rPr lang="en-US" sz="1050" dirty="0">
                <a:solidFill>
                  <a:srgbClr val="CAD6DE"/>
                </a:solidFill>
                <a:latin typeface="Unbounded" pitchFamily="34" charset="0"/>
                <a:ea typeface="Unbounded" pitchFamily="34" charset="-122"/>
                <a:cs typeface="Unbounded" pitchFamily="34" charset="-120"/>
              </a:rPr>
              <a:t>GitHub &amp; README</a:t>
            </a:r>
            <a:endParaRPr lang="en-US" sz="1050" dirty="0"/>
          </a:p>
        </p:txBody>
      </p:sp>
      <p:sp>
        <p:nvSpPr>
          <p:cNvPr id="24" name="Text 18"/>
          <p:cNvSpPr/>
          <p:nvPr/>
        </p:nvSpPr>
        <p:spPr>
          <a:xfrm>
            <a:off x="6265110" y="4592241"/>
            <a:ext cx="5098625" cy="313531"/>
          </a:xfrm>
          <a:prstGeom prst="rect">
            <a:avLst/>
          </a:prstGeom>
          <a:noFill/>
          <a:ln/>
        </p:spPr>
        <p:txBody>
          <a:bodyPr wrap="square" lIns="0" tIns="0" rIns="0" bIns="0" rtlCol="0" anchor="t">
            <a:normAutofit/>
          </a:bodyPr>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Project sudah diunggah (push) ke GitHub, lengkap dengan berkas README sederhana yang menjelaskan isi project.</a:t>
            </a:r>
            <a:endParaRPr lang="en-US" sz="900" dirty="0"/>
          </a:p>
        </p:txBody>
      </p:sp>
      <p:sp>
        <p:nvSpPr>
          <p:cNvPr id="25" name="Text 19"/>
          <p:cNvSpPr/>
          <p:nvPr/>
        </p:nvSpPr>
        <p:spPr>
          <a:xfrm>
            <a:off x="698086" y="5153819"/>
            <a:ext cx="10795524" cy="275927"/>
          </a:xfrm>
          <a:prstGeom prst="rect">
            <a:avLst/>
          </a:prstGeom>
          <a:noFill/>
          <a:ln/>
        </p:spPr>
        <p:txBody>
          <a:bodyPr wrap="none" lIns="0" tIns="0" rIns="0" bIns="0" rtlCol="0" anchor="t"/>
          <a:lstStyle/>
          <a:p>
            <a:pPr algn="l" indent="0" marL="0">
              <a:lnSpc>
                <a:spcPct val="104000"/>
              </a:lnSpc>
              <a:buNone/>
            </a:pPr>
            <a:r>
              <a:rPr lang="en-US" sz="1700" dirty="0">
                <a:solidFill>
                  <a:srgbClr val="FFFFFF"/>
                </a:solidFill>
                <a:latin typeface="Unbounded" pitchFamily="34" charset="0"/>
                <a:ea typeface="Unbounded" pitchFamily="34" charset="-122"/>
                <a:cs typeface="Unbounded" pitchFamily="34" charset="-120"/>
              </a:rPr>
              <a:t>Tips Pengerjaan</a:t>
            </a:r>
            <a:endParaRPr lang="en-US" sz="1700" dirty="0"/>
          </a:p>
        </p:txBody>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5386" y="5535216"/>
            <a:ext cx="5361250" cy="338931"/>
          </a:xfrm>
          <a:prstGeom prst="rect">
            <a:avLst/>
          </a:prstGeom>
        </p:spPr>
      </p:pic>
      <p:sp>
        <p:nvSpPr>
          <p:cNvPr id="27" name="Text 20"/>
          <p:cNvSpPr/>
          <p:nvPr/>
        </p:nvSpPr>
        <p:spPr>
          <a:xfrm>
            <a:off x="840659" y="5547916"/>
            <a:ext cx="5205977" cy="313531"/>
          </a:xfrm>
          <a:prstGeom prst="rect">
            <a:avLst/>
          </a:prstGeom>
          <a:noFill/>
          <a:ln/>
        </p:spPr>
        <p:txBody>
          <a:bodyPr wrap="square" lIns="0" tIns="0" rIns="0" bIns="0" rtlCol="0" anchor="t">
            <a:normAutofit/>
          </a:bodyPr>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Mulai dari prompt yang menjelaskan konteks produk secara jelas, misalnya jenis produk, target pengguna, dan kesan visual yang diinginkan.</a:t>
            </a:r>
            <a:endParaRPr lang="en-US" sz="900" dirty="0"/>
          </a:p>
        </p:txBody>
      </p:sp>
      <p:pic>
        <p:nvPicPr>
          <p:cNvPr id="2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32359" y="5535216"/>
            <a:ext cx="5361250" cy="338931"/>
          </a:xfrm>
          <a:prstGeom prst="rect">
            <a:avLst/>
          </a:prstGeom>
        </p:spPr>
      </p:pic>
      <p:sp>
        <p:nvSpPr>
          <p:cNvPr id="29" name="Text 21"/>
          <p:cNvSpPr/>
          <p:nvPr/>
        </p:nvSpPr>
        <p:spPr>
          <a:xfrm>
            <a:off x="6287633" y="5547916"/>
            <a:ext cx="5205977" cy="313531"/>
          </a:xfrm>
          <a:prstGeom prst="rect">
            <a:avLst/>
          </a:prstGeom>
          <a:noFill/>
          <a:ln/>
        </p:spPr>
        <p:txBody>
          <a:bodyPr wrap="square" lIns="0" tIns="0" rIns="0" bIns="0" rtlCol="0" anchor="t">
            <a:normAutofit/>
          </a:bodyPr>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Kerjakan satu section terlebih dahulu hingga selesai, baru lanjut ke section berikutnya, alih-alih meminta seluruh halaman sekaligus dalam satu prompt.</a:t>
            </a:r>
            <a:endParaRPr lang="en-US" sz="900" dirty="0"/>
          </a:p>
        </p:txBody>
      </p:sp>
      <p:pic>
        <p:nvPicPr>
          <p:cNvPr id="3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85386" y="6006306"/>
            <a:ext cx="5361250" cy="338931"/>
          </a:xfrm>
          <a:prstGeom prst="rect">
            <a:avLst/>
          </a:prstGeom>
        </p:spPr>
      </p:pic>
      <p:sp>
        <p:nvSpPr>
          <p:cNvPr id="31" name="Text 22"/>
          <p:cNvSpPr/>
          <p:nvPr/>
        </p:nvSpPr>
        <p:spPr>
          <a:xfrm>
            <a:off x="840659" y="6019006"/>
            <a:ext cx="5205977" cy="313531"/>
          </a:xfrm>
          <a:prstGeom prst="rect">
            <a:avLst/>
          </a:prstGeom>
          <a:noFill/>
          <a:ln/>
        </p:spPr>
        <p:txBody>
          <a:bodyPr wrap="square" lIns="0" tIns="0" rIns="0" bIns="0" rtlCol="0" anchor="t">
            <a:normAutofit/>
          </a:bodyPr>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Setiap kali menerima kode dari AI, luangkan waktu membacanya terlebih dahulu sebelum menyalin ke dalam project.</a:t>
            </a:r>
            <a:endParaRPr lang="en-US" sz="900" dirty="0"/>
          </a:p>
        </p:txBody>
      </p:sp>
      <p:pic>
        <p:nvPicPr>
          <p:cNvPr id="32"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132359" y="6006306"/>
            <a:ext cx="5361250" cy="338931"/>
          </a:xfrm>
          <a:prstGeom prst="rect">
            <a:avLst/>
          </a:prstGeom>
        </p:spPr>
      </p:pic>
      <p:sp>
        <p:nvSpPr>
          <p:cNvPr id="33" name="Text 23"/>
          <p:cNvSpPr/>
          <p:nvPr/>
        </p:nvSpPr>
        <p:spPr>
          <a:xfrm>
            <a:off x="6287633" y="6019006"/>
            <a:ext cx="5205977" cy="313531"/>
          </a:xfrm>
          <a:prstGeom prst="rect">
            <a:avLst/>
          </a:prstGeom>
          <a:noFill/>
          <a:ln/>
        </p:spPr>
        <p:txBody>
          <a:bodyPr wrap="square" lIns="0" tIns="0" rIns="0" bIns="0" rtlCol="0" anchor="t">
            <a:normAutofit/>
          </a:bodyPr>
          <a:lstStyle/>
          <a:p>
            <a:pPr algn="l" indent="0" marL="0">
              <a:lnSpc>
                <a:spcPct val="111000"/>
              </a:lnSpc>
              <a:buNone/>
            </a:pPr>
            <a:r>
              <a:rPr lang="en-US" sz="900" dirty="0">
                <a:solidFill>
                  <a:srgbClr val="CAD6DE"/>
                </a:solidFill>
                <a:latin typeface="Cabin" pitchFamily="34" charset="0"/>
                <a:ea typeface="Cabin" pitchFamily="34" charset="-122"/>
                <a:cs typeface="Cabin" pitchFamily="34" charset="-120"/>
              </a:rPr>
              <a:t>Simpan setiap prompt penting yang digunakan ke dalam sebuah berkas catatan, agar mudah disusun kembali menjadi prompt log di akhir pengerjaan.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98086" y="548283"/>
            <a:ext cx="986607" cy="144959"/>
          </a:xfrm>
          <a:prstGeom prst="roundRect">
            <a:avLst>
              <a:gd name="adj" fmla="val 7902"/>
            </a:avLst>
          </a:prstGeom>
          <a:solidFill>
            <a:srgbClr val="054842"/>
          </a:solidFill>
          <a:ln/>
        </p:spPr>
      </p:sp>
      <p:sp>
        <p:nvSpPr>
          <p:cNvPr id="3" name="Text 1"/>
          <p:cNvSpPr/>
          <p:nvPr/>
        </p:nvSpPr>
        <p:spPr>
          <a:xfrm>
            <a:off x="755333" y="576858"/>
            <a:ext cx="1481696" cy="87809"/>
          </a:xfrm>
          <a:prstGeom prst="rect">
            <a:avLst/>
          </a:prstGeom>
          <a:noFill/>
          <a:ln/>
        </p:spPr>
        <p:txBody>
          <a:bodyPr wrap="none" lIns="0" tIns="0" rIns="0" bIns="0" rtlCol="0" anchor="t"/>
          <a:lstStyle/>
          <a:p>
            <a:pPr algn="l" indent="0" marL="0">
              <a:lnSpc>
                <a:spcPct val="96000"/>
              </a:lnSpc>
              <a:buNone/>
            </a:pPr>
            <a:r>
              <a:rPr lang="en-US" sz="600" dirty="0">
                <a:solidFill>
                  <a:srgbClr val="CAD6DE"/>
                </a:solidFill>
                <a:latin typeface="Cabin" pitchFamily="34" charset="0"/>
                <a:ea typeface="Cabin" pitchFamily="34" charset="-122"/>
                <a:cs typeface="Cabin" pitchFamily="34" charset="-120"/>
              </a:rPr>
              <a:t>BOOTCAMP VIBE CODING</a:t>
            </a:r>
            <a:endParaRPr lang="en-US" sz="600" dirty="0"/>
          </a:p>
        </p:txBody>
      </p:sp>
      <p:sp>
        <p:nvSpPr>
          <p:cNvPr id="4" name="Text 2"/>
          <p:cNvSpPr/>
          <p:nvPr/>
        </p:nvSpPr>
        <p:spPr>
          <a:xfrm>
            <a:off x="698086" y="714077"/>
            <a:ext cx="10795524" cy="280789"/>
          </a:xfrm>
          <a:prstGeom prst="rect">
            <a:avLst/>
          </a:prstGeom>
          <a:noFill/>
          <a:ln/>
        </p:spPr>
        <p:txBody>
          <a:bodyPr wrap="none" lIns="0" tIns="0" rIns="0" bIns="0" rtlCol="0" anchor="t"/>
          <a:lstStyle/>
          <a:p>
            <a:pPr algn="l" indent="0" marL="0">
              <a:lnSpc>
                <a:spcPct val="104000"/>
              </a:lnSpc>
              <a:buNone/>
            </a:pPr>
            <a:r>
              <a:rPr lang="en-US" sz="1750" dirty="0">
                <a:solidFill>
                  <a:srgbClr val="FFFFFF"/>
                </a:solidFill>
                <a:latin typeface="Unbounded" pitchFamily="34" charset="0"/>
                <a:ea typeface="Unbounded" pitchFamily="34" charset="-122"/>
                <a:cs typeface="Unbounded" pitchFamily="34" charset="-120"/>
              </a:rPr>
              <a:t>Rangkuman Materi 1 &amp; Menuju Materi 2</a:t>
            </a:r>
            <a:endParaRPr lang="en-US" sz="1750" dirty="0"/>
          </a:p>
        </p:txBody>
      </p:sp>
      <p:sp>
        <p:nvSpPr>
          <p:cNvPr id="5" name="Shape 3"/>
          <p:cNvSpPr/>
          <p:nvPr/>
        </p:nvSpPr>
        <p:spPr>
          <a:xfrm>
            <a:off x="629428" y="1073150"/>
            <a:ext cx="5418696" cy="1854597"/>
          </a:xfrm>
          <a:prstGeom prst="roundRect">
            <a:avLst>
              <a:gd name="adj" fmla="val 772"/>
            </a:avLst>
          </a:prstGeom>
          <a:solidFill>
            <a:srgbClr val="0A988B"/>
          </a:solidFill>
          <a:ln/>
        </p:spPr>
      </p:sp>
      <p:sp>
        <p:nvSpPr>
          <p:cNvPr id="6" name="Text 4"/>
          <p:cNvSpPr/>
          <p:nvPr/>
        </p:nvSpPr>
        <p:spPr>
          <a:xfrm>
            <a:off x="724874" y="1125339"/>
            <a:ext cx="5227804" cy="140395"/>
          </a:xfrm>
          <a:prstGeom prst="rect">
            <a:avLst/>
          </a:prstGeom>
          <a:noFill/>
          <a:ln/>
        </p:spPr>
        <p:txBody>
          <a:bodyPr wrap="none" lIns="0" tIns="0" rIns="0" bIns="0" rtlCol="0" anchor="t"/>
          <a:lstStyle/>
          <a:p>
            <a:pPr algn="l" indent="0" marL="0">
              <a:lnSpc>
                <a:spcPct val="104000"/>
              </a:lnSpc>
              <a:buNone/>
            </a:pPr>
            <a:r>
              <a:rPr lang="en-US" sz="850" dirty="0">
                <a:solidFill>
                  <a:srgbClr val="000000"/>
                </a:solidFill>
                <a:latin typeface="Unbounded" pitchFamily="34" charset="0"/>
                <a:ea typeface="Unbounded" pitchFamily="34" charset="-122"/>
                <a:cs typeface="Unbounded" pitchFamily="34" charset="-120"/>
              </a:rPr>
              <a:t>Yang Telah Dipelajari di Materi 1</a:t>
            </a:r>
            <a:endParaRPr lang="en-US" sz="850" dirty="0"/>
          </a:p>
        </p:txBody>
      </p:sp>
      <p:sp>
        <p:nvSpPr>
          <p:cNvPr id="7" name="Text 5"/>
          <p:cNvSpPr/>
          <p:nvPr/>
        </p:nvSpPr>
        <p:spPr>
          <a:xfrm>
            <a:off x="724874" y="1317923"/>
            <a:ext cx="5227804" cy="472281"/>
          </a:xfrm>
          <a:prstGeom prst="rect">
            <a:avLst/>
          </a:prstGeom>
          <a:noFill/>
          <a:ln/>
        </p:spPr>
        <p:txBody>
          <a:bodyPr wrap="square" lIns="0" tIns="0" rIns="0" bIns="0" rtlCol="0" anchor="t">
            <a:normAutofit/>
          </a:bodyPr>
          <a:lstStyle/>
          <a:p>
            <a:pPr algn="l" indent="0" marL="0">
              <a:lnSpc>
                <a:spcPct val="103000"/>
              </a:lnSpc>
              <a:buNone/>
            </a:pPr>
            <a:r>
              <a:rPr lang="en-US" sz="750" dirty="0">
                <a:solidFill>
                  <a:srgbClr val="000000"/>
                </a:solidFill>
                <a:latin typeface="Cabin" pitchFamily="34" charset="0"/>
                <a:ea typeface="Cabin" pitchFamily="34" charset="-122"/>
                <a:cs typeface="Cabin" pitchFamily="34" charset="-120"/>
              </a:rPr>
              <a:t>Materi 1 telah membawa peserta dari titik nol menuju sebuah fondasi yang kokoh: memahami filosofi vibe coding, menyiapkan seluruh environment kerja, memahami cara menyusun prompt yang efektif, serta menguasai dasar-dasar HTML, CSS, dan JavaScript. Kombinasi pemahaman konsep dan praktik langsung ini sengaja dirancang agar peserta tidak hanya bisa "menyuruh AI", tetapi juga memahami apa yang sedang dibangun.</a:t>
            </a:r>
            <a:endParaRPr lang="en-US" sz="750" dirty="0"/>
          </a:p>
        </p:txBody>
      </p:sp>
      <p:sp>
        <p:nvSpPr>
          <p:cNvPr id="8" name="Text 6"/>
          <p:cNvSpPr/>
          <p:nvPr/>
        </p:nvSpPr>
        <p:spPr>
          <a:xfrm>
            <a:off x="724874" y="1837134"/>
            <a:ext cx="5227804" cy="1072356"/>
          </a:xfrm>
          <a:prstGeom prst="rect">
            <a:avLst/>
          </a:prstGeom>
          <a:noFill/>
          <a:ln/>
        </p:spPr>
        <p:txBody>
          <a:bodyPr wrap="square" lIns="0" tIns="0" rIns="0" bIns="0" rtlCol="0" anchor="t">
            <a:normAutofit/>
          </a:bodyPr>
          <a:lstStyle/>
          <a:p>
            <a:pPr algn="l" marL="152400" indent="-152400">
              <a:lnSpc>
                <a:spcPct val="103000"/>
              </a:lnSpc>
              <a:buSzPct val="100000"/>
              <a:buChar char="•"/>
            </a:pPr>
            <a:r>
              <a:rPr lang="en-US" sz="750" dirty="0">
                <a:solidFill>
                  <a:srgbClr val="000000"/>
                </a:solidFill>
                <a:latin typeface="Cabin" pitchFamily="34" charset="0"/>
                <a:ea typeface="Cabin" pitchFamily="34" charset="-122"/>
                <a:cs typeface="Cabin" pitchFamily="34" charset="-120"/>
              </a:rPr>
              <a:t>Filosofi dan definisi vibe coding, serta perbedaannya dengan coding tradisional</a:t>
            </a:r>
            <a:endParaRPr lang="en-US" sz="750" dirty="0"/>
          </a:p>
          <a:p>
            <a:pPr algn="l" marL="152400" indent="-152400">
              <a:lnSpc>
                <a:spcPct val="103000"/>
              </a:lnSpc>
              <a:buSzPct val="100000"/>
              <a:buChar char="•"/>
            </a:pPr>
            <a:r>
              <a:rPr lang="en-US" sz="750" dirty="0">
                <a:solidFill>
                  <a:srgbClr val="000000"/>
                </a:solidFill>
                <a:latin typeface="Cabin" pitchFamily="34" charset="0"/>
                <a:ea typeface="Cabin" pitchFamily="34" charset="-122"/>
                <a:cs typeface="Cabin" pitchFamily="34" charset="-120"/>
              </a:rPr>
              <a:t>Peran AI assistant sebagai co-pilot, bukan sekadar autocomplete</a:t>
            </a:r>
            <a:endParaRPr lang="en-US" sz="750" dirty="0"/>
          </a:p>
          <a:p>
            <a:pPr algn="l" marL="152400" indent="-152400">
              <a:lnSpc>
                <a:spcPct val="103000"/>
              </a:lnSpc>
              <a:buSzPct val="100000"/>
              <a:buChar char="•"/>
            </a:pPr>
            <a:r>
              <a:rPr lang="en-US" sz="750" dirty="0">
                <a:solidFill>
                  <a:srgbClr val="000000"/>
                </a:solidFill>
                <a:latin typeface="Cabin" pitchFamily="34" charset="0"/>
                <a:ea typeface="Cabin" pitchFamily="34" charset="-122"/>
                <a:cs typeface="Cabin" pitchFamily="34" charset="-120"/>
              </a:rPr>
              <a:t>Empat komponen tech stack: Next.js, Bun, Express.js, dan MySQL</a:t>
            </a:r>
            <a:endParaRPr lang="en-US" sz="750" dirty="0"/>
          </a:p>
          <a:p>
            <a:pPr algn="l" marL="152400" indent="-152400">
              <a:lnSpc>
                <a:spcPct val="103000"/>
              </a:lnSpc>
              <a:buSzPct val="100000"/>
              <a:buChar char="•"/>
            </a:pPr>
            <a:r>
              <a:rPr lang="en-US" sz="750" dirty="0">
                <a:solidFill>
                  <a:srgbClr val="000000"/>
                </a:solidFill>
                <a:latin typeface="Cabin" pitchFamily="34" charset="0"/>
                <a:ea typeface="Cabin" pitchFamily="34" charset="-122"/>
                <a:cs typeface="Cabin" pitchFamily="34" charset="-120"/>
              </a:rPr>
              <a:t>Setup environment lengkap: Bun/Node.js, VS Code, Git, dan satu AI assistant pilihan</a:t>
            </a:r>
            <a:endParaRPr lang="en-US" sz="750" dirty="0"/>
          </a:p>
          <a:p>
            <a:pPr algn="l" marL="152400" indent="-152400">
              <a:lnSpc>
                <a:spcPct val="103000"/>
              </a:lnSpc>
              <a:buSzPct val="100000"/>
              <a:buChar char="•"/>
            </a:pPr>
            <a:r>
              <a:rPr lang="en-US" sz="750" dirty="0">
                <a:solidFill>
                  <a:srgbClr val="000000"/>
                </a:solidFill>
                <a:latin typeface="Cabin" pitchFamily="34" charset="0"/>
                <a:ea typeface="Cabin" pitchFamily="34" charset="-122"/>
                <a:cs typeface="Cabin" pitchFamily="34" charset="-120"/>
              </a:rPr>
              <a:t>Akun GitHub dan repository pertama</a:t>
            </a:r>
            <a:endParaRPr lang="en-US" sz="750" dirty="0"/>
          </a:p>
          <a:p>
            <a:pPr algn="l" marL="152400" indent="-152400">
              <a:lnSpc>
                <a:spcPct val="103000"/>
              </a:lnSpc>
              <a:buSzPct val="100000"/>
              <a:buChar char="•"/>
            </a:pPr>
            <a:r>
              <a:rPr lang="en-US" sz="750" dirty="0">
                <a:solidFill>
                  <a:srgbClr val="000000"/>
                </a:solidFill>
                <a:latin typeface="Cabin" pitchFamily="34" charset="0"/>
                <a:ea typeface="Cabin" pitchFamily="34" charset="-122"/>
                <a:cs typeface="Cabin" pitchFamily="34" charset="-120"/>
              </a:rPr>
              <a:t>Empat unsur prompt yang baik dan tiga teknik iterative prompting</a:t>
            </a:r>
            <a:endParaRPr lang="en-US" sz="750" dirty="0"/>
          </a:p>
          <a:p>
            <a:pPr algn="l" marL="152400" indent="-152400">
              <a:lnSpc>
                <a:spcPct val="103000"/>
              </a:lnSpc>
              <a:buSzPct val="100000"/>
              <a:buChar char="•"/>
            </a:pPr>
            <a:r>
              <a:rPr lang="en-US" sz="750" dirty="0">
                <a:solidFill>
                  <a:srgbClr val="000000"/>
                </a:solidFill>
                <a:latin typeface="Cabin" pitchFamily="34" charset="0"/>
                <a:ea typeface="Cabin" pitchFamily="34" charset="-122"/>
                <a:cs typeface="Cabin" pitchFamily="34" charset="-120"/>
              </a:rPr>
              <a:t>Tag HTML semantic, dasar CSS (box model, flexbox, grid), dan dasar JavaScript (variabel, fungsi, event)</a:t>
            </a:r>
            <a:endParaRPr lang="en-US" sz="750" dirty="0"/>
          </a:p>
          <a:p>
            <a:pPr algn="l" marL="152400" indent="-152400">
              <a:lnSpc>
                <a:spcPct val="103000"/>
              </a:lnSpc>
              <a:buSzPct val="100000"/>
              <a:buChar char="•"/>
            </a:pPr>
            <a:r>
              <a:rPr lang="en-US" sz="750" dirty="0">
                <a:solidFill>
                  <a:srgbClr val="000000"/>
                </a:solidFill>
                <a:latin typeface="Cabin" pitchFamily="34" charset="0"/>
                <a:ea typeface="Cabin" pitchFamily="34" charset="-122"/>
                <a:cs typeface="Cabin" pitchFamily="34" charset="-120"/>
              </a:rPr>
              <a:t>Strategi membaca kode hasil AI secara kritis dan struktur folder project web modern</a:t>
            </a:r>
            <a:endParaRPr lang="en-US" sz="750" dirty="0"/>
          </a:p>
        </p:txBody>
      </p:sp>
      <p:sp>
        <p:nvSpPr>
          <p:cNvPr id="9" name="Text 7"/>
          <p:cNvSpPr/>
          <p:nvPr/>
        </p:nvSpPr>
        <p:spPr>
          <a:xfrm>
            <a:off x="6218578" y="1125339"/>
            <a:ext cx="5281381" cy="140395"/>
          </a:xfrm>
          <a:prstGeom prst="rect">
            <a:avLst/>
          </a:prstGeom>
          <a:noFill/>
          <a:ln/>
        </p:spPr>
        <p:txBody>
          <a:bodyPr wrap="none" lIns="0" tIns="0" rIns="0" bIns="0" rtlCol="0" anchor="t"/>
          <a:lstStyle/>
          <a:p>
            <a:pPr algn="l" indent="0" marL="0">
              <a:lnSpc>
                <a:spcPct val="104000"/>
              </a:lnSpc>
              <a:buNone/>
            </a:pPr>
            <a:r>
              <a:rPr lang="en-US" sz="850" dirty="0">
                <a:solidFill>
                  <a:srgbClr val="FFFFFF"/>
                </a:solidFill>
                <a:latin typeface="Unbounded" pitchFamily="34" charset="0"/>
                <a:ea typeface="Unbounded" pitchFamily="34" charset="-122"/>
                <a:cs typeface="Unbounded" pitchFamily="34" charset="-120"/>
              </a:rPr>
              <a:t>Menuju Materi 2</a:t>
            </a:r>
            <a:endParaRPr lang="en-US" sz="850" dirty="0"/>
          </a:p>
        </p:txBody>
      </p:sp>
      <p:sp>
        <p:nvSpPr>
          <p:cNvPr id="10" name="Text 8"/>
          <p:cNvSpPr/>
          <p:nvPr/>
        </p:nvSpPr>
        <p:spPr>
          <a:xfrm>
            <a:off x="6218578" y="1317923"/>
            <a:ext cx="5281381" cy="472281"/>
          </a:xfrm>
          <a:prstGeom prst="rect">
            <a:avLst/>
          </a:prstGeom>
          <a:noFill/>
          <a:ln/>
        </p:spPr>
        <p:txBody>
          <a:bodyPr wrap="square" lIns="0" tIns="0" rIns="0" bIns="0" rtlCol="0" anchor="t">
            <a:normAutofit/>
          </a:bodyPr>
          <a:lstStyle/>
          <a:p>
            <a:pPr algn="l" indent="0" marL="0">
              <a:lnSpc>
                <a:spcPct val="103000"/>
              </a:lnSpc>
              <a:buNone/>
            </a:pPr>
            <a:r>
              <a:rPr lang="en-US" sz="750" dirty="0">
                <a:solidFill>
                  <a:srgbClr val="CAD6DE"/>
                </a:solidFill>
                <a:latin typeface="Cabin" pitchFamily="34" charset="0"/>
                <a:ea typeface="Cabin" pitchFamily="34" charset="-122"/>
                <a:cs typeface="Cabin" pitchFamily="34" charset="-120"/>
              </a:rPr>
              <a:t>Pada Materi 2, peserta akan melangkah lebih jauh dengan mempelajari </a:t>
            </a:r>
            <a:pPr algn="l" indent="0" marL="0">
              <a:lnSpc>
                <a:spcPct val="103000"/>
              </a:lnSpc>
              <a:buNone/>
            </a:pPr>
            <a:r>
              <a:rPr lang="en-US" sz="750" b="1" dirty="0">
                <a:solidFill>
                  <a:srgbClr val="CAD6DE"/>
                </a:solidFill>
                <a:latin typeface="Cabin Bold" pitchFamily="34" charset="0"/>
                <a:ea typeface="Cabin Bold" pitchFamily="34" charset="-122"/>
                <a:cs typeface="Cabin Bold" pitchFamily="34" charset="-120"/>
              </a:rPr>
              <a:t>Next.js secara lebih mendalam</a:t>
            </a:r>
            <a:pPr algn="l" indent="0" marL="0">
              <a:lnSpc>
                <a:spcPct val="103000"/>
              </a:lnSpc>
              <a:buNone/>
            </a:pPr>
            <a:r>
              <a:rPr lang="en-US" sz="750" dirty="0">
                <a:solidFill>
                  <a:srgbClr val="CAD6DE"/>
                </a:solidFill>
                <a:latin typeface="Cabin" pitchFamily="34" charset="0"/>
                <a:ea typeface="Cabin" pitchFamily="34" charset="-122"/>
                <a:cs typeface="Cabin" pitchFamily="34" charset="-120"/>
              </a:rPr>
              <a:t>, termasuk konsep App Router, komponen yang dapat dipakai ulang (reusable component), styling modern menggunakan </a:t>
            </a:r>
            <a:pPr algn="l" indent="0" marL="0">
              <a:lnSpc>
                <a:spcPct val="103000"/>
              </a:lnSpc>
              <a:buNone/>
            </a:pPr>
            <a:r>
              <a:rPr lang="en-US" sz="750" b="1" dirty="0">
                <a:solidFill>
                  <a:srgbClr val="CAD6DE"/>
                </a:solidFill>
                <a:latin typeface="Cabin Bold" pitchFamily="34" charset="0"/>
                <a:ea typeface="Cabin Bold" pitchFamily="34" charset="-122"/>
                <a:cs typeface="Cabin Bold" pitchFamily="34" charset="-120"/>
              </a:rPr>
              <a:t>Tailwind CSS</a:t>
            </a:r>
            <a:pPr algn="l" indent="0" marL="0">
              <a:lnSpc>
                <a:spcPct val="103000"/>
              </a:lnSpc>
              <a:buNone/>
            </a:pPr>
            <a:r>
              <a:rPr lang="en-US" sz="750" dirty="0">
                <a:solidFill>
                  <a:srgbClr val="CAD6DE"/>
                </a:solidFill>
                <a:latin typeface="Cabin" pitchFamily="34" charset="0"/>
                <a:ea typeface="Cabin" pitchFamily="34" charset="-122"/>
                <a:cs typeface="Cabin" pitchFamily="34" charset="-120"/>
              </a:rPr>
              <a:t>, hingga proses deployment pertama ke layanan </a:t>
            </a:r>
            <a:pPr algn="l" indent="0" marL="0">
              <a:lnSpc>
                <a:spcPct val="103000"/>
              </a:lnSpc>
              <a:buNone/>
            </a:pPr>
            <a:r>
              <a:rPr lang="en-US" sz="750" b="1" dirty="0">
                <a:solidFill>
                  <a:srgbClr val="CAD6DE"/>
                </a:solidFill>
                <a:latin typeface="Cabin Bold" pitchFamily="34" charset="0"/>
                <a:ea typeface="Cabin Bold" pitchFamily="34" charset="-122"/>
                <a:cs typeface="Cabin Bold" pitchFamily="34" charset="-120"/>
              </a:rPr>
              <a:t>Vercel</a:t>
            </a:r>
            <a:pPr algn="l" indent="0" marL="0">
              <a:lnSpc>
                <a:spcPct val="103000"/>
              </a:lnSpc>
              <a:buNone/>
            </a:pPr>
            <a:r>
              <a:rPr lang="en-US" sz="750" dirty="0">
                <a:solidFill>
                  <a:srgbClr val="CAD6DE"/>
                </a:solidFill>
                <a:latin typeface="Cabin" pitchFamily="34" charset="0"/>
                <a:ea typeface="Cabin" pitchFamily="34" charset="-122"/>
                <a:cs typeface="Cabin" pitchFamily="34" charset="-120"/>
              </a:rPr>
              <a:t>. Landing page statis yang dibangun pada Tugas 1 akan menjadi bekal pemahaman visual yang sangat berguna saat mulai menyusun website multi-halaman pada materi berikutnya.</a:t>
            </a:r>
            <a:endParaRPr lang="en-US" sz="750" dirty="0"/>
          </a:p>
        </p:txBody>
      </p:sp>
      <p:sp>
        <p:nvSpPr>
          <p:cNvPr id="11" name="Shape 9"/>
          <p:cNvSpPr/>
          <p:nvPr/>
        </p:nvSpPr>
        <p:spPr>
          <a:xfrm>
            <a:off x="6218578" y="1848842"/>
            <a:ext cx="5281381" cy="377627"/>
          </a:xfrm>
          <a:prstGeom prst="roundRect">
            <a:avLst>
              <a:gd name="adj" fmla="val 3792"/>
            </a:avLst>
          </a:prstGeom>
          <a:solidFill>
            <a:srgbClr val="08786D"/>
          </a:solidFill>
          <a:ln/>
        </p:spPr>
      </p:sp>
      <p:pic>
        <p:nvPicPr>
          <p:cNvPr id="12" name="Image 0" descr="preencoded.png">    </p:cNvPr>
          <p:cNvPicPr>
            <a:picLocks noChangeAspect="1"/>
          </p:cNvPicPr>
          <p:nvPr/>
        </p:nvPicPr>
        <p:blipFill>
          <a:blip r:embed="rId1"/>
          <a:stretch>
            <a:fillRect/>
          </a:stretch>
        </p:blipFill>
        <p:spPr>
          <a:xfrm>
            <a:off x="6314024" y="1930202"/>
            <a:ext cx="119258" cy="95448"/>
          </a:xfrm>
          <a:prstGeom prst="rect">
            <a:avLst/>
          </a:prstGeom>
        </p:spPr>
      </p:pic>
      <p:sp>
        <p:nvSpPr>
          <p:cNvPr id="13" name="Text 10"/>
          <p:cNvSpPr/>
          <p:nvPr/>
        </p:nvSpPr>
        <p:spPr>
          <a:xfrm>
            <a:off x="6528728" y="1919585"/>
            <a:ext cx="4875785" cy="236141"/>
          </a:xfrm>
          <a:prstGeom prst="rect">
            <a:avLst/>
          </a:prstGeom>
          <a:noFill/>
          <a:ln/>
        </p:spPr>
        <p:txBody>
          <a:bodyPr wrap="square" lIns="0" tIns="0" rIns="0" bIns="0" rtlCol="0" anchor="t">
            <a:normAutofit/>
          </a:bodyPr>
          <a:lstStyle/>
          <a:p>
            <a:pPr algn="l" indent="0" marL="0">
              <a:lnSpc>
                <a:spcPct val="103000"/>
              </a:lnSpc>
              <a:buNone/>
            </a:pPr>
            <a:r>
              <a:rPr lang="en-US" sz="750" b="1" dirty="0">
                <a:solidFill>
                  <a:srgbClr val="FFFFFF"/>
                </a:solidFill>
                <a:latin typeface="Cabin Bold" pitchFamily="34" charset="0"/>
                <a:ea typeface="Cabin Bold" pitchFamily="34" charset="-122"/>
                <a:cs typeface="Cabin Bold" pitchFamily="34" charset="-120"/>
              </a:rPr>
              <a:t>Ingat:</a:t>
            </a:r>
            <a:pPr algn="l" indent="0" marL="0">
              <a:lnSpc>
                <a:spcPct val="103000"/>
              </a:lnSpc>
              <a:buNone/>
            </a:pPr>
            <a:r>
              <a:rPr lang="en-US" sz="750" dirty="0">
                <a:solidFill>
                  <a:srgbClr val="FFFFFF"/>
                </a:solidFill>
                <a:latin typeface="Cabin" pitchFamily="34" charset="0"/>
                <a:ea typeface="Cabin" pitchFamily="34" charset="-122"/>
                <a:cs typeface="Cabin" pitchFamily="34" charset="-120"/>
              </a:rPr>
              <a:t> Setiap baris kode yang dihasilkan AI harus bisa dijelaskan kembali dengan kata-kata sendiri. Bootcamp ini membentuk kemampuan berpikir kritis dalam memanfaatkan AI sebagai alat bantu, bukan sekadar penyalin kode.</a:t>
            </a:r>
            <a:endParaRPr lang="en-US" sz="750" dirty="0"/>
          </a:p>
        </p:txBody>
      </p:sp>
      <p:sp>
        <p:nvSpPr>
          <p:cNvPr id="14" name="Text 11"/>
          <p:cNvSpPr/>
          <p:nvPr/>
        </p:nvSpPr>
        <p:spPr>
          <a:xfrm>
            <a:off x="698086" y="3006030"/>
            <a:ext cx="10795524" cy="224532"/>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Unbounded" pitchFamily="34" charset="0"/>
                <a:ea typeface="Unbounded" pitchFamily="34" charset="-122"/>
                <a:cs typeface="Unbounded" pitchFamily="34" charset="-120"/>
              </a:rPr>
              <a:t>Glosarium Istilah Penting</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98086" y="3308846"/>
          <a:ext cx="9143771" cy="914400"/>
        </p:xfrm>
        <a:graphic>
          <a:graphicData uri="http://schemas.openxmlformats.org/drawingml/2006/table">
            <a:tbl>
              <a:tblPr/>
              <a:tblGrid>
                <a:gridCol w="2698881"/>
                <a:gridCol w="8096643"/>
              </a:tblGrid>
              <a:tr h="196448">
                <a:tc>
                  <a:txBody>
                    <a:bodyPr/>
                    <a:lstStyle/>
                    <a:p>
                      <a:pPr indent="0" marL="0">
                        <a:buNone/>
                      </a:pPr>
                      <a:r>
                        <a:rPr lang="en-US" sz="800" b="1" dirty="0">
                          <a:solidFill>
                            <a:srgbClr val="CAD6DE"/>
                          </a:solidFill>
                          <a:latin typeface="Cabin" pitchFamily="34" charset="0"/>
                          <a:ea typeface="Cabin" pitchFamily="34" charset="-122"/>
                          <a:cs typeface="Cabin" pitchFamily="34" charset="-120"/>
                        </a:rPr>
                        <a:t>Vibe Coding</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Cara membangun perangkat lunak melalui dialog berkelanjutan dengan AI assistant, sambil tetap memahami logika di baliknya</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AI Assistant</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Program berbasis kecerdasan buatan yang membantu menulis, menjelaskan, dan memperbaiki kode (Claude, Copilot, Cursor)</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Prompt</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Instruksi atau pertanyaan yang dituliskan kepada AI assistant</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Environment</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Seluruh perangkat lunak pendukung yang perlu terpasang di komputer sebelum mulai coding</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Runtime</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Program yang bertugas menjalankan kode di luar browser, misalnya Bun atau Node.js</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Framework</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Kerangka kerja yang menyediakan struktur dan aturan siap pakai untuk membangun aplikasi (Next.js, Express.js)</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Frontend</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Bagian aplikasi yang dilihat dan digunakan langsung oleh pengguna melalui browser</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Backend</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Bagian aplikasi yang bekerja di balik layar: memproses data dan berhubungan dengan database</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API</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Application Programming Interface; "jembatan" komunikasi antara frontend dan backend</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Database</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Tempat menyimpan data aplikasi secara terstruktur dan permanen, misalnya MySQL</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Repository</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Satu folder project yang riwayat perubahannya dilacak oleh Git dan disimpan di GitHub</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Commit</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Titik simpan resmi atas suatu perubahan kode dalam riwayat Git</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HTML</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Bahasa penanda untuk menyusun struktur konten sebuah halaman web</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9623">
                <a:tc>
                  <a:txBody>
                    <a:bodyPr/>
                    <a:lstStyle/>
                    <a:p>
                      <a:pPr indent="0" marL="0">
                        <a:buNone/>
                      </a:pPr>
                      <a:r>
                        <a:rPr lang="en-US" sz="800" b="1" dirty="0">
                          <a:solidFill>
                            <a:srgbClr val="CAD6DE"/>
                          </a:solidFill>
                          <a:latin typeface="Cabin" pitchFamily="34" charset="0"/>
                          <a:ea typeface="Cabin" pitchFamily="34" charset="-122"/>
                          <a:cs typeface="Cabin" pitchFamily="34" charset="-120"/>
                        </a:rPr>
                        <a:t>CSS</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Bahasa untuk mengatur tampilan visual sebuah halaman web</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r h="196448">
                <a:tc>
                  <a:txBody>
                    <a:bodyPr/>
                    <a:lstStyle/>
                    <a:p>
                      <a:pPr indent="0" marL="0">
                        <a:buNone/>
                      </a:pPr>
                      <a:r>
                        <a:rPr lang="en-US" sz="800" b="1" dirty="0">
                          <a:solidFill>
                            <a:srgbClr val="CAD6DE"/>
                          </a:solidFill>
                          <a:latin typeface="Cabin" pitchFamily="34" charset="0"/>
                          <a:ea typeface="Cabin" pitchFamily="34" charset="-122"/>
                          <a:cs typeface="Cabin" pitchFamily="34" charset="-120"/>
                        </a:rPr>
                        <a:t>JavaScript</a:t>
                      </a:r>
                      <a:endParaRPr lang="en-US" sz="800" dirty="0">
                        <a:latin typeface="Cabin" charset="0"/>
                        <a:ea typeface="Cabin" charset="0"/>
                        <a:cs typeface="Cabin" charset="0"/>
                      </a:endParaRPr>
                    </a:p>
                  </a:txBody>
                  <a:tcPr marL="95454" marR="95454" marT="6350" marB="6350" anchor="ctr">
                    <a:lnL w="12700" cap="flat" cmpd="sng" algn="ctr">
                      <a:solidFill>
                        <a:srgbClr val="4A5C66"/>
                      </a:solidFill>
                      <a:prstDash val="solid"/>
                      <a:round/>
                      <a:headEnd type="none" w="med" len="med"/>
                      <a:tailEnd type="none" w="med" len="med"/>
                    </a:lnL>
                    <a:lnR w="12700" cap="flat" cmpd="sng" algn="ctr">
                      <a:solidFill>
                        <a:srgbClr val="11283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c>
                  <a:txBody>
                    <a:bodyPr/>
                    <a:lstStyle/>
                    <a:p>
                      <a:pPr indent="0" marL="0">
                        <a:buNone/>
                      </a:pPr>
                      <a:r>
                        <a:rPr lang="en-US" sz="800" dirty="0">
                          <a:solidFill>
                            <a:srgbClr val="CAD6DE"/>
                          </a:solidFill>
                          <a:latin typeface="Cabin" pitchFamily="34" charset="0"/>
                          <a:ea typeface="Cabin" pitchFamily="34" charset="-122"/>
                          <a:cs typeface="Cabin" pitchFamily="34" charset="-120"/>
                        </a:rPr>
                        <a:t>Bahasa pemrograman yang memberikan perilaku dan interaktivitas pada halaman web</a:t>
                      </a:r>
                      <a:endParaRPr lang="en-US" sz="800" dirty="0">
                        <a:latin typeface="Cabin" charset="0"/>
                        <a:ea typeface="Cabin" charset="0"/>
                        <a:cs typeface="Cabin" charset="0"/>
                      </a:endParaRPr>
                    </a:p>
                  </a:txBody>
                  <a:tcPr marL="95454" marR="95454" marT="6350" marB="6350" anchor="ctr">
                    <a:lnL w="12700" cap="flat" cmpd="sng" algn="ctr">
                      <a:solidFill>
                        <a:srgbClr val="112836"/>
                      </a:solidFill>
                      <a:prstDash val="solid"/>
                      <a:round/>
                      <a:headEnd type="none" w="med" len="med"/>
                      <a:tailEnd type="none" w="med" len="med"/>
                    </a:lnL>
                    <a:lnR w="12700" cap="flat" cmpd="sng" algn="ctr">
                      <a:solidFill>
                        <a:srgbClr val="4A5C66"/>
                      </a:solidFill>
                      <a:prstDash val="solid"/>
                      <a:round/>
                      <a:headEnd type="none" w="med" len="med"/>
                      <a:tailEnd type="none" w="med" len="med"/>
                    </a:lnR>
                    <a:lnT w="12700" cap="flat" cmpd="sng" algn="ctr">
                      <a:solidFill>
                        <a:srgbClr val="4A5C66"/>
                      </a:solidFill>
                      <a:prstDash val="solid"/>
                      <a:round/>
                      <a:headEnd type="none" w="med" len="med"/>
                      <a:tailEnd type="none" w="med" len="med"/>
                    </a:lnT>
                    <a:lnB w="12700" cap="flat" cmpd="sng" algn="ctr">
                      <a:solidFill>
                        <a:srgbClr val="4A5C66"/>
                      </a:solidFill>
                      <a:prstDash val="solid"/>
                      <a:round/>
                      <a:headEnd type="none" w="med" len="med"/>
                      <a:tailEnd type="none" w="med" len="med"/>
                    </a:lnB>
                    <a:solidFill>
                      <a:srgbClr val="112836"/>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2026-09-05T10:47:34Z</dcterms:created>
  <dcterms:modified xsi:type="dcterms:W3CDTF">2026-09-05T10:47:34Z</dcterms:modified>
</cp:coreProperties>
</file>